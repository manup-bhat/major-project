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7" r:id="rId1"/>
  </p:sldMasterIdLst>
  <p:notesMasterIdLst>
    <p:notesMasterId r:id="rId29"/>
  </p:notesMasterIdLst>
  <p:sldIdLst>
    <p:sldId id="256" r:id="rId2"/>
    <p:sldId id="257" r:id="rId3"/>
    <p:sldId id="258" r:id="rId4"/>
    <p:sldId id="259" r:id="rId5"/>
    <p:sldId id="324" r:id="rId6"/>
    <p:sldId id="325" r:id="rId7"/>
    <p:sldId id="326" r:id="rId8"/>
    <p:sldId id="261" r:id="rId9"/>
    <p:sldId id="262" r:id="rId10"/>
    <p:sldId id="263" r:id="rId11"/>
    <p:sldId id="264" r:id="rId12"/>
    <p:sldId id="274" r:id="rId13"/>
    <p:sldId id="275" r:id="rId14"/>
    <p:sldId id="320" r:id="rId15"/>
    <p:sldId id="321" r:id="rId16"/>
    <p:sldId id="322" r:id="rId17"/>
    <p:sldId id="323" r:id="rId18"/>
    <p:sldId id="327" r:id="rId19"/>
    <p:sldId id="279" r:id="rId20"/>
    <p:sldId id="328" r:id="rId21"/>
    <p:sldId id="329" r:id="rId22"/>
    <p:sldId id="266" r:id="rId23"/>
    <p:sldId id="268" r:id="rId24"/>
    <p:sldId id="280" r:id="rId25"/>
    <p:sldId id="330" r:id="rId26"/>
    <p:sldId id="271" r:id="rId27"/>
    <p:sldId id="272" r:id="rId28"/>
  </p:sldIdLst>
  <p:sldSz cx="9144000" cy="5143500" type="screen16x9"/>
  <p:notesSz cx="7102475" cy="9388475"/>
  <p:embeddedFontLst>
    <p:embeddedFont>
      <p:font typeface="Bookman Old Style" panose="02050604050505020204" pitchFamily="18" charset="0"/>
      <p:regular r:id="rId30"/>
      <p:bold r:id="rId31"/>
      <p:italic r:id="rId32"/>
      <p:boldItalic r:id="rId33"/>
    </p:embeddedFont>
    <p:embeddedFont>
      <p:font typeface="Helvetica Neue" panose="020B0604020202020204" charset="0"/>
      <p:bold r:id="rId34"/>
      <p:boldItalic r:id="rId35"/>
    </p:embeddedFont>
    <p:embeddedFont>
      <p:font typeface="Playfair Display" panose="00000500000000000000" pitchFamily="2"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587">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B5AA11-5ABC-44C4-A612-1BBEE53895A8}" v="1" dt="2026-06-04T16:10:54.347"/>
  </p1510:revLst>
</p1510:revInfo>
</file>

<file path=ppt/tableStyles.xml><?xml version="1.0" encoding="utf-8"?>
<a:tblStyleLst xmlns:a="http://schemas.openxmlformats.org/drawingml/2006/main" def="{C5175DCF-1A77-475D-907B-FE61E26F2E1B}">
  <a:tblStyle styleId="{C5175DCF-1A77-475D-907B-FE61E26F2E1B}"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DFD"/>
          </a:solidFill>
        </a:fill>
      </a:tcStyle>
    </a:wholeTbl>
    <a:band1H>
      <a:tcTxStyle/>
      <a:tcStyle>
        <a:tcBdr/>
        <a:fill>
          <a:solidFill>
            <a:srgbClr val="CDD8FB"/>
          </a:solidFill>
        </a:fill>
      </a:tcStyle>
    </a:band1H>
    <a:band2H>
      <a:tcTxStyle/>
      <a:tcStyle>
        <a:tcBdr/>
      </a:tcStyle>
    </a:band2H>
    <a:band1V>
      <a:tcTxStyle/>
      <a:tcStyle>
        <a:tcBdr/>
        <a:fill>
          <a:solidFill>
            <a:srgbClr val="CDD8FB"/>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E87FED87-6CF3-4087-AA9B-566F0D66C604}"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3" d="100"/>
          <a:sy n="93" d="100"/>
        </p:scale>
        <p:origin x="520" y="68"/>
      </p:cViewPr>
      <p:guideLst>
        <p:guide orient="horz" pos="1587"/>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0.fntdata"/><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 Id="rId20" Type="http://schemas.openxmlformats.org/officeDocument/2006/relationships/slide" Target="slides/slide19.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shra, Umang" userId="9dd0017a-eb54-41bb-b59c-4b537b2a4289" providerId="ADAL" clId="{18C4EE36-312D-42BA-814C-C23EED858C6B}"/>
    <pc:docChg chg="custSel addSld modSld">
      <pc:chgData name="Mishra, Umang" userId="9dd0017a-eb54-41bb-b59c-4b537b2a4289" providerId="ADAL" clId="{18C4EE36-312D-42BA-814C-C23EED858C6B}" dt="2026-06-04T18:14:54.065" v="113" actId="14100"/>
      <pc:docMkLst>
        <pc:docMk/>
      </pc:docMkLst>
      <pc:sldChg chg="modSp mod">
        <pc:chgData name="Mishra, Umang" userId="9dd0017a-eb54-41bb-b59c-4b537b2a4289" providerId="ADAL" clId="{18C4EE36-312D-42BA-814C-C23EED858C6B}" dt="2026-06-04T16:31:04.963" v="39" actId="1076"/>
        <pc:sldMkLst>
          <pc:docMk/>
          <pc:sldMk cId="0" sldId="258"/>
        </pc:sldMkLst>
        <pc:spChg chg="mod">
          <ac:chgData name="Mishra, Umang" userId="9dd0017a-eb54-41bb-b59c-4b537b2a4289" providerId="ADAL" clId="{18C4EE36-312D-42BA-814C-C23EED858C6B}" dt="2026-06-04T16:31:04.963" v="39" actId="1076"/>
          <ac:spMkLst>
            <pc:docMk/>
            <pc:sldMk cId="0" sldId="258"/>
            <ac:spMk id="69" creationId="{00000000-0000-0000-0000-000000000000}"/>
          </ac:spMkLst>
        </pc:spChg>
      </pc:sldChg>
      <pc:sldChg chg="modSp mod">
        <pc:chgData name="Mishra, Umang" userId="9dd0017a-eb54-41bb-b59c-4b537b2a4289" providerId="ADAL" clId="{18C4EE36-312D-42BA-814C-C23EED858C6B}" dt="2026-06-04T18:12:01.022" v="91" actId="1076"/>
        <pc:sldMkLst>
          <pc:docMk/>
          <pc:sldMk cId="0" sldId="259"/>
        </pc:sldMkLst>
        <pc:spChg chg="mod">
          <ac:chgData name="Mishra, Umang" userId="9dd0017a-eb54-41bb-b59c-4b537b2a4289" providerId="ADAL" clId="{18C4EE36-312D-42BA-814C-C23EED858C6B}" dt="2026-06-04T18:12:01.022" v="91" actId="1076"/>
          <ac:spMkLst>
            <pc:docMk/>
            <pc:sldMk cId="0" sldId="259"/>
            <ac:spMk id="74" creationId="{00000000-0000-0000-0000-000000000000}"/>
          </ac:spMkLst>
        </pc:spChg>
        <pc:spChg chg="mod">
          <ac:chgData name="Mishra, Umang" userId="9dd0017a-eb54-41bb-b59c-4b537b2a4289" providerId="ADAL" clId="{18C4EE36-312D-42BA-814C-C23EED858C6B}" dt="2026-06-04T17:42:59.320" v="55" actId="20577"/>
          <ac:spMkLst>
            <pc:docMk/>
            <pc:sldMk cId="0" sldId="259"/>
            <ac:spMk id="75" creationId="{00000000-0000-0000-0000-000000000000}"/>
          </ac:spMkLst>
        </pc:spChg>
      </pc:sldChg>
      <pc:sldChg chg="modSp mod">
        <pc:chgData name="Mishra, Umang" userId="9dd0017a-eb54-41bb-b59c-4b537b2a4289" providerId="ADAL" clId="{18C4EE36-312D-42BA-814C-C23EED858C6B}" dt="2026-06-04T18:09:00.632" v="64" actId="122"/>
        <pc:sldMkLst>
          <pc:docMk/>
          <pc:sldMk cId="0" sldId="262"/>
        </pc:sldMkLst>
        <pc:graphicFrameChg chg="modGraphic">
          <ac:chgData name="Mishra, Umang" userId="9dd0017a-eb54-41bb-b59c-4b537b2a4289" providerId="ADAL" clId="{18C4EE36-312D-42BA-814C-C23EED858C6B}" dt="2026-06-04T18:09:00.632" v="64" actId="122"/>
          <ac:graphicFrameMkLst>
            <pc:docMk/>
            <pc:sldMk cId="0" sldId="262"/>
            <ac:graphicFrameMk id="108" creationId="{00000000-0000-0000-0000-000000000000}"/>
          </ac:graphicFrameMkLst>
        </pc:graphicFrameChg>
      </pc:sldChg>
      <pc:sldChg chg="modSp mod">
        <pc:chgData name="Mishra, Umang" userId="9dd0017a-eb54-41bb-b59c-4b537b2a4289" providerId="ADAL" clId="{18C4EE36-312D-42BA-814C-C23EED858C6B}" dt="2026-06-04T18:09:34.795" v="68" actId="1076"/>
        <pc:sldMkLst>
          <pc:docMk/>
          <pc:sldMk cId="0" sldId="264"/>
        </pc:sldMkLst>
        <pc:spChg chg="mod">
          <ac:chgData name="Mishra, Umang" userId="9dd0017a-eb54-41bb-b59c-4b537b2a4289" providerId="ADAL" clId="{18C4EE36-312D-42BA-814C-C23EED858C6B}" dt="2026-06-04T18:09:23.642" v="66" actId="1076"/>
          <ac:spMkLst>
            <pc:docMk/>
            <pc:sldMk cId="0" sldId="264"/>
            <ac:spMk id="7" creationId="{AED8914C-A961-0A05-5448-570582C2DF22}"/>
          </ac:spMkLst>
        </pc:spChg>
        <pc:spChg chg="mod">
          <ac:chgData name="Mishra, Umang" userId="9dd0017a-eb54-41bb-b59c-4b537b2a4289" providerId="ADAL" clId="{18C4EE36-312D-42BA-814C-C23EED858C6B}" dt="2026-06-04T18:09:28.759" v="67" actId="1076"/>
          <ac:spMkLst>
            <pc:docMk/>
            <pc:sldMk cId="0" sldId="264"/>
            <ac:spMk id="8" creationId="{5FCD0172-E4D8-FAC6-5BA8-FE3C4EA225CC}"/>
          </ac:spMkLst>
        </pc:spChg>
        <pc:spChg chg="mod">
          <ac:chgData name="Mishra, Umang" userId="9dd0017a-eb54-41bb-b59c-4b537b2a4289" providerId="ADAL" clId="{18C4EE36-312D-42BA-814C-C23EED858C6B}" dt="2026-06-04T18:09:20.318" v="65" actId="1076"/>
          <ac:spMkLst>
            <pc:docMk/>
            <pc:sldMk cId="0" sldId="264"/>
            <ac:spMk id="9" creationId="{8A0E69E9-0B0A-7403-342A-609AEBFAB2D3}"/>
          </ac:spMkLst>
        </pc:spChg>
        <pc:spChg chg="mod">
          <ac:chgData name="Mishra, Umang" userId="9dd0017a-eb54-41bb-b59c-4b537b2a4289" providerId="ADAL" clId="{18C4EE36-312D-42BA-814C-C23EED858C6B}" dt="2026-06-04T18:09:34.795" v="68" actId="1076"/>
          <ac:spMkLst>
            <pc:docMk/>
            <pc:sldMk cId="0" sldId="264"/>
            <ac:spMk id="23" creationId="{A84C9ED0-A309-E48B-4D51-43D71B28538D}"/>
          </ac:spMkLst>
        </pc:spChg>
      </pc:sldChg>
      <pc:sldChg chg="modSp mod">
        <pc:chgData name="Mishra, Umang" userId="9dd0017a-eb54-41bb-b59c-4b537b2a4289" providerId="ADAL" clId="{18C4EE36-312D-42BA-814C-C23EED858C6B}" dt="2026-06-04T18:14:21.837" v="107" actId="2711"/>
        <pc:sldMkLst>
          <pc:docMk/>
          <pc:sldMk cId="0" sldId="266"/>
        </pc:sldMkLst>
        <pc:spChg chg="mod">
          <ac:chgData name="Mishra, Umang" userId="9dd0017a-eb54-41bb-b59c-4b537b2a4289" providerId="ADAL" clId="{18C4EE36-312D-42BA-814C-C23EED858C6B}" dt="2026-06-04T18:14:21.837" v="107" actId="2711"/>
          <ac:spMkLst>
            <pc:docMk/>
            <pc:sldMk cId="0" sldId="266"/>
            <ac:spMk id="7" creationId="{00000000-0000-0000-0000-000000000000}"/>
          </ac:spMkLst>
        </pc:spChg>
        <pc:spChg chg="mod">
          <ac:chgData name="Mishra, Umang" userId="9dd0017a-eb54-41bb-b59c-4b537b2a4289" providerId="ADAL" clId="{18C4EE36-312D-42BA-814C-C23EED858C6B}" dt="2026-06-04T18:14:13.493" v="105" actId="255"/>
          <ac:spMkLst>
            <pc:docMk/>
            <pc:sldMk cId="0" sldId="266"/>
            <ac:spMk id="118" creationId="{738A9A06-28E9-392E-3034-8D61D8CA82A7}"/>
          </ac:spMkLst>
        </pc:spChg>
      </pc:sldChg>
      <pc:sldChg chg="modSp mod">
        <pc:chgData name="Mishra, Umang" userId="9dd0017a-eb54-41bb-b59c-4b537b2a4289" providerId="ADAL" clId="{18C4EE36-312D-42BA-814C-C23EED858C6B}" dt="2026-06-04T18:14:54.065" v="113" actId="14100"/>
        <pc:sldMkLst>
          <pc:docMk/>
          <pc:sldMk cId="0" sldId="268"/>
        </pc:sldMkLst>
        <pc:spChg chg="mod">
          <ac:chgData name="Mishra, Umang" userId="9dd0017a-eb54-41bb-b59c-4b537b2a4289" providerId="ADAL" clId="{18C4EE36-312D-42BA-814C-C23EED858C6B}" dt="2026-06-04T18:14:42.339" v="111" actId="2711"/>
          <ac:spMkLst>
            <pc:docMk/>
            <pc:sldMk cId="0" sldId="268"/>
            <ac:spMk id="12" creationId="{00000000-0000-0000-0000-000000000000}"/>
          </ac:spMkLst>
        </pc:spChg>
        <pc:spChg chg="mod">
          <ac:chgData name="Mishra, Umang" userId="9dd0017a-eb54-41bb-b59c-4b537b2a4289" providerId="ADAL" clId="{18C4EE36-312D-42BA-814C-C23EED858C6B}" dt="2026-06-04T18:14:42.339" v="111" actId="2711"/>
          <ac:spMkLst>
            <pc:docMk/>
            <pc:sldMk cId="0" sldId="268"/>
            <ac:spMk id="13" creationId="{00000000-0000-0000-0000-000000000000}"/>
          </ac:spMkLst>
        </pc:spChg>
        <pc:spChg chg="mod">
          <ac:chgData name="Mishra, Umang" userId="9dd0017a-eb54-41bb-b59c-4b537b2a4289" providerId="ADAL" clId="{18C4EE36-312D-42BA-814C-C23EED858C6B}" dt="2026-06-04T18:14:42.339" v="111" actId="2711"/>
          <ac:spMkLst>
            <pc:docMk/>
            <pc:sldMk cId="0" sldId="268"/>
            <ac:spMk id="15" creationId="{00000000-0000-0000-0000-000000000000}"/>
          </ac:spMkLst>
        </pc:spChg>
        <pc:spChg chg="mod">
          <ac:chgData name="Mishra, Umang" userId="9dd0017a-eb54-41bb-b59c-4b537b2a4289" providerId="ADAL" clId="{18C4EE36-312D-42BA-814C-C23EED858C6B}" dt="2026-06-04T18:14:42.339" v="111" actId="2711"/>
          <ac:spMkLst>
            <pc:docMk/>
            <pc:sldMk cId="0" sldId="268"/>
            <ac:spMk id="16" creationId="{00000000-0000-0000-0000-000000000000}"/>
          </ac:spMkLst>
        </pc:spChg>
        <pc:spChg chg="mod">
          <ac:chgData name="Mishra, Umang" userId="9dd0017a-eb54-41bb-b59c-4b537b2a4289" providerId="ADAL" clId="{18C4EE36-312D-42BA-814C-C23EED858C6B}" dt="2026-06-04T18:14:42.339" v="111" actId="2711"/>
          <ac:spMkLst>
            <pc:docMk/>
            <pc:sldMk cId="0" sldId="268"/>
            <ac:spMk id="18" creationId="{00000000-0000-0000-0000-000000000000}"/>
          </ac:spMkLst>
        </pc:spChg>
        <pc:spChg chg="mod">
          <ac:chgData name="Mishra, Umang" userId="9dd0017a-eb54-41bb-b59c-4b537b2a4289" providerId="ADAL" clId="{18C4EE36-312D-42BA-814C-C23EED858C6B}" dt="2026-06-04T18:14:42.339" v="111" actId="2711"/>
          <ac:spMkLst>
            <pc:docMk/>
            <pc:sldMk cId="0" sldId="268"/>
            <ac:spMk id="19" creationId="{00000000-0000-0000-0000-000000000000}"/>
          </ac:spMkLst>
        </pc:spChg>
        <pc:spChg chg="mod">
          <ac:chgData name="Mishra, Umang" userId="9dd0017a-eb54-41bb-b59c-4b537b2a4289" providerId="ADAL" clId="{18C4EE36-312D-42BA-814C-C23EED858C6B}" dt="2026-06-04T18:14:51.158" v="112" actId="14100"/>
          <ac:spMkLst>
            <pc:docMk/>
            <pc:sldMk cId="0" sldId="268"/>
            <ac:spMk id="20" creationId="{00000000-0000-0000-0000-000000000000}"/>
          </ac:spMkLst>
        </pc:spChg>
        <pc:spChg chg="mod">
          <ac:chgData name="Mishra, Umang" userId="9dd0017a-eb54-41bb-b59c-4b537b2a4289" providerId="ADAL" clId="{18C4EE36-312D-42BA-814C-C23EED858C6B}" dt="2026-06-04T18:14:42.339" v="111" actId="2711"/>
          <ac:spMkLst>
            <pc:docMk/>
            <pc:sldMk cId="0" sldId="268"/>
            <ac:spMk id="23" creationId="{00000000-0000-0000-0000-000000000000}"/>
          </ac:spMkLst>
        </pc:spChg>
        <pc:spChg chg="mod">
          <ac:chgData name="Mishra, Umang" userId="9dd0017a-eb54-41bb-b59c-4b537b2a4289" providerId="ADAL" clId="{18C4EE36-312D-42BA-814C-C23EED858C6B}" dt="2026-06-04T18:14:42.339" v="111" actId="2711"/>
          <ac:spMkLst>
            <pc:docMk/>
            <pc:sldMk cId="0" sldId="268"/>
            <ac:spMk id="25" creationId="{00000000-0000-0000-0000-000000000000}"/>
          </ac:spMkLst>
        </pc:spChg>
        <pc:spChg chg="mod">
          <ac:chgData name="Mishra, Umang" userId="9dd0017a-eb54-41bb-b59c-4b537b2a4289" providerId="ADAL" clId="{18C4EE36-312D-42BA-814C-C23EED858C6B}" dt="2026-06-04T18:14:54.065" v="113" actId="14100"/>
          <ac:spMkLst>
            <pc:docMk/>
            <pc:sldMk cId="0" sldId="268"/>
            <ac:spMk id="28" creationId="{00000000-0000-0000-0000-000000000000}"/>
          </ac:spMkLst>
        </pc:spChg>
        <pc:spChg chg="mod">
          <ac:chgData name="Mishra, Umang" userId="9dd0017a-eb54-41bb-b59c-4b537b2a4289" providerId="ADAL" clId="{18C4EE36-312D-42BA-814C-C23EED858C6B}" dt="2026-06-04T18:14:42.339" v="111" actId="2711"/>
          <ac:spMkLst>
            <pc:docMk/>
            <pc:sldMk cId="0" sldId="268"/>
            <ac:spMk id="32" creationId="{00000000-0000-0000-0000-000000000000}"/>
          </ac:spMkLst>
        </pc:spChg>
        <pc:spChg chg="mod">
          <ac:chgData name="Mishra, Umang" userId="9dd0017a-eb54-41bb-b59c-4b537b2a4289" providerId="ADAL" clId="{18C4EE36-312D-42BA-814C-C23EED858C6B}" dt="2026-06-04T18:14:35.093" v="110" actId="1076"/>
          <ac:spMkLst>
            <pc:docMk/>
            <pc:sldMk cId="0" sldId="268"/>
            <ac:spMk id="39" creationId="{C460626F-487E-35E9-DA36-155BB04D8340}"/>
          </ac:spMkLst>
        </pc:spChg>
      </pc:sldChg>
      <pc:sldChg chg="delSp modSp mod">
        <pc:chgData name="Mishra, Umang" userId="9dd0017a-eb54-41bb-b59c-4b537b2a4289" providerId="ADAL" clId="{18C4EE36-312D-42BA-814C-C23EED858C6B}" dt="2026-06-04T16:12:04.989" v="20" actId="255"/>
        <pc:sldMkLst>
          <pc:docMk/>
          <pc:sldMk cId="0" sldId="271"/>
        </pc:sldMkLst>
        <pc:spChg chg="del">
          <ac:chgData name="Mishra, Umang" userId="9dd0017a-eb54-41bb-b59c-4b537b2a4289" providerId="ADAL" clId="{18C4EE36-312D-42BA-814C-C23EED858C6B}" dt="2026-06-04T16:11:21.255" v="6" actId="478"/>
          <ac:spMkLst>
            <pc:docMk/>
            <pc:sldMk cId="0" sldId="271"/>
            <ac:spMk id="186" creationId="{00000000-0000-0000-0000-000000000000}"/>
          </ac:spMkLst>
        </pc:spChg>
        <pc:spChg chg="mod">
          <ac:chgData name="Mishra, Umang" userId="9dd0017a-eb54-41bb-b59c-4b537b2a4289" providerId="ADAL" clId="{18C4EE36-312D-42BA-814C-C23EED858C6B}" dt="2026-06-04T16:11:26.800" v="7" actId="1076"/>
          <ac:spMkLst>
            <pc:docMk/>
            <pc:sldMk cId="0" sldId="271"/>
            <ac:spMk id="187" creationId="{00000000-0000-0000-0000-000000000000}"/>
          </ac:spMkLst>
        </pc:spChg>
        <pc:spChg chg="mod">
          <ac:chgData name="Mishra, Umang" userId="9dd0017a-eb54-41bb-b59c-4b537b2a4289" providerId="ADAL" clId="{18C4EE36-312D-42BA-814C-C23EED858C6B}" dt="2026-06-04T16:12:04.989" v="20" actId="255"/>
          <ac:spMkLst>
            <pc:docMk/>
            <pc:sldMk cId="0" sldId="271"/>
            <ac:spMk id="189" creationId="{00000000-0000-0000-0000-000000000000}"/>
          </ac:spMkLst>
        </pc:spChg>
      </pc:sldChg>
      <pc:sldChg chg="modSp mod">
        <pc:chgData name="Mishra, Umang" userId="9dd0017a-eb54-41bb-b59c-4b537b2a4289" providerId="ADAL" clId="{18C4EE36-312D-42BA-814C-C23EED858C6B}" dt="2026-06-04T16:12:54.304" v="38" actId="20577"/>
        <pc:sldMkLst>
          <pc:docMk/>
          <pc:sldMk cId="0" sldId="272"/>
        </pc:sldMkLst>
        <pc:spChg chg="mod">
          <ac:chgData name="Mishra, Umang" userId="9dd0017a-eb54-41bb-b59c-4b537b2a4289" providerId="ADAL" clId="{18C4EE36-312D-42BA-814C-C23EED858C6B}" dt="2026-06-04T16:12:54.304" v="38" actId="20577"/>
          <ac:spMkLst>
            <pc:docMk/>
            <pc:sldMk cId="0" sldId="272"/>
            <ac:spMk id="195" creationId="{00000000-0000-0000-0000-000000000000}"/>
          </ac:spMkLst>
        </pc:spChg>
        <pc:spChg chg="mod">
          <ac:chgData name="Mishra, Umang" userId="9dd0017a-eb54-41bb-b59c-4b537b2a4289" providerId="ADAL" clId="{18C4EE36-312D-42BA-814C-C23EED858C6B}" dt="2026-06-04T16:12:37.217" v="21" actId="1076"/>
          <ac:spMkLst>
            <pc:docMk/>
            <pc:sldMk cId="0" sldId="272"/>
            <ac:spMk id="197" creationId="{00000000-0000-0000-0000-000000000000}"/>
          </ac:spMkLst>
        </pc:spChg>
      </pc:sldChg>
      <pc:sldChg chg="modSp mod">
        <pc:chgData name="Mishra, Umang" userId="9dd0017a-eb54-41bb-b59c-4b537b2a4289" providerId="ADAL" clId="{18C4EE36-312D-42BA-814C-C23EED858C6B}" dt="2026-06-04T18:13:02.258" v="98" actId="1076"/>
        <pc:sldMkLst>
          <pc:docMk/>
          <pc:sldMk cId="0" sldId="321"/>
        </pc:sldMkLst>
        <pc:spChg chg="mod">
          <ac:chgData name="Mishra, Umang" userId="9dd0017a-eb54-41bb-b59c-4b537b2a4289" providerId="ADAL" clId="{18C4EE36-312D-42BA-814C-C23EED858C6B}" dt="2026-06-04T18:13:02.258" v="98" actId="1076"/>
          <ac:spMkLst>
            <pc:docMk/>
            <pc:sldMk cId="0" sldId="321"/>
            <ac:spMk id="4" creationId="{6E1A0C9D-4BCB-4C77-2741-B6DDE8B4FDF9}"/>
          </ac:spMkLst>
        </pc:spChg>
      </pc:sldChg>
      <pc:sldChg chg="modSp mod">
        <pc:chgData name="Mishra, Umang" userId="9dd0017a-eb54-41bb-b59c-4b537b2a4289" providerId="ADAL" clId="{18C4EE36-312D-42BA-814C-C23EED858C6B}" dt="2026-06-04T18:13:15.668" v="101" actId="1076"/>
        <pc:sldMkLst>
          <pc:docMk/>
          <pc:sldMk cId="3337575123" sldId="322"/>
        </pc:sldMkLst>
        <pc:spChg chg="mod">
          <ac:chgData name="Mishra, Umang" userId="9dd0017a-eb54-41bb-b59c-4b537b2a4289" providerId="ADAL" clId="{18C4EE36-312D-42BA-814C-C23EED858C6B}" dt="2026-06-04T18:13:15.668" v="101" actId="1076"/>
          <ac:spMkLst>
            <pc:docMk/>
            <pc:sldMk cId="3337575123" sldId="322"/>
            <ac:spMk id="6" creationId="{23B91B84-D41B-D463-A55B-5EB4FDD8F2EB}"/>
          </ac:spMkLst>
        </pc:spChg>
      </pc:sldChg>
      <pc:sldChg chg="modSp mod">
        <pc:chgData name="Mishra, Umang" userId="9dd0017a-eb54-41bb-b59c-4b537b2a4289" providerId="ADAL" clId="{18C4EE36-312D-42BA-814C-C23EED858C6B}" dt="2026-06-04T16:31:47.167" v="40" actId="14100"/>
        <pc:sldMkLst>
          <pc:docMk/>
          <pc:sldMk cId="4213490415" sldId="324"/>
        </pc:sldMkLst>
        <pc:graphicFrameChg chg="mod modGraphic">
          <ac:chgData name="Mishra, Umang" userId="9dd0017a-eb54-41bb-b59c-4b537b2a4289" providerId="ADAL" clId="{18C4EE36-312D-42BA-814C-C23EED858C6B}" dt="2026-06-04T16:31:47.167" v="40" actId="14100"/>
          <ac:graphicFrameMkLst>
            <pc:docMk/>
            <pc:sldMk cId="4213490415" sldId="324"/>
            <ac:graphicFrameMk id="5" creationId="{2E16A9A2-518F-0906-1BD5-E25CB022040D}"/>
          </ac:graphicFrameMkLst>
        </pc:graphicFrameChg>
      </pc:sldChg>
      <pc:sldChg chg="modSp mod">
        <pc:chgData name="Mishra, Umang" userId="9dd0017a-eb54-41bb-b59c-4b537b2a4289" providerId="ADAL" clId="{18C4EE36-312D-42BA-814C-C23EED858C6B}" dt="2026-06-04T18:08:07.455" v="59" actId="20577"/>
        <pc:sldMkLst>
          <pc:docMk/>
          <pc:sldMk cId="212409580" sldId="325"/>
        </pc:sldMkLst>
        <pc:graphicFrameChg chg="modGraphic">
          <ac:chgData name="Mishra, Umang" userId="9dd0017a-eb54-41bb-b59c-4b537b2a4289" providerId="ADAL" clId="{18C4EE36-312D-42BA-814C-C23EED858C6B}" dt="2026-06-04T18:08:07.455" v="59" actId="20577"/>
          <ac:graphicFrameMkLst>
            <pc:docMk/>
            <pc:sldMk cId="212409580" sldId="325"/>
            <ac:graphicFrameMk id="5" creationId="{CD15DD3E-BB43-D7B8-4633-CB26E68142F5}"/>
          </ac:graphicFrameMkLst>
        </pc:graphicFrameChg>
      </pc:sldChg>
      <pc:sldChg chg="modSp mod">
        <pc:chgData name="Mishra, Umang" userId="9dd0017a-eb54-41bb-b59c-4b537b2a4289" providerId="ADAL" clId="{18C4EE36-312D-42BA-814C-C23EED858C6B}" dt="2026-06-04T18:12:26.507" v="95" actId="1076"/>
        <pc:sldMkLst>
          <pc:docMk/>
          <pc:sldMk cId="441638859" sldId="326"/>
        </pc:sldMkLst>
        <pc:spChg chg="mod">
          <ac:chgData name="Mishra, Umang" userId="9dd0017a-eb54-41bb-b59c-4b537b2a4289" providerId="ADAL" clId="{18C4EE36-312D-42BA-814C-C23EED858C6B}" dt="2026-06-04T18:12:26.507" v="95" actId="1076"/>
          <ac:spMkLst>
            <pc:docMk/>
            <pc:sldMk cId="441638859" sldId="326"/>
            <ac:spMk id="6" creationId="{A5C9C824-EBDF-0B01-9B5B-E0D7348DB3D0}"/>
          </ac:spMkLst>
        </pc:spChg>
      </pc:sldChg>
      <pc:sldChg chg="delSp modSp mod">
        <pc:chgData name="Mishra, Umang" userId="9dd0017a-eb54-41bb-b59c-4b537b2a4289" providerId="ADAL" clId="{18C4EE36-312D-42BA-814C-C23EED858C6B}" dt="2026-06-04T18:13:59.803" v="102" actId="2711"/>
        <pc:sldMkLst>
          <pc:docMk/>
          <pc:sldMk cId="0" sldId="329"/>
        </pc:sldMkLst>
        <pc:spChg chg="mod">
          <ac:chgData name="Mishra, Umang" userId="9dd0017a-eb54-41bb-b59c-4b537b2a4289" providerId="ADAL" clId="{18C4EE36-312D-42BA-814C-C23EED858C6B}" dt="2026-06-04T18:13:59.803" v="102" actId="2711"/>
          <ac:spMkLst>
            <pc:docMk/>
            <pc:sldMk cId="0" sldId="329"/>
            <ac:spMk id="5" creationId="{00000000-0000-0000-0000-000000000000}"/>
          </ac:spMkLst>
        </pc:spChg>
        <pc:spChg chg="mod">
          <ac:chgData name="Mishra, Umang" userId="9dd0017a-eb54-41bb-b59c-4b537b2a4289" providerId="ADAL" clId="{18C4EE36-312D-42BA-814C-C23EED858C6B}" dt="2026-06-04T18:11:03.798" v="89" actId="20577"/>
          <ac:spMkLst>
            <pc:docMk/>
            <pc:sldMk cId="0" sldId="329"/>
            <ac:spMk id="6" creationId="{00000000-0000-0000-0000-000000000000}"/>
          </ac:spMkLst>
        </pc:spChg>
        <pc:spChg chg="del">
          <ac:chgData name="Mishra, Umang" userId="9dd0017a-eb54-41bb-b59c-4b537b2a4289" providerId="ADAL" clId="{18C4EE36-312D-42BA-814C-C23EED858C6B}" dt="2026-06-04T18:11:13.009" v="90" actId="478"/>
          <ac:spMkLst>
            <pc:docMk/>
            <pc:sldMk cId="0" sldId="329"/>
            <ac:spMk id="8" creationId="{00000000-0000-0000-0000-000000000000}"/>
          </ac:spMkLst>
        </pc:spChg>
        <pc:graphicFrameChg chg="modGraphic">
          <ac:chgData name="Mishra, Umang" userId="9dd0017a-eb54-41bb-b59c-4b537b2a4289" providerId="ADAL" clId="{18C4EE36-312D-42BA-814C-C23EED858C6B}" dt="2026-06-04T18:10:53.574" v="82" actId="20577"/>
          <ac:graphicFrameMkLst>
            <pc:docMk/>
            <pc:sldMk cId="0" sldId="329"/>
            <ac:graphicFrameMk id="7" creationId="{00000000-0000-0000-0000-000000000000}"/>
          </ac:graphicFrameMkLst>
        </pc:graphicFrameChg>
      </pc:sldChg>
      <pc:sldChg chg="addSp delSp modSp new mod">
        <pc:chgData name="Mishra, Umang" userId="9dd0017a-eb54-41bb-b59c-4b537b2a4289" providerId="ADAL" clId="{18C4EE36-312D-42BA-814C-C23EED858C6B}" dt="2026-06-04T16:34:10.980" v="49" actId="478"/>
        <pc:sldMkLst>
          <pc:docMk/>
          <pc:sldMk cId="547792391" sldId="330"/>
        </pc:sldMkLst>
        <pc:spChg chg="del">
          <ac:chgData name="Mishra, Umang" userId="9dd0017a-eb54-41bb-b59c-4b537b2a4289" providerId="ADAL" clId="{18C4EE36-312D-42BA-814C-C23EED858C6B}" dt="2026-06-04T16:34:10.980" v="49" actId="478"/>
          <ac:spMkLst>
            <pc:docMk/>
            <pc:sldMk cId="547792391" sldId="330"/>
            <ac:spMk id="2" creationId="{EB10AFFF-8EEF-D2FB-BF24-558F186F37EA}"/>
          </ac:spMkLst>
        </pc:spChg>
        <pc:spChg chg="del">
          <ac:chgData name="Mishra, Umang" userId="9dd0017a-eb54-41bb-b59c-4b537b2a4289" providerId="ADAL" clId="{18C4EE36-312D-42BA-814C-C23EED858C6B}" dt="2026-06-04T16:34:09.507" v="48" actId="478"/>
          <ac:spMkLst>
            <pc:docMk/>
            <pc:sldMk cId="547792391" sldId="330"/>
            <ac:spMk id="3" creationId="{F35F1ADB-CE44-55DE-AD40-017327AE5DDA}"/>
          </ac:spMkLst>
        </pc:spChg>
        <pc:picChg chg="add mod modCrop">
          <ac:chgData name="Mishra, Umang" userId="9dd0017a-eb54-41bb-b59c-4b537b2a4289" providerId="ADAL" clId="{18C4EE36-312D-42BA-814C-C23EED858C6B}" dt="2026-06-04T16:34:04.987" v="47" actId="1076"/>
          <ac:picMkLst>
            <pc:docMk/>
            <pc:sldMk cId="547792391" sldId="330"/>
            <ac:picMk id="6" creationId="{1FC5021C-06EB-F174-5C16-7618D3BD30F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423863" y="704850"/>
            <a:ext cx="6256337" cy="35194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10248" y="4459526"/>
            <a:ext cx="5681980" cy="4224814"/>
          </a:xfrm>
          <a:prstGeom prst="rect">
            <a:avLst/>
          </a:prstGeom>
          <a:noFill/>
          <a:ln>
            <a:noFill/>
          </a:ln>
        </p:spPr>
        <p:txBody>
          <a:bodyPr spcFirstLastPara="1" wrap="square" lIns="94200" tIns="94200" rIns="94200" bIns="94200"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1:notes"/>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 name="Google Shape;47;p1:notes"/>
          <p:cNvSpPr txBox="1">
            <a:spLocks noGrp="1"/>
          </p:cNvSpPr>
          <p:nvPr>
            <p:ph type="body" idx="1"/>
          </p:nvPr>
        </p:nvSpPr>
        <p:spPr>
          <a:xfrm>
            <a:off x="710248" y="4459526"/>
            <a:ext cx="5681980" cy="4224814"/>
          </a:xfrm>
          <a:prstGeom prst="rect">
            <a:avLst/>
          </a:prstGeom>
          <a:noFill/>
          <a:ln>
            <a:noFill/>
          </a:ln>
        </p:spPr>
        <p:txBody>
          <a:bodyPr spcFirstLastPara="1" wrap="square" lIns="94200" tIns="94200" rIns="94200" bIns="94200"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2:notes"/>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4" name="Google Shape;54;p2:notes"/>
          <p:cNvSpPr txBox="1">
            <a:spLocks noGrp="1"/>
          </p:cNvSpPr>
          <p:nvPr>
            <p:ph type="body" idx="1"/>
          </p:nvPr>
        </p:nvSpPr>
        <p:spPr>
          <a:xfrm>
            <a:off x="710248" y="4459526"/>
            <a:ext cx="5681980" cy="4224814"/>
          </a:xfrm>
          <a:prstGeom prst="rect">
            <a:avLst/>
          </a:prstGeom>
          <a:noFill/>
          <a:ln>
            <a:noFill/>
          </a:ln>
        </p:spPr>
        <p:txBody>
          <a:bodyPr spcFirstLastPara="1" wrap="square" lIns="94200" tIns="94200" rIns="94200" bIns="94200"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3:notes"/>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3" name="Google Shape;63;p3:notes"/>
          <p:cNvSpPr txBox="1">
            <a:spLocks noGrp="1"/>
          </p:cNvSpPr>
          <p:nvPr>
            <p:ph type="body" idx="1"/>
          </p:nvPr>
        </p:nvSpPr>
        <p:spPr>
          <a:xfrm>
            <a:off x="710248" y="4459526"/>
            <a:ext cx="5681980" cy="4224814"/>
          </a:xfrm>
          <a:prstGeom prst="rect">
            <a:avLst/>
          </a:prstGeom>
          <a:noFill/>
          <a:ln>
            <a:noFill/>
          </a:ln>
        </p:spPr>
        <p:txBody>
          <a:bodyPr spcFirstLastPara="1" wrap="square" lIns="94200" tIns="94200" rIns="94200" bIns="94200"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4:notes"/>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2" name="Google Shape;72;p4:notes"/>
          <p:cNvSpPr txBox="1">
            <a:spLocks noGrp="1"/>
          </p:cNvSpPr>
          <p:nvPr>
            <p:ph type="body" idx="1"/>
          </p:nvPr>
        </p:nvSpPr>
        <p:spPr>
          <a:xfrm>
            <a:off x="710248" y="4459526"/>
            <a:ext cx="5681980" cy="4224814"/>
          </a:xfrm>
          <a:prstGeom prst="rect">
            <a:avLst/>
          </a:prstGeom>
          <a:noFill/>
          <a:ln>
            <a:noFill/>
          </a:ln>
        </p:spPr>
        <p:txBody>
          <a:bodyPr spcFirstLastPara="1" wrap="square" lIns="94200" tIns="94200" rIns="94200" bIns="94200"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a:extLst>
            <a:ext uri="{FF2B5EF4-FFF2-40B4-BE49-F238E27FC236}">
              <a16:creationId xmlns:a16="http://schemas.microsoft.com/office/drawing/2014/main" id="{EC037AA9-A256-929B-3828-439DD87A7A0E}"/>
            </a:ext>
          </a:extLst>
        </p:cNvPr>
        <p:cNvGrpSpPr/>
        <p:nvPr/>
      </p:nvGrpSpPr>
      <p:grpSpPr>
        <a:xfrm>
          <a:off x="0" y="0"/>
          <a:ext cx="0" cy="0"/>
          <a:chOff x="0" y="0"/>
          <a:chExt cx="0" cy="0"/>
        </a:xfrm>
      </p:grpSpPr>
      <p:sp>
        <p:nvSpPr>
          <p:cNvPr id="80" name="Google Shape;80;p5:notes">
            <a:extLst>
              <a:ext uri="{FF2B5EF4-FFF2-40B4-BE49-F238E27FC236}">
                <a16:creationId xmlns:a16="http://schemas.microsoft.com/office/drawing/2014/main" id="{72A8FBC2-DE5A-D4C6-8CF3-4693D854F539}"/>
              </a:ext>
            </a:extLst>
          </p:cNvPr>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1" name="Google Shape;81;p5:notes">
            <a:extLst>
              <a:ext uri="{FF2B5EF4-FFF2-40B4-BE49-F238E27FC236}">
                <a16:creationId xmlns:a16="http://schemas.microsoft.com/office/drawing/2014/main" id="{E1FC2243-903C-5C0D-F271-694D020A7F55}"/>
              </a:ext>
            </a:extLst>
          </p:cNvPr>
          <p:cNvSpPr txBox="1">
            <a:spLocks noGrp="1"/>
          </p:cNvSpPr>
          <p:nvPr>
            <p:ph type="body" idx="1"/>
          </p:nvPr>
        </p:nvSpPr>
        <p:spPr>
          <a:xfrm>
            <a:off x="710248" y="4459526"/>
            <a:ext cx="5681980" cy="4224814"/>
          </a:xfrm>
          <a:prstGeom prst="rect">
            <a:avLst/>
          </a:prstGeom>
          <a:noFill/>
          <a:ln>
            <a:noFill/>
          </a:ln>
        </p:spPr>
        <p:txBody>
          <a:bodyPr spcFirstLastPara="1" wrap="square" lIns="94200" tIns="94200" rIns="94200" bIns="94200"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9900874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a:extLst>
            <a:ext uri="{FF2B5EF4-FFF2-40B4-BE49-F238E27FC236}">
              <a16:creationId xmlns:a16="http://schemas.microsoft.com/office/drawing/2014/main" id="{1E72744E-6DDB-9A66-C3F2-D9CE242874F5}"/>
            </a:ext>
          </a:extLst>
        </p:cNvPr>
        <p:cNvGrpSpPr/>
        <p:nvPr/>
      </p:nvGrpSpPr>
      <p:grpSpPr>
        <a:xfrm>
          <a:off x="0" y="0"/>
          <a:ext cx="0" cy="0"/>
          <a:chOff x="0" y="0"/>
          <a:chExt cx="0" cy="0"/>
        </a:xfrm>
      </p:grpSpPr>
      <p:sp>
        <p:nvSpPr>
          <p:cNvPr id="80" name="Google Shape;80;p5:notes">
            <a:extLst>
              <a:ext uri="{FF2B5EF4-FFF2-40B4-BE49-F238E27FC236}">
                <a16:creationId xmlns:a16="http://schemas.microsoft.com/office/drawing/2014/main" id="{93202F58-0895-2C17-85A9-F6F104F9529E}"/>
              </a:ext>
            </a:extLst>
          </p:cNvPr>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1" name="Google Shape;81;p5:notes">
            <a:extLst>
              <a:ext uri="{FF2B5EF4-FFF2-40B4-BE49-F238E27FC236}">
                <a16:creationId xmlns:a16="http://schemas.microsoft.com/office/drawing/2014/main" id="{894E7415-3E61-77C9-B601-C7CB0FECED55}"/>
              </a:ext>
            </a:extLst>
          </p:cNvPr>
          <p:cNvSpPr txBox="1">
            <a:spLocks noGrp="1"/>
          </p:cNvSpPr>
          <p:nvPr>
            <p:ph type="body" idx="1"/>
          </p:nvPr>
        </p:nvSpPr>
        <p:spPr>
          <a:xfrm>
            <a:off x="710248" y="4459526"/>
            <a:ext cx="5681980" cy="4224814"/>
          </a:xfrm>
          <a:prstGeom prst="rect">
            <a:avLst/>
          </a:prstGeom>
          <a:noFill/>
          <a:ln>
            <a:noFill/>
          </a:ln>
        </p:spPr>
        <p:txBody>
          <a:bodyPr spcFirstLastPara="1" wrap="square" lIns="94200" tIns="94200" rIns="94200" bIns="94200"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7263948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6:notes"/>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6:notes"/>
          <p:cNvSpPr txBox="1">
            <a:spLocks noGrp="1"/>
          </p:cNvSpPr>
          <p:nvPr>
            <p:ph type="body" idx="1"/>
          </p:nvPr>
        </p:nvSpPr>
        <p:spPr>
          <a:xfrm>
            <a:off x="710248" y="4459526"/>
            <a:ext cx="5681980" cy="4224814"/>
          </a:xfrm>
          <a:prstGeom prst="rect">
            <a:avLst/>
          </a:prstGeom>
          <a:noFill/>
          <a:ln>
            <a:noFill/>
          </a:ln>
        </p:spPr>
        <p:txBody>
          <a:bodyPr spcFirstLastPara="1" wrap="square" lIns="94200" tIns="94200" rIns="94200" bIns="94200"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7:notes"/>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1" name="Google Shape;101;p7:notes"/>
          <p:cNvSpPr txBox="1">
            <a:spLocks noGrp="1"/>
          </p:cNvSpPr>
          <p:nvPr>
            <p:ph type="body" idx="1"/>
          </p:nvPr>
        </p:nvSpPr>
        <p:spPr>
          <a:xfrm>
            <a:off x="710248" y="4459526"/>
            <a:ext cx="5681980" cy="4224814"/>
          </a:xfrm>
          <a:prstGeom prst="rect">
            <a:avLst/>
          </a:prstGeom>
          <a:noFill/>
          <a:ln>
            <a:noFill/>
          </a:ln>
        </p:spPr>
        <p:txBody>
          <a:bodyPr spcFirstLastPara="1" wrap="square" lIns="94200" tIns="94200" rIns="94200" bIns="94200"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8:notes"/>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1" name="Google Shape;111;p8:notes"/>
          <p:cNvSpPr txBox="1">
            <a:spLocks noGrp="1"/>
          </p:cNvSpPr>
          <p:nvPr>
            <p:ph type="body" idx="1"/>
          </p:nvPr>
        </p:nvSpPr>
        <p:spPr>
          <a:xfrm>
            <a:off x="710248" y="4459526"/>
            <a:ext cx="5681980" cy="4224814"/>
          </a:xfrm>
          <a:prstGeom prst="rect">
            <a:avLst/>
          </a:prstGeom>
          <a:noFill/>
          <a:ln>
            <a:noFill/>
          </a:ln>
        </p:spPr>
        <p:txBody>
          <a:bodyPr spcFirstLastPara="1" wrap="square" lIns="94200" tIns="94200" rIns="94200" bIns="94200"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9:notes"/>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0" name="Google Shape;120;p9:notes"/>
          <p:cNvSpPr txBox="1">
            <a:spLocks noGrp="1"/>
          </p:cNvSpPr>
          <p:nvPr>
            <p:ph type="body" idx="1"/>
          </p:nvPr>
        </p:nvSpPr>
        <p:spPr>
          <a:xfrm>
            <a:off x="710248" y="4459526"/>
            <a:ext cx="5681980" cy="4224814"/>
          </a:xfrm>
          <a:prstGeom prst="rect">
            <a:avLst/>
          </a:prstGeom>
          <a:noFill/>
          <a:ln>
            <a:noFill/>
          </a:ln>
        </p:spPr>
        <p:txBody>
          <a:bodyPr spcFirstLastPara="1" wrap="square" lIns="94200" tIns="94200" rIns="94200" bIns="94200"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8E1787FA-608D-BB99-EBF1-CB15CDA814E1}"/>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14ACEAFB-5268-E5EE-379C-E6D670816915}"/>
              </a:ext>
            </a:extLst>
          </p:cNvPr>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3" name="Google Shape;73;p4:notes">
            <a:extLst>
              <a:ext uri="{FF2B5EF4-FFF2-40B4-BE49-F238E27FC236}">
                <a16:creationId xmlns:a16="http://schemas.microsoft.com/office/drawing/2014/main" id="{595E86E4-B0BF-98B0-CB46-9363E4E3BA8B}"/>
              </a:ext>
            </a:extLst>
          </p:cNvPr>
          <p:cNvSpPr txBox="1">
            <a:spLocks noGrp="1"/>
          </p:cNvSpPr>
          <p:nvPr>
            <p:ph type="body" idx="1"/>
          </p:nvPr>
        </p:nvSpPr>
        <p:spPr>
          <a:xfrm>
            <a:off x="710248" y="4459526"/>
            <a:ext cx="5681980" cy="4224814"/>
          </a:xfrm>
          <a:prstGeom prst="rect">
            <a:avLst/>
          </a:prstGeom>
          <a:noFill/>
          <a:ln>
            <a:noFill/>
          </a:ln>
        </p:spPr>
        <p:txBody>
          <a:bodyPr spcFirstLastPara="1" wrap="square" lIns="94200" tIns="94200" rIns="94200" bIns="94200"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7081884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B30FABA0-8F1E-E3BB-F2D6-50E696624BB4}"/>
            </a:ext>
          </a:extLst>
        </p:cNvPr>
        <p:cNvGrpSpPr/>
        <p:nvPr/>
      </p:nvGrpSpPr>
      <p:grpSpPr>
        <a:xfrm>
          <a:off x="0" y="0"/>
          <a:ext cx="0" cy="0"/>
          <a:chOff x="0" y="0"/>
          <a:chExt cx="0" cy="0"/>
        </a:xfrm>
      </p:grpSpPr>
      <p:sp>
        <p:nvSpPr>
          <p:cNvPr id="117" name="Google Shape;117;p9:notes">
            <a:extLst>
              <a:ext uri="{FF2B5EF4-FFF2-40B4-BE49-F238E27FC236}">
                <a16:creationId xmlns:a16="http://schemas.microsoft.com/office/drawing/2014/main" id="{EB9A65F6-FDE2-1B93-1133-44633E850F0E}"/>
              </a:ext>
            </a:extLst>
          </p:cNvPr>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8" name="Google Shape;118;p9:notes">
            <a:extLst>
              <a:ext uri="{FF2B5EF4-FFF2-40B4-BE49-F238E27FC236}">
                <a16:creationId xmlns:a16="http://schemas.microsoft.com/office/drawing/2014/main" id="{6520CED2-DF04-54B9-C263-020CED58145F}"/>
              </a:ext>
            </a:extLst>
          </p:cNvPr>
          <p:cNvSpPr txBox="1">
            <a:spLocks noGrp="1"/>
          </p:cNvSpPr>
          <p:nvPr>
            <p:ph type="body" idx="1"/>
          </p:nvPr>
        </p:nvSpPr>
        <p:spPr>
          <a:xfrm>
            <a:off x="710248" y="4459526"/>
            <a:ext cx="5681980" cy="4224814"/>
          </a:xfrm>
          <a:prstGeom prst="rect">
            <a:avLst/>
          </a:prstGeom>
          <a:noFill/>
          <a:ln>
            <a:noFill/>
          </a:ln>
        </p:spPr>
        <p:txBody>
          <a:bodyPr spcFirstLastPara="1" wrap="square" lIns="94200" tIns="94200" rIns="94200" bIns="94200"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7061467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6:notes"/>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3" name="Google Shape;183;p16:notes"/>
          <p:cNvSpPr txBox="1">
            <a:spLocks noGrp="1"/>
          </p:cNvSpPr>
          <p:nvPr>
            <p:ph type="body" idx="1"/>
          </p:nvPr>
        </p:nvSpPr>
        <p:spPr>
          <a:xfrm>
            <a:off x="710248" y="4459526"/>
            <a:ext cx="5681980" cy="4224814"/>
          </a:xfrm>
          <a:prstGeom prst="rect">
            <a:avLst/>
          </a:prstGeom>
          <a:noFill/>
          <a:ln>
            <a:noFill/>
          </a:ln>
        </p:spPr>
        <p:txBody>
          <a:bodyPr spcFirstLastPara="1" wrap="square" lIns="94200" tIns="94200" rIns="94200" bIns="94200"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7:notes"/>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2" name="Google Shape;192;p17:notes"/>
          <p:cNvSpPr txBox="1">
            <a:spLocks noGrp="1"/>
          </p:cNvSpPr>
          <p:nvPr>
            <p:ph type="body" idx="1"/>
          </p:nvPr>
        </p:nvSpPr>
        <p:spPr>
          <a:xfrm>
            <a:off x="710248" y="4459526"/>
            <a:ext cx="5681980" cy="4224814"/>
          </a:xfrm>
          <a:prstGeom prst="rect">
            <a:avLst/>
          </a:prstGeom>
          <a:noFill/>
          <a:ln>
            <a:noFill/>
          </a:ln>
        </p:spPr>
        <p:txBody>
          <a:bodyPr spcFirstLastPara="1" wrap="square" lIns="94200" tIns="94200" rIns="94200" bIns="94200"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6" name="Google Shape;16;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9" name="Google Shape;19;p4"/>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0" name="Google Shape;20;p4"/>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1" name="Google Shape;21;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2"/>
        <p:cNvGrpSpPr/>
        <p:nvPr/>
      </p:nvGrpSpPr>
      <p:grpSpPr>
        <a:xfrm>
          <a:off x="0" y="0"/>
          <a:ext cx="0" cy="0"/>
          <a:chOff x="0" y="0"/>
          <a:chExt cx="0" cy="0"/>
        </a:xfrm>
      </p:grpSpPr>
      <p:sp>
        <p:nvSpPr>
          <p:cNvPr id="23" name="Google Shape;23;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27" name="Google Shape;27;p6"/>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8" name="Google Shape;28;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9"/>
        <p:cNvGrpSpPr/>
        <p:nvPr/>
      </p:nvGrpSpPr>
      <p:grpSpPr>
        <a:xfrm>
          <a:off x="0" y="0"/>
          <a:ext cx="0" cy="0"/>
          <a:chOff x="0" y="0"/>
          <a:chExt cx="0" cy="0"/>
        </a:xfrm>
      </p:grpSpPr>
      <p:sp>
        <p:nvSpPr>
          <p:cNvPr id="30" name="Google Shape;30;p7"/>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2"/>
        <p:cNvGrpSpPr/>
        <p:nvPr/>
      </p:nvGrpSpPr>
      <p:grpSpPr>
        <a:xfrm>
          <a:off x="0" y="0"/>
          <a:ext cx="0" cy="0"/>
          <a:chOff x="0" y="0"/>
          <a:chExt cx="0" cy="0"/>
        </a:xfrm>
      </p:grpSpPr>
      <p:sp>
        <p:nvSpPr>
          <p:cNvPr id="33" name="Google Shape;33;p8"/>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8"/>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5" name="Google Shape;35;p8"/>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6" name="Google Shape;36;p8"/>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7" name="Google Shape;37;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8"/>
        <p:cNvGrpSpPr/>
        <p:nvPr/>
      </p:nvGrpSpPr>
      <p:grpSpPr>
        <a:xfrm>
          <a:off x="0" y="0"/>
          <a:ext cx="0" cy="0"/>
          <a:chOff x="0" y="0"/>
          <a:chExt cx="0" cy="0"/>
        </a:xfrm>
      </p:grpSpPr>
      <p:sp>
        <p:nvSpPr>
          <p:cNvPr id="39" name="Google Shape;39;p9"/>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1"/>
        <p:cNvGrpSpPr/>
        <p:nvPr/>
      </p:nvGrpSpPr>
      <p:grpSpPr>
        <a:xfrm>
          <a:off x="0" y="0"/>
          <a:ext cx="0" cy="0"/>
          <a:chOff x="0" y="0"/>
          <a:chExt cx="0" cy="0"/>
        </a:xfrm>
      </p:grpSpPr>
      <p:sp>
        <p:nvSpPr>
          <p:cNvPr id="42" name="Google Shape;42;p10"/>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3" name="Google Shape;43;p10"/>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4" name="Google Shape;44;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08520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8"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hyperlink" Target="vscode-file://vscode-app/c:/Users/H661523/AppData/Local/Programs/Microsoft%20VS%20Code/8761a5560c/resources/app/out/vs/code/electron-browser/workbench/workbench.html"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8"/>
        <p:cNvGrpSpPr/>
        <p:nvPr/>
      </p:nvGrpSpPr>
      <p:grpSpPr>
        <a:xfrm>
          <a:off x="0" y="0"/>
          <a:ext cx="0" cy="0"/>
          <a:chOff x="0" y="0"/>
          <a:chExt cx="0" cy="0"/>
        </a:xfrm>
      </p:grpSpPr>
      <p:sp>
        <p:nvSpPr>
          <p:cNvPr id="49" name="Google Shape;49;p11"/>
          <p:cNvSpPr txBox="1">
            <a:spLocks noGrp="1"/>
          </p:cNvSpPr>
          <p:nvPr>
            <p:ph type="sldNum" idx="12"/>
          </p:nvPr>
        </p:nvSpPr>
        <p:spPr>
          <a:xfrm>
            <a:off x="8077839" y="45764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1</a:t>
            </a:fld>
            <a:endParaRPr/>
          </a:p>
        </p:txBody>
      </p:sp>
      <p:sp>
        <p:nvSpPr>
          <p:cNvPr id="50" name="Google Shape;50;p11"/>
          <p:cNvSpPr txBox="1"/>
          <p:nvPr/>
        </p:nvSpPr>
        <p:spPr>
          <a:xfrm>
            <a:off x="927274" y="1080356"/>
            <a:ext cx="7289451" cy="115109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2800"/>
              <a:buFont typeface="Arial"/>
              <a:buNone/>
            </a:pPr>
            <a:r>
              <a:rPr lang="en-US" sz="3200" b="0" i="0" u="none" strike="noStrike" cap="none" dirty="0">
                <a:solidFill>
                  <a:srgbClr val="083C92"/>
                </a:solidFill>
                <a:latin typeface="Bookman Old Style"/>
                <a:ea typeface="Bookman Old Style"/>
                <a:cs typeface="Bookman Old Style"/>
                <a:sym typeface="Bookman Old Style"/>
              </a:rPr>
              <a:t>VIII Semester Major Project Work (CS481P)</a:t>
            </a:r>
            <a:endParaRPr dirty="0"/>
          </a:p>
        </p:txBody>
      </p:sp>
      <p:sp>
        <p:nvSpPr>
          <p:cNvPr id="51" name="Google Shape;51;p11"/>
          <p:cNvSpPr txBox="1"/>
          <p:nvPr/>
        </p:nvSpPr>
        <p:spPr>
          <a:xfrm>
            <a:off x="1688944" y="2622873"/>
            <a:ext cx="5766109" cy="578363"/>
          </a:xfrm>
          <a:prstGeom prst="rect">
            <a:avLst/>
          </a:prstGeom>
          <a:noFill/>
          <a:ln>
            <a:noFill/>
          </a:ln>
        </p:spPr>
        <p:txBody>
          <a:bodyPr spcFirstLastPara="1" wrap="square" lIns="0" tIns="11425" rIns="0" bIns="0" anchor="t" anchorCtr="0">
            <a:spAutoFit/>
          </a:bodyPr>
          <a:lstStyle/>
          <a:p>
            <a:pPr marL="12700" marR="0" lvl="0" indent="0" algn="ctr" rtl="0">
              <a:lnSpc>
                <a:spcPct val="100000"/>
              </a:lnSpc>
              <a:spcBef>
                <a:spcPts val="0"/>
              </a:spcBef>
              <a:spcAft>
                <a:spcPts val="0"/>
              </a:spcAft>
              <a:buNone/>
            </a:pPr>
            <a:r>
              <a:rPr lang="en-US" sz="1800" b="0" i="0" u="none" strike="noStrike" cap="none">
                <a:solidFill>
                  <a:schemeClr val="dk1"/>
                </a:solidFill>
                <a:latin typeface="Bookman Old Style"/>
                <a:ea typeface="Bookman Old Style"/>
                <a:cs typeface="Bookman Old Style"/>
                <a:sym typeface="Bookman Old Style"/>
              </a:rPr>
              <a:t>Department of Computer Science,  </a:t>
            </a:r>
            <a:endParaRPr/>
          </a:p>
          <a:p>
            <a:pPr marL="12700" marR="0" lvl="0" indent="0" algn="ctr" rtl="0">
              <a:lnSpc>
                <a:spcPct val="100000"/>
              </a:lnSpc>
              <a:spcBef>
                <a:spcPts val="88"/>
              </a:spcBef>
              <a:spcAft>
                <a:spcPts val="0"/>
              </a:spcAft>
              <a:buNone/>
            </a:pPr>
            <a:r>
              <a:rPr lang="en-US" sz="1800" b="0" i="0" u="none" strike="noStrike" cap="none">
                <a:solidFill>
                  <a:schemeClr val="dk1"/>
                </a:solidFill>
                <a:latin typeface="Bookman Old Style"/>
                <a:ea typeface="Bookman Old Style"/>
                <a:cs typeface="Bookman Old Style"/>
                <a:sym typeface="Bookman Old Style"/>
              </a:rPr>
              <a:t>R V College of  Engineering, Bengaluru</a:t>
            </a:r>
            <a:r>
              <a:rPr lang="en-US" sz="1800" b="1" i="0" u="none" strike="noStrike" cap="none">
                <a:solidFill>
                  <a:schemeClr val="dk1"/>
                </a:solidFill>
                <a:latin typeface="Helvetica Neue"/>
                <a:ea typeface="Helvetica Neue"/>
                <a:cs typeface="Helvetica Neue"/>
                <a:sym typeface="Helvetica Neue"/>
              </a:rPr>
              <a: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5"/>
        <p:cNvGrpSpPr/>
        <p:nvPr/>
      </p:nvGrpSpPr>
      <p:grpSpPr>
        <a:xfrm>
          <a:off x="0" y="0"/>
          <a:ext cx="0" cy="0"/>
          <a:chOff x="0" y="0"/>
          <a:chExt cx="0" cy="0"/>
        </a:xfrm>
      </p:grpSpPr>
      <p:sp>
        <p:nvSpPr>
          <p:cNvPr id="56" name="Google Shape;56;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2</a:t>
            </a:fld>
            <a:endParaRPr/>
          </a:p>
        </p:txBody>
      </p:sp>
      <p:sp>
        <p:nvSpPr>
          <p:cNvPr id="58" name="Google Shape;58;p12"/>
          <p:cNvSpPr/>
          <p:nvPr/>
        </p:nvSpPr>
        <p:spPr>
          <a:xfrm>
            <a:off x="2977832" y="4480654"/>
            <a:ext cx="3188335"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200" b="0" i="0" u="none" strike="noStrike" cap="none" dirty="0">
                <a:solidFill>
                  <a:srgbClr val="888888"/>
                </a:solidFill>
                <a:latin typeface="Arial"/>
                <a:ea typeface="Arial"/>
                <a:cs typeface="Arial"/>
                <a:sym typeface="Arial"/>
              </a:rPr>
              <a:t>RV COLLEGE OF ENGINEERING</a:t>
            </a:r>
            <a:endParaRPr dirty="0"/>
          </a:p>
        </p:txBody>
      </p:sp>
      <p:sp>
        <p:nvSpPr>
          <p:cNvPr id="59" name="Google Shape;59;p12"/>
          <p:cNvSpPr txBox="1"/>
          <p:nvPr/>
        </p:nvSpPr>
        <p:spPr>
          <a:xfrm>
            <a:off x="2582181" y="952466"/>
            <a:ext cx="3985028" cy="1139793"/>
          </a:xfrm>
          <a:prstGeom prst="rect">
            <a:avLst/>
          </a:prstGeom>
          <a:noFill/>
          <a:ln>
            <a:noFill/>
          </a:ln>
        </p:spPr>
        <p:txBody>
          <a:bodyPr spcFirstLastPara="1" wrap="square" lIns="91425" tIns="91425" rIns="91425" bIns="91425" anchor="t" anchorCtr="0">
            <a:noAutofit/>
          </a:bodyPr>
          <a:lstStyle/>
          <a:p>
            <a:pPr algn="ctr">
              <a:buClr>
                <a:schemeClr val="dk1"/>
              </a:buClr>
              <a:buSzPts val="2800"/>
            </a:pPr>
            <a:r>
              <a:rPr lang="en-US" altLang="en-US" sz="2000" b="1" dirty="0">
                <a:solidFill>
                  <a:srgbClr val="083C92"/>
                </a:solidFill>
                <a:latin typeface="Bookman Old Style"/>
              </a:rPr>
              <a:t>NHI Governance Agent </a:t>
            </a:r>
          </a:p>
          <a:p>
            <a:pPr algn="ctr">
              <a:buClr>
                <a:schemeClr val="dk1"/>
              </a:buClr>
              <a:buSzPts val="2800"/>
            </a:pPr>
            <a:endParaRPr lang="en-US" altLang="en-US" sz="2000" b="1" dirty="0">
              <a:solidFill>
                <a:srgbClr val="083C92"/>
              </a:solidFill>
              <a:latin typeface="Bookman Old Style"/>
            </a:endParaRPr>
          </a:p>
          <a:p>
            <a:pPr algn="ctr">
              <a:buClr>
                <a:schemeClr val="dk1"/>
              </a:buClr>
              <a:buSzPts val="2800"/>
            </a:pPr>
            <a:r>
              <a:rPr lang="en-US" altLang="en-US" sz="2000" b="1" dirty="0">
                <a:solidFill>
                  <a:srgbClr val="083C92"/>
                </a:solidFill>
                <a:latin typeface="Bookman Old Style"/>
              </a:rPr>
              <a:t>Umang Mishra (1RV22CS220)</a:t>
            </a:r>
          </a:p>
          <a:p>
            <a:pPr marL="0" marR="0" lvl="0" indent="0" algn="ctr" rtl="0">
              <a:lnSpc>
                <a:spcPct val="100000"/>
              </a:lnSpc>
              <a:spcBef>
                <a:spcPts val="0"/>
              </a:spcBef>
              <a:spcAft>
                <a:spcPts val="0"/>
              </a:spcAft>
              <a:buClr>
                <a:schemeClr val="dk1"/>
              </a:buClr>
              <a:buSzPts val="2800"/>
              <a:buFont typeface="Arial"/>
              <a:buNone/>
            </a:pPr>
            <a:endParaRPr dirty="0"/>
          </a:p>
        </p:txBody>
      </p:sp>
      <p:sp>
        <p:nvSpPr>
          <p:cNvPr id="60" name="Google Shape;60;p12"/>
          <p:cNvSpPr txBox="1"/>
          <p:nvPr/>
        </p:nvSpPr>
        <p:spPr>
          <a:xfrm>
            <a:off x="2050799" y="2705794"/>
            <a:ext cx="5042402" cy="1164406"/>
          </a:xfrm>
          <a:prstGeom prst="rect">
            <a:avLst/>
          </a:prstGeom>
          <a:noFill/>
          <a:ln>
            <a:noFill/>
          </a:ln>
        </p:spPr>
        <p:txBody>
          <a:bodyPr spcFirstLastPara="1" wrap="square" lIns="0" tIns="12050" rIns="0" bIns="0" anchor="t" anchorCtr="0">
            <a:spAutoFit/>
          </a:bodyPr>
          <a:lstStyle/>
          <a:p>
            <a:pPr algn="ctr" eaLnBrk="1" hangingPunct="1">
              <a:lnSpc>
                <a:spcPct val="101000"/>
              </a:lnSpc>
              <a:spcBef>
                <a:spcPts val="100"/>
              </a:spcBef>
            </a:pPr>
            <a:r>
              <a:rPr lang="en-US" altLang="en-US" dirty="0">
                <a:solidFill>
                  <a:srgbClr val="6D6E71"/>
                </a:solidFill>
                <a:latin typeface="Times New Roman" panose="02020603050405020304" pitchFamily="18" charset="0"/>
                <a:cs typeface="Times New Roman" panose="02020603050405020304" pitchFamily="18" charset="0"/>
              </a:rPr>
              <a:t>Internship / Inhouse :  Honeywell</a:t>
            </a:r>
          </a:p>
          <a:p>
            <a:pPr algn="ctr" eaLnBrk="1" hangingPunct="1">
              <a:lnSpc>
                <a:spcPct val="101000"/>
              </a:lnSpc>
              <a:spcBef>
                <a:spcPts val="100"/>
              </a:spcBef>
            </a:pPr>
            <a:endParaRPr lang="en-US" altLang="en-US" dirty="0">
              <a:solidFill>
                <a:srgbClr val="6D6E71"/>
              </a:solidFill>
              <a:latin typeface="Times New Roman" panose="02020603050405020304" pitchFamily="18" charset="0"/>
              <a:cs typeface="Times New Roman" panose="02020603050405020304" pitchFamily="18" charset="0"/>
            </a:endParaRPr>
          </a:p>
          <a:p>
            <a:pPr algn="ctr" eaLnBrk="1" hangingPunct="1">
              <a:lnSpc>
                <a:spcPct val="101000"/>
              </a:lnSpc>
              <a:spcBef>
                <a:spcPts val="100"/>
              </a:spcBef>
            </a:pPr>
            <a:r>
              <a:rPr lang="en-US" altLang="en-US" dirty="0">
                <a:solidFill>
                  <a:srgbClr val="6D6E71"/>
                </a:solidFill>
                <a:latin typeface="Times New Roman" panose="02020603050405020304" pitchFamily="18" charset="0"/>
                <a:cs typeface="Times New Roman" panose="02020603050405020304" pitchFamily="18" charset="0"/>
              </a:rPr>
              <a:t>Internal Guide  : Dr Chethana Murthy- Associate Professor</a:t>
            </a:r>
          </a:p>
          <a:p>
            <a:pPr algn="ctr" eaLnBrk="1" hangingPunct="1">
              <a:lnSpc>
                <a:spcPct val="101000"/>
              </a:lnSpc>
              <a:spcBef>
                <a:spcPts val="100"/>
              </a:spcBef>
            </a:pPr>
            <a:endParaRPr lang="en-US" altLang="en-US" dirty="0">
              <a:solidFill>
                <a:srgbClr val="6D6E71"/>
              </a:solidFill>
              <a:latin typeface="Times New Roman" panose="02020603050405020304" pitchFamily="18" charset="0"/>
              <a:cs typeface="Times New Roman" panose="02020603050405020304" pitchFamily="18" charset="0"/>
            </a:endParaRPr>
          </a:p>
          <a:p>
            <a:pPr algn="ctr" eaLnBrk="1" hangingPunct="1">
              <a:lnSpc>
                <a:spcPct val="101000"/>
              </a:lnSpc>
              <a:spcBef>
                <a:spcPts val="100"/>
              </a:spcBef>
            </a:pPr>
            <a:r>
              <a:rPr lang="en-US" altLang="en-US" dirty="0">
                <a:solidFill>
                  <a:srgbClr val="6D6E71"/>
                </a:solidFill>
                <a:latin typeface="Times New Roman" panose="02020603050405020304" pitchFamily="18" charset="0"/>
                <a:cs typeface="Times New Roman" panose="02020603050405020304" pitchFamily="18" charset="0"/>
              </a:rPr>
              <a:t>External Guide : Tejeshwar Rao – </a:t>
            </a:r>
            <a:r>
              <a:rPr lang="en-US" altLang="en-US" dirty="0" err="1">
                <a:solidFill>
                  <a:srgbClr val="6D6E71"/>
                </a:solidFill>
                <a:latin typeface="Times New Roman" panose="02020603050405020304" pitchFamily="18" charset="0"/>
                <a:cs typeface="Times New Roman" panose="02020603050405020304" pitchFamily="18" charset="0"/>
              </a:rPr>
              <a:t>DevSecOps</a:t>
            </a:r>
            <a:r>
              <a:rPr lang="en-US" altLang="en-US" dirty="0">
                <a:solidFill>
                  <a:srgbClr val="6D6E71"/>
                </a:solidFill>
                <a:latin typeface="Times New Roman" panose="02020603050405020304" pitchFamily="18" charset="0"/>
                <a:cs typeface="Times New Roman" panose="02020603050405020304" pitchFamily="18" charset="0"/>
              </a:rPr>
              <a:t> &amp; Cloud Manager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4"/>
        <p:cNvGrpSpPr/>
        <p:nvPr/>
      </p:nvGrpSpPr>
      <p:grpSpPr>
        <a:xfrm>
          <a:off x="0" y="0"/>
          <a:ext cx="0" cy="0"/>
          <a:chOff x="0" y="0"/>
          <a:chExt cx="0" cy="0"/>
        </a:xfrm>
      </p:grpSpPr>
      <p:sp>
        <p:nvSpPr>
          <p:cNvPr id="65" name="Google Shape;65;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3</a:t>
            </a:fld>
            <a:endParaRPr/>
          </a:p>
        </p:txBody>
      </p:sp>
      <p:sp>
        <p:nvSpPr>
          <p:cNvPr id="67" name="Google Shape;67;p13"/>
          <p:cNvSpPr/>
          <p:nvPr/>
        </p:nvSpPr>
        <p:spPr>
          <a:xfrm>
            <a:off x="2886542" y="4663217"/>
            <a:ext cx="3188335"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200" b="0" i="0" u="none" strike="noStrike" cap="none" dirty="0">
                <a:solidFill>
                  <a:srgbClr val="888888"/>
                </a:solidFill>
                <a:latin typeface="Arial"/>
                <a:ea typeface="Arial"/>
                <a:cs typeface="Arial"/>
                <a:sym typeface="Arial"/>
              </a:rPr>
              <a:t>RV COLLEGE OF ENGINEERING</a:t>
            </a:r>
            <a:endParaRPr dirty="0"/>
          </a:p>
        </p:txBody>
      </p:sp>
      <p:sp>
        <p:nvSpPr>
          <p:cNvPr id="68" name="Google Shape;68;p13"/>
          <p:cNvSpPr txBox="1">
            <a:spLocks noGrp="1"/>
          </p:cNvSpPr>
          <p:nvPr>
            <p:ph type="title"/>
          </p:nvPr>
        </p:nvSpPr>
        <p:spPr>
          <a:xfrm>
            <a:off x="1948909" y="172463"/>
            <a:ext cx="4751612" cy="540337"/>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US" sz="2000" b="1" dirty="0">
                <a:solidFill>
                  <a:srgbClr val="083C92"/>
                </a:solidFill>
                <a:latin typeface="Bookman Old Style"/>
                <a:ea typeface="Bookman Old Style"/>
                <a:cs typeface="Bookman Old Style"/>
                <a:sym typeface="Bookman Old Style"/>
              </a:rPr>
              <a:t>Agenda</a:t>
            </a:r>
            <a:endParaRPr sz="2000" b="1" dirty="0">
              <a:solidFill>
                <a:srgbClr val="083C92"/>
              </a:solidFill>
              <a:latin typeface="Bookman Old Style"/>
              <a:ea typeface="Bookman Old Style"/>
              <a:cs typeface="Bookman Old Style"/>
              <a:sym typeface="Bookman Old Style"/>
            </a:endParaRPr>
          </a:p>
        </p:txBody>
      </p:sp>
      <p:sp>
        <p:nvSpPr>
          <p:cNvPr id="69" name="Google Shape;69;p13"/>
          <p:cNvSpPr/>
          <p:nvPr/>
        </p:nvSpPr>
        <p:spPr>
          <a:xfrm>
            <a:off x="1043630" y="646733"/>
            <a:ext cx="6738377" cy="4016484"/>
          </a:xfrm>
          <a:prstGeom prst="rect">
            <a:avLst/>
          </a:prstGeom>
          <a:noFill/>
          <a:ln>
            <a:noFill/>
          </a:ln>
        </p:spPr>
        <p:txBody>
          <a:bodyPr spcFirstLastPara="1" wrap="square" lIns="91425" tIns="45700" rIns="91425" bIns="45700" anchor="ctr" anchorCtr="0">
            <a:noAutofit/>
          </a:bodyPr>
          <a:lstStyle/>
          <a:p>
            <a:pPr marL="144000" marR="0" lvl="0" indent="-144000" algn="l" rtl="0">
              <a:lnSpc>
                <a:spcPct val="100000"/>
              </a:lnSpc>
              <a:spcBef>
                <a:spcPts val="0"/>
              </a:spcBef>
              <a:spcAft>
                <a:spcPts val="0"/>
              </a:spcAft>
              <a:buClr>
                <a:srgbClr val="000000"/>
              </a:buClr>
              <a:buSzPts val="1800"/>
              <a:buFont typeface="Arial"/>
              <a:buChar char="•"/>
            </a:pPr>
            <a:r>
              <a:rPr lang="en-US" sz="1200" b="0" i="0" u="none" strike="noStrike" cap="none" dirty="0">
                <a:solidFill>
                  <a:srgbClr val="000000"/>
                </a:solidFill>
                <a:latin typeface="Bookman Old Style"/>
                <a:ea typeface="Bookman Old Style"/>
                <a:cs typeface="Bookman Old Style"/>
                <a:sym typeface="Bookman Old Style"/>
              </a:rPr>
              <a:t>Introduction</a:t>
            </a:r>
            <a:endParaRPr sz="1200" dirty="0"/>
          </a:p>
          <a:p>
            <a:pPr marL="144000" marR="0" lvl="0" indent="-144000" algn="l" rtl="0">
              <a:lnSpc>
                <a:spcPct val="100000"/>
              </a:lnSpc>
              <a:spcBef>
                <a:spcPts val="600"/>
              </a:spcBef>
              <a:spcAft>
                <a:spcPts val="0"/>
              </a:spcAft>
              <a:buClr>
                <a:srgbClr val="000000"/>
              </a:buClr>
              <a:buSzPts val="1800"/>
              <a:buFont typeface="Arial"/>
              <a:buChar char="•"/>
            </a:pPr>
            <a:r>
              <a:rPr lang="en-US" sz="1200" b="0" i="0" u="none" strike="noStrike" cap="none" dirty="0">
                <a:solidFill>
                  <a:srgbClr val="000000"/>
                </a:solidFill>
                <a:latin typeface="Bookman Old Style"/>
                <a:ea typeface="Bookman Old Style"/>
                <a:cs typeface="Bookman Old Style"/>
                <a:sym typeface="Bookman Old Style"/>
              </a:rPr>
              <a:t>Literature Review</a:t>
            </a:r>
            <a:endParaRPr sz="1200" dirty="0"/>
          </a:p>
          <a:p>
            <a:pPr marL="144000" marR="0" lvl="0" indent="-144000" algn="l" rtl="0">
              <a:lnSpc>
                <a:spcPct val="100000"/>
              </a:lnSpc>
              <a:spcBef>
                <a:spcPts val="600"/>
              </a:spcBef>
              <a:spcAft>
                <a:spcPts val="0"/>
              </a:spcAft>
              <a:buClr>
                <a:srgbClr val="000000"/>
              </a:buClr>
              <a:buSzPts val="1800"/>
              <a:buFont typeface="Arial"/>
              <a:buChar char="•"/>
            </a:pPr>
            <a:r>
              <a:rPr lang="en-US" sz="1200" b="0" i="0" u="none" strike="noStrike" cap="none" dirty="0">
                <a:solidFill>
                  <a:srgbClr val="000000"/>
                </a:solidFill>
                <a:latin typeface="Bookman Old Style"/>
                <a:ea typeface="Bookman Old Style"/>
                <a:cs typeface="Bookman Old Style"/>
                <a:sym typeface="Bookman Old Style"/>
              </a:rPr>
              <a:t>Motivation</a:t>
            </a:r>
            <a:endParaRPr sz="1200" dirty="0"/>
          </a:p>
          <a:p>
            <a:pPr marL="144000" marR="0" lvl="0" indent="-144000" algn="l" rtl="0">
              <a:lnSpc>
                <a:spcPct val="100000"/>
              </a:lnSpc>
              <a:spcBef>
                <a:spcPts val="600"/>
              </a:spcBef>
              <a:spcAft>
                <a:spcPts val="0"/>
              </a:spcAft>
              <a:buClr>
                <a:srgbClr val="000000"/>
              </a:buClr>
              <a:buSzPts val="1800"/>
              <a:buFont typeface="Arial"/>
              <a:buChar char="•"/>
            </a:pPr>
            <a:r>
              <a:rPr lang="en-US" sz="1200" b="0" i="0" u="none" strike="noStrike" cap="none" dirty="0">
                <a:solidFill>
                  <a:srgbClr val="000000"/>
                </a:solidFill>
                <a:latin typeface="Bookman Old Style"/>
                <a:ea typeface="Bookman Old Style"/>
                <a:cs typeface="Bookman Old Style"/>
                <a:sym typeface="Bookman Old Style"/>
              </a:rPr>
              <a:t>Problem Statement</a:t>
            </a:r>
            <a:endParaRPr sz="1200" dirty="0"/>
          </a:p>
          <a:p>
            <a:pPr marL="144000" marR="0" lvl="0" indent="-144000" algn="l" rtl="0">
              <a:lnSpc>
                <a:spcPct val="100000"/>
              </a:lnSpc>
              <a:spcBef>
                <a:spcPts val="600"/>
              </a:spcBef>
              <a:spcAft>
                <a:spcPts val="0"/>
              </a:spcAft>
              <a:buClr>
                <a:srgbClr val="000000"/>
              </a:buClr>
              <a:buSzPts val="1800"/>
              <a:buFont typeface="Arial"/>
              <a:buChar char="•"/>
            </a:pPr>
            <a:r>
              <a:rPr lang="en-US" sz="1200" b="0" i="0" u="none" strike="noStrike" cap="none" dirty="0">
                <a:solidFill>
                  <a:srgbClr val="000000"/>
                </a:solidFill>
                <a:latin typeface="Bookman Old Style"/>
                <a:ea typeface="Bookman Old Style"/>
                <a:cs typeface="Bookman Old Style"/>
                <a:sym typeface="Bookman Old Style"/>
              </a:rPr>
              <a:t>Objectives</a:t>
            </a:r>
            <a:endParaRPr sz="1200" dirty="0"/>
          </a:p>
          <a:p>
            <a:pPr marL="144000" marR="0" lvl="0" indent="-144000" algn="l" rtl="0">
              <a:lnSpc>
                <a:spcPct val="100000"/>
              </a:lnSpc>
              <a:spcBef>
                <a:spcPts val="600"/>
              </a:spcBef>
              <a:spcAft>
                <a:spcPts val="0"/>
              </a:spcAft>
              <a:buClr>
                <a:srgbClr val="000000"/>
              </a:buClr>
              <a:buSzPts val="1800"/>
              <a:buFont typeface="Arial"/>
              <a:buChar char="•"/>
            </a:pPr>
            <a:r>
              <a:rPr lang="en-US" sz="1200" b="0" i="0" u="none" strike="noStrike" cap="none" dirty="0">
                <a:solidFill>
                  <a:srgbClr val="000000"/>
                </a:solidFill>
                <a:latin typeface="Bookman Old Style"/>
                <a:ea typeface="Bookman Old Style"/>
                <a:cs typeface="Bookman Old Style"/>
                <a:sym typeface="Bookman Old Style"/>
              </a:rPr>
              <a:t>Specifications</a:t>
            </a:r>
            <a:endParaRPr sz="1200" dirty="0"/>
          </a:p>
          <a:p>
            <a:pPr marL="144000" marR="0" lvl="0" indent="-144000" algn="l" rtl="0">
              <a:lnSpc>
                <a:spcPct val="100000"/>
              </a:lnSpc>
              <a:spcBef>
                <a:spcPts val="600"/>
              </a:spcBef>
              <a:spcAft>
                <a:spcPts val="0"/>
              </a:spcAft>
              <a:buClr>
                <a:srgbClr val="000000"/>
              </a:buClr>
              <a:buSzPts val="1800"/>
              <a:buFont typeface="Arial"/>
              <a:buChar char="•"/>
            </a:pPr>
            <a:r>
              <a:rPr lang="en-US" sz="1200" b="0" i="0" u="none" strike="noStrike" cap="none" dirty="0">
                <a:solidFill>
                  <a:srgbClr val="000000"/>
                </a:solidFill>
                <a:latin typeface="Bookman Old Style"/>
                <a:ea typeface="Bookman Old Style"/>
                <a:cs typeface="Bookman Old Style"/>
                <a:sym typeface="Bookman Old Style"/>
              </a:rPr>
              <a:t>Design Methodology</a:t>
            </a:r>
            <a:endParaRPr sz="1200" dirty="0"/>
          </a:p>
          <a:p>
            <a:pPr marL="144000" marR="0" lvl="0" indent="-144000" algn="l" rtl="0">
              <a:lnSpc>
                <a:spcPct val="100000"/>
              </a:lnSpc>
              <a:spcBef>
                <a:spcPts val="600"/>
              </a:spcBef>
              <a:spcAft>
                <a:spcPts val="0"/>
              </a:spcAft>
              <a:buClr>
                <a:srgbClr val="000000"/>
              </a:buClr>
              <a:buSzPts val="1800"/>
              <a:buFont typeface="Arial"/>
              <a:buChar char="•"/>
            </a:pPr>
            <a:r>
              <a:rPr lang="en-US" sz="1200" b="0" i="0" u="none" strike="noStrike" cap="none" dirty="0">
                <a:solidFill>
                  <a:srgbClr val="000000"/>
                </a:solidFill>
                <a:latin typeface="Bookman Old Style"/>
                <a:ea typeface="Bookman Old Style"/>
                <a:cs typeface="Bookman Old Style"/>
                <a:sym typeface="Bookman Old Style"/>
              </a:rPr>
              <a:t>Implementation and Testing</a:t>
            </a:r>
            <a:endParaRPr sz="1200" dirty="0"/>
          </a:p>
          <a:p>
            <a:pPr marL="144000" marR="0" lvl="0" indent="-144000" algn="l" rtl="0">
              <a:lnSpc>
                <a:spcPct val="100000"/>
              </a:lnSpc>
              <a:spcBef>
                <a:spcPts val="600"/>
              </a:spcBef>
              <a:spcAft>
                <a:spcPts val="0"/>
              </a:spcAft>
              <a:buClr>
                <a:srgbClr val="000000"/>
              </a:buClr>
              <a:buSzPts val="1800"/>
              <a:buFont typeface="Arial"/>
              <a:buChar char="•"/>
            </a:pPr>
            <a:r>
              <a:rPr lang="en-US" sz="1200" b="0" i="0" u="none" strike="noStrike" cap="none" dirty="0">
                <a:solidFill>
                  <a:srgbClr val="000000"/>
                </a:solidFill>
                <a:latin typeface="Bookman Old Style"/>
                <a:ea typeface="Bookman Old Style"/>
                <a:cs typeface="Bookman Old Style"/>
                <a:sym typeface="Bookman Old Style"/>
              </a:rPr>
              <a:t>Results, Analysis and Discussion</a:t>
            </a:r>
            <a:endParaRPr sz="1200" dirty="0"/>
          </a:p>
          <a:p>
            <a:pPr marL="144000" marR="0" lvl="0" indent="-144000" algn="l" rtl="0">
              <a:lnSpc>
                <a:spcPct val="100000"/>
              </a:lnSpc>
              <a:spcBef>
                <a:spcPts val="600"/>
              </a:spcBef>
              <a:spcAft>
                <a:spcPts val="0"/>
              </a:spcAft>
              <a:buClr>
                <a:srgbClr val="000000"/>
              </a:buClr>
              <a:buSzPts val="1800"/>
              <a:buFont typeface="Arial"/>
              <a:buChar char="•"/>
            </a:pPr>
            <a:r>
              <a:rPr lang="en-US" sz="1200" b="0" i="0" u="none" strike="noStrike" cap="none" dirty="0">
                <a:solidFill>
                  <a:srgbClr val="000000"/>
                </a:solidFill>
                <a:latin typeface="Bookman Old Style"/>
                <a:ea typeface="Bookman Old Style"/>
                <a:cs typeface="Bookman Old Style"/>
                <a:sym typeface="Bookman Old Style"/>
              </a:rPr>
              <a:t>Demo of the Project</a:t>
            </a:r>
            <a:endParaRPr sz="1200" dirty="0"/>
          </a:p>
          <a:p>
            <a:pPr marL="144000" marR="0" lvl="0" indent="-144000" algn="l" rtl="0">
              <a:lnSpc>
                <a:spcPct val="100000"/>
              </a:lnSpc>
              <a:spcBef>
                <a:spcPts val="600"/>
              </a:spcBef>
              <a:spcAft>
                <a:spcPts val="0"/>
              </a:spcAft>
              <a:buClr>
                <a:srgbClr val="000000"/>
              </a:buClr>
              <a:buSzPts val="1800"/>
              <a:buFont typeface="Arial"/>
              <a:buChar char="•"/>
            </a:pPr>
            <a:r>
              <a:rPr lang="en-US" sz="1200" b="0" i="0" u="none" strike="noStrike" cap="none" dirty="0">
                <a:solidFill>
                  <a:srgbClr val="000000"/>
                </a:solidFill>
                <a:latin typeface="Bookman Old Style"/>
                <a:ea typeface="Bookman Old Style"/>
                <a:cs typeface="Bookman Old Style"/>
                <a:sym typeface="Bookman Old Style"/>
              </a:rPr>
              <a:t>SDG Mapping/ Outcomes </a:t>
            </a:r>
            <a:endParaRPr sz="1200" dirty="0"/>
          </a:p>
          <a:p>
            <a:pPr marL="144000" marR="0" lvl="0" indent="-144000" algn="l" rtl="0">
              <a:lnSpc>
                <a:spcPct val="100000"/>
              </a:lnSpc>
              <a:spcBef>
                <a:spcPts val="600"/>
              </a:spcBef>
              <a:spcAft>
                <a:spcPts val="0"/>
              </a:spcAft>
              <a:buClr>
                <a:srgbClr val="000000"/>
              </a:buClr>
              <a:buSzPts val="1800"/>
              <a:buFont typeface="Arial"/>
              <a:buChar char="•"/>
            </a:pPr>
            <a:r>
              <a:rPr lang="en-US" sz="1200" b="0" i="0" u="none" strike="noStrike" cap="none" dirty="0">
                <a:solidFill>
                  <a:srgbClr val="000000"/>
                </a:solidFill>
                <a:latin typeface="Bookman Old Style"/>
                <a:ea typeface="Bookman Old Style"/>
                <a:cs typeface="Bookman Old Style"/>
                <a:sym typeface="Bookman Old Style"/>
              </a:rPr>
              <a:t>Online Course Certification</a:t>
            </a:r>
            <a:endParaRPr sz="1200" dirty="0"/>
          </a:p>
          <a:p>
            <a:pPr marL="144000" marR="0" lvl="0" indent="-144000" algn="l" rtl="0">
              <a:lnSpc>
                <a:spcPct val="100000"/>
              </a:lnSpc>
              <a:spcBef>
                <a:spcPts val="600"/>
              </a:spcBef>
              <a:spcAft>
                <a:spcPts val="0"/>
              </a:spcAft>
              <a:buClr>
                <a:srgbClr val="000000"/>
              </a:buClr>
              <a:buSzPts val="1800"/>
              <a:buFont typeface="Arial"/>
              <a:buChar char="•"/>
            </a:pPr>
            <a:r>
              <a:rPr lang="en-US" sz="1200" b="0" i="0" u="none" strike="noStrike" cap="none" dirty="0">
                <a:solidFill>
                  <a:srgbClr val="000000"/>
                </a:solidFill>
                <a:latin typeface="Bookman Old Style"/>
                <a:ea typeface="Bookman Old Style"/>
                <a:cs typeface="Bookman Old Style"/>
                <a:sym typeface="Bookman Old Style"/>
              </a:rPr>
              <a:t>References</a:t>
            </a:r>
            <a:endParaRPr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3"/>
        <p:cNvGrpSpPr/>
        <p:nvPr/>
      </p:nvGrpSpPr>
      <p:grpSpPr>
        <a:xfrm>
          <a:off x="0" y="0"/>
          <a:ext cx="0" cy="0"/>
          <a:chOff x="0" y="0"/>
          <a:chExt cx="0" cy="0"/>
        </a:xfrm>
      </p:grpSpPr>
      <p:sp>
        <p:nvSpPr>
          <p:cNvPr id="74" name="Google Shape;74;p14"/>
          <p:cNvSpPr txBox="1">
            <a:spLocks noGrp="1"/>
          </p:cNvSpPr>
          <p:nvPr>
            <p:ph type="title"/>
          </p:nvPr>
        </p:nvSpPr>
        <p:spPr>
          <a:xfrm>
            <a:off x="297352" y="246254"/>
            <a:ext cx="85206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US" sz="2000" b="1" dirty="0">
                <a:solidFill>
                  <a:srgbClr val="083C92"/>
                </a:solidFill>
                <a:latin typeface="Bookman Old Style"/>
                <a:ea typeface="Bookman Old Style"/>
                <a:cs typeface="Bookman Old Style"/>
                <a:sym typeface="Bookman Old Style"/>
              </a:rPr>
              <a:t>Introduction</a:t>
            </a:r>
            <a:endParaRPr dirty="0"/>
          </a:p>
        </p:txBody>
      </p:sp>
      <p:sp>
        <p:nvSpPr>
          <p:cNvPr id="75" name="Google Shape;75;p1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114300" indent="0">
              <a:buNone/>
            </a:pPr>
            <a:r>
              <a:rPr lang="en-US" sz="1200" dirty="0">
                <a:solidFill>
                  <a:schemeClr val="tx1"/>
                </a:solidFill>
                <a:latin typeface="Times New Roman" panose="02020603050405020304" pitchFamily="18" charset="0"/>
                <a:cs typeface="Times New Roman" panose="02020603050405020304" pitchFamily="18" charset="0"/>
              </a:rPr>
              <a:t>▸  Modern cloud environments rely heavily on Non-Human Identities (</a:t>
            </a:r>
            <a:r>
              <a:rPr lang="en-US" sz="1200">
                <a:solidFill>
                  <a:schemeClr val="tx1"/>
                </a:solidFill>
                <a:latin typeface="Times New Roman" panose="02020603050405020304" pitchFamily="18" charset="0"/>
                <a:cs typeface="Times New Roman" panose="02020603050405020304" pitchFamily="18" charset="0"/>
              </a:rPr>
              <a:t>NHIs) - service </a:t>
            </a:r>
            <a:r>
              <a:rPr lang="en-US" sz="1200" dirty="0">
                <a:solidFill>
                  <a:schemeClr val="tx1"/>
                </a:solidFill>
                <a:latin typeface="Times New Roman" panose="02020603050405020304" pitchFamily="18" charset="0"/>
                <a:cs typeface="Times New Roman" panose="02020603050405020304" pitchFamily="18" charset="0"/>
              </a:rPr>
              <a:t>accounts, API tokens, deploy keys, TLS certificates, and managed identities.</a:t>
            </a:r>
          </a:p>
          <a:p>
            <a:endParaRPr lang="en-US" sz="1200" dirty="0">
              <a:solidFill>
                <a:schemeClr val="tx1"/>
              </a:solidFill>
              <a:latin typeface="Times New Roman" panose="02020603050405020304" pitchFamily="18" charset="0"/>
              <a:cs typeface="Times New Roman" panose="02020603050405020304" pitchFamily="18" charset="0"/>
            </a:endParaRPr>
          </a:p>
          <a:p>
            <a:pPr marL="114300" indent="0">
              <a:buNone/>
            </a:pPr>
            <a:r>
              <a:rPr lang="en-US" sz="1200" dirty="0">
                <a:solidFill>
                  <a:schemeClr val="tx1"/>
                </a:solidFill>
                <a:latin typeface="Times New Roman" panose="02020603050405020304" pitchFamily="18" charset="0"/>
                <a:cs typeface="Times New Roman" panose="02020603050405020304" pitchFamily="18" charset="0"/>
              </a:rPr>
              <a:t>▸  Enterprises like Honeywell operate thousands of NHIs across GitHub, Azure, and on-premise systems with no </a:t>
            </a:r>
            <a:r>
              <a:rPr lang="en-US" sz="1200" dirty="0" err="1">
                <a:solidFill>
                  <a:schemeClr val="tx1"/>
                </a:solidFill>
                <a:latin typeface="Times New Roman" panose="02020603050405020304" pitchFamily="18" charset="0"/>
                <a:cs typeface="Times New Roman" panose="02020603050405020304" pitchFamily="18" charset="0"/>
              </a:rPr>
              <a:t>centralised</a:t>
            </a:r>
            <a:r>
              <a:rPr lang="en-US" sz="1200" dirty="0">
                <a:solidFill>
                  <a:schemeClr val="tx1"/>
                </a:solidFill>
                <a:latin typeface="Times New Roman" panose="02020603050405020304" pitchFamily="18" charset="0"/>
                <a:cs typeface="Times New Roman" panose="02020603050405020304" pitchFamily="18" charset="0"/>
              </a:rPr>
              <a:t> governance or automated lifecycle management.</a:t>
            </a:r>
          </a:p>
          <a:p>
            <a:pPr marL="114300" indent="0">
              <a:buNone/>
            </a:pPr>
            <a:endParaRPr lang="en-US" sz="1200" dirty="0">
              <a:solidFill>
                <a:schemeClr val="tx1"/>
              </a:solidFill>
              <a:latin typeface="Times New Roman" panose="02020603050405020304" pitchFamily="18" charset="0"/>
              <a:cs typeface="Times New Roman" panose="02020603050405020304" pitchFamily="18" charset="0"/>
            </a:endParaRPr>
          </a:p>
          <a:p>
            <a:pPr marL="114300" indent="0">
              <a:buNone/>
            </a:pPr>
            <a:r>
              <a:rPr lang="en-US" sz="1200" dirty="0">
                <a:solidFill>
                  <a:schemeClr val="tx1"/>
                </a:solidFill>
                <a:latin typeface="Times New Roman" panose="02020603050405020304" pitchFamily="18" charset="0"/>
                <a:cs typeface="Times New Roman" panose="02020603050405020304" pitchFamily="18" charset="0"/>
              </a:rPr>
              <a:t>▸  Unrotated or expired credentials are among the leading causes of cloud security breaches, directly impacting compliance with SOC2 Type II and ISO 27001 frameworks.</a:t>
            </a:r>
          </a:p>
          <a:p>
            <a:pPr marL="114300" indent="0">
              <a:buNone/>
            </a:pPr>
            <a:endParaRPr lang="en-US" sz="1200" dirty="0">
              <a:solidFill>
                <a:schemeClr val="tx1"/>
              </a:solidFill>
              <a:latin typeface="Times New Roman" panose="02020603050405020304" pitchFamily="18" charset="0"/>
              <a:cs typeface="Times New Roman" panose="02020603050405020304" pitchFamily="18" charset="0"/>
            </a:endParaRPr>
          </a:p>
        </p:txBody>
      </p:sp>
      <p:sp>
        <p:nvSpPr>
          <p:cNvPr id="76" name="Google Shape;76;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4</a:t>
            </a:fld>
            <a:endParaRPr/>
          </a:p>
        </p:txBody>
      </p:sp>
      <p:sp>
        <p:nvSpPr>
          <p:cNvPr id="78" name="Google Shape;78;p14"/>
          <p:cNvSpPr/>
          <p:nvPr/>
        </p:nvSpPr>
        <p:spPr>
          <a:xfrm>
            <a:off x="2963485" y="4491459"/>
            <a:ext cx="3188335"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200" b="0" i="0" u="none" strike="noStrike" cap="none" dirty="0">
                <a:solidFill>
                  <a:srgbClr val="888888"/>
                </a:solidFill>
                <a:latin typeface="Arial"/>
                <a:ea typeface="Arial"/>
                <a:cs typeface="Arial"/>
                <a:sym typeface="Arial"/>
              </a:rPr>
              <a:t>RV COLLEGE OF ENGINEERING</a:t>
            </a:r>
            <a:endParaRPr dirty="0"/>
          </a:p>
        </p:txBody>
      </p:sp>
      <p:grpSp>
        <p:nvGrpSpPr>
          <p:cNvPr id="18" name="Group 17">
            <a:extLst>
              <a:ext uri="{FF2B5EF4-FFF2-40B4-BE49-F238E27FC236}">
                <a16:creationId xmlns:a16="http://schemas.microsoft.com/office/drawing/2014/main" id="{89D398EB-5569-5E72-FCEE-BA262569FE8C}"/>
              </a:ext>
            </a:extLst>
          </p:cNvPr>
          <p:cNvGrpSpPr/>
          <p:nvPr/>
        </p:nvGrpSpPr>
        <p:grpSpPr>
          <a:xfrm>
            <a:off x="228600" y="3520440"/>
            <a:ext cx="8792558" cy="683310"/>
            <a:chOff x="228600" y="3520440"/>
            <a:chExt cx="11567160" cy="868680"/>
          </a:xfrm>
        </p:grpSpPr>
        <p:sp>
          <p:nvSpPr>
            <p:cNvPr id="11" name="Rectangle 10">
              <a:extLst>
                <a:ext uri="{FF2B5EF4-FFF2-40B4-BE49-F238E27FC236}">
                  <a16:creationId xmlns:a16="http://schemas.microsoft.com/office/drawing/2014/main" id="{62C48621-5B96-E829-ED61-048A39A61E01}"/>
                </a:ext>
              </a:extLst>
            </p:cNvPr>
            <p:cNvSpPr/>
            <p:nvPr/>
          </p:nvSpPr>
          <p:spPr>
            <a:xfrm>
              <a:off x="9555480" y="3520440"/>
              <a:ext cx="2240280" cy="868680"/>
            </a:xfrm>
            <a:prstGeom prst="rect">
              <a:avLst/>
            </a:prstGeom>
            <a:solidFill>
              <a:srgbClr val="1F4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23EAA020-F692-A8C1-8A8E-DD3DBAEF8FE5}"/>
                </a:ext>
              </a:extLst>
            </p:cNvPr>
            <p:cNvSpPr txBox="1"/>
            <p:nvPr/>
          </p:nvSpPr>
          <p:spPr>
            <a:xfrm>
              <a:off x="9555480" y="3566160"/>
              <a:ext cx="2240280" cy="411480"/>
            </a:xfrm>
            <a:prstGeom prst="rect">
              <a:avLst/>
            </a:prstGeom>
            <a:noFill/>
          </p:spPr>
          <p:txBody>
            <a:bodyPr wrap="square">
              <a:spAutoFit/>
            </a:bodyPr>
            <a:lstStyle/>
            <a:p>
              <a:pPr algn="ctr"/>
              <a:r>
                <a:rPr sz="2200" b="1" i="0">
                  <a:solidFill>
                    <a:srgbClr val="3B82F6"/>
                  </a:solidFill>
                  <a:latin typeface="Calibri"/>
                </a:rPr>
                <a:t>2</a:t>
              </a:r>
            </a:p>
          </p:txBody>
        </p:sp>
        <p:sp>
          <p:nvSpPr>
            <p:cNvPr id="13" name="TextBox 12">
              <a:extLst>
                <a:ext uri="{FF2B5EF4-FFF2-40B4-BE49-F238E27FC236}">
                  <a16:creationId xmlns:a16="http://schemas.microsoft.com/office/drawing/2014/main" id="{23D24610-F40A-06F1-4D2D-F8075ADD336A}"/>
                </a:ext>
              </a:extLst>
            </p:cNvPr>
            <p:cNvSpPr txBox="1"/>
            <p:nvPr/>
          </p:nvSpPr>
          <p:spPr>
            <a:xfrm>
              <a:off x="9555480" y="3931920"/>
              <a:ext cx="2240280" cy="411480"/>
            </a:xfrm>
            <a:prstGeom prst="rect">
              <a:avLst/>
            </a:prstGeom>
            <a:noFill/>
          </p:spPr>
          <p:txBody>
            <a:bodyPr wrap="square">
              <a:spAutoFit/>
            </a:bodyPr>
            <a:lstStyle/>
            <a:p>
              <a:pPr algn="ctr"/>
              <a:r>
                <a:rPr sz="950" b="0" i="0">
                  <a:solidFill>
                    <a:srgbClr val="FFFFFF"/>
                  </a:solidFill>
                  <a:latin typeface="Calibri"/>
                </a:rPr>
                <a:t>Compliance Frameworks</a:t>
              </a:r>
            </a:p>
          </p:txBody>
        </p:sp>
        <p:grpSp>
          <p:nvGrpSpPr>
            <p:cNvPr id="17" name="Group 16">
              <a:extLst>
                <a:ext uri="{FF2B5EF4-FFF2-40B4-BE49-F238E27FC236}">
                  <a16:creationId xmlns:a16="http://schemas.microsoft.com/office/drawing/2014/main" id="{D7BB3E03-CCD9-08E4-08FF-2028EAADF8A6}"/>
                </a:ext>
              </a:extLst>
            </p:cNvPr>
            <p:cNvGrpSpPr/>
            <p:nvPr/>
          </p:nvGrpSpPr>
          <p:grpSpPr>
            <a:xfrm>
              <a:off x="228600" y="3520440"/>
              <a:ext cx="9235440" cy="868680"/>
              <a:chOff x="228600" y="3520440"/>
              <a:chExt cx="9235440" cy="868680"/>
            </a:xfrm>
          </p:grpSpPr>
          <p:sp>
            <p:nvSpPr>
              <p:cNvPr id="2" name="Rectangle 1">
                <a:extLst>
                  <a:ext uri="{FF2B5EF4-FFF2-40B4-BE49-F238E27FC236}">
                    <a16:creationId xmlns:a16="http://schemas.microsoft.com/office/drawing/2014/main" id="{793ECA92-5874-CF71-0B04-2603A78B56EF}"/>
                  </a:ext>
                </a:extLst>
              </p:cNvPr>
              <p:cNvSpPr/>
              <p:nvPr/>
            </p:nvSpPr>
            <p:spPr>
              <a:xfrm>
                <a:off x="2560320" y="3520440"/>
                <a:ext cx="2240280" cy="868680"/>
              </a:xfrm>
              <a:prstGeom prst="rect">
                <a:avLst/>
              </a:prstGeom>
              <a:solidFill>
                <a:srgbClr val="1F4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C35B4CB9-67D3-2E38-3834-5FA4478015D8}"/>
                  </a:ext>
                </a:extLst>
              </p:cNvPr>
              <p:cNvSpPr txBox="1"/>
              <p:nvPr/>
            </p:nvSpPr>
            <p:spPr>
              <a:xfrm>
                <a:off x="2560320" y="3566160"/>
                <a:ext cx="2240280" cy="411480"/>
              </a:xfrm>
              <a:prstGeom prst="rect">
                <a:avLst/>
              </a:prstGeom>
              <a:noFill/>
            </p:spPr>
            <p:txBody>
              <a:bodyPr wrap="square">
                <a:spAutoFit/>
              </a:bodyPr>
              <a:lstStyle/>
              <a:p>
                <a:pPr algn="ctr"/>
                <a:r>
                  <a:rPr sz="2200" b="1" i="0">
                    <a:solidFill>
                      <a:srgbClr val="3B82F6"/>
                    </a:solidFill>
                    <a:latin typeface="Calibri"/>
                  </a:rPr>
                  <a:t>11</a:t>
                </a:r>
              </a:p>
            </p:txBody>
          </p:sp>
          <p:sp>
            <p:nvSpPr>
              <p:cNvPr id="4" name="TextBox 3">
                <a:extLst>
                  <a:ext uri="{FF2B5EF4-FFF2-40B4-BE49-F238E27FC236}">
                    <a16:creationId xmlns:a16="http://schemas.microsoft.com/office/drawing/2014/main" id="{D2899C08-A55A-08F1-D82C-B31844ECE4E5}"/>
                  </a:ext>
                </a:extLst>
              </p:cNvPr>
              <p:cNvSpPr txBox="1"/>
              <p:nvPr/>
            </p:nvSpPr>
            <p:spPr>
              <a:xfrm>
                <a:off x="2560320" y="3931920"/>
                <a:ext cx="2240280" cy="411480"/>
              </a:xfrm>
              <a:prstGeom prst="rect">
                <a:avLst/>
              </a:prstGeom>
              <a:noFill/>
            </p:spPr>
            <p:txBody>
              <a:bodyPr wrap="square">
                <a:spAutoFit/>
              </a:bodyPr>
              <a:lstStyle/>
              <a:p>
                <a:pPr algn="ctr"/>
                <a:r>
                  <a:rPr sz="950" b="0" i="0">
                    <a:solidFill>
                      <a:srgbClr val="FFFFFF"/>
                    </a:solidFill>
                    <a:latin typeface="Calibri"/>
                  </a:rPr>
                  <a:t>Policy Rules (R001–R011)</a:t>
                </a:r>
              </a:p>
            </p:txBody>
          </p:sp>
          <p:sp>
            <p:nvSpPr>
              <p:cNvPr id="5" name="Rectangle 4">
                <a:extLst>
                  <a:ext uri="{FF2B5EF4-FFF2-40B4-BE49-F238E27FC236}">
                    <a16:creationId xmlns:a16="http://schemas.microsoft.com/office/drawing/2014/main" id="{47C67014-46CB-D6AF-E811-6AD27BC0B880}"/>
                  </a:ext>
                </a:extLst>
              </p:cNvPr>
              <p:cNvSpPr/>
              <p:nvPr/>
            </p:nvSpPr>
            <p:spPr>
              <a:xfrm>
                <a:off x="4892040" y="3520440"/>
                <a:ext cx="2240280" cy="868680"/>
              </a:xfrm>
              <a:prstGeom prst="rect">
                <a:avLst/>
              </a:prstGeom>
              <a:solidFill>
                <a:srgbClr val="1F4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D5631536-5330-C6AC-FA3B-A0F0EC817B43}"/>
                  </a:ext>
                </a:extLst>
              </p:cNvPr>
              <p:cNvSpPr txBox="1"/>
              <p:nvPr/>
            </p:nvSpPr>
            <p:spPr>
              <a:xfrm>
                <a:off x="4892040" y="3566160"/>
                <a:ext cx="2240280" cy="411480"/>
              </a:xfrm>
              <a:prstGeom prst="rect">
                <a:avLst/>
              </a:prstGeom>
              <a:noFill/>
            </p:spPr>
            <p:txBody>
              <a:bodyPr wrap="square">
                <a:spAutoFit/>
              </a:bodyPr>
              <a:lstStyle/>
              <a:p>
                <a:pPr algn="ctr"/>
                <a:r>
                  <a:rPr sz="2200" b="1" i="0">
                    <a:solidFill>
                      <a:srgbClr val="3B82F6"/>
                    </a:solidFill>
                    <a:latin typeface="Calibri"/>
                  </a:rPr>
                  <a:t>4</a:t>
                </a:r>
              </a:p>
            </p:txBody>
          </p:sp>
          <p:sp>
            <p:nvSpPr>
              <p:cNvPr id="7" name="TextBox 6">
                <a:extLst>
                  <a:ext uri="{FF2B5EF4-FFF2-40B4-BE49-F238E27FC236}">
                    <a16:creationId xmlns:a16="http://schemas.microsoft.com/office/drawing/2014/main" id="{75722F4A-56E7-4799-E5DA-57F115353BE6}"/>
                  </a:ext>
                </a:extLst>
              </p:cNvPr>
              <p:cNvSpPr txBox="1"/>
              <p:nvPr/>
            </p:nvSpPr>
            <p:spPr>
              <a:xfrm>
                <a:off x="4892040" y="3931920"/>
                <a:ext cx="2240280" cy="411480"/>
              </a:xfrm>
              <a:prstGeom prst="rect">
                <a:avLst/>
              </a:prstGeom>
              <a:noFill/>
            </p:spPr>
            <p:txBody>
              <a:bodyPr wrap="square">
                <a:spAutoFit/>
              </a:bodyPr>
              <a:lstStyle/>
              <a:p>
                <a:pPr algn="ctr"/>
                <a:r>
                  <a:rPr sz="950" b="0" i="0">
                    <a:solidFill>
                      <a:srgbClr val="FFFFFF"/>
                    </a:solidFill>
                    <a:latin typeface="Calibri"/>
                  </a:rPr>
                  <a:t>Cloud Integrations</a:t>
                </a:r>
              </a:p>
            </p:txBody>
          </p:sp>
          <p:sp>
            <p:nvSpPr>
              <p:cNvPr id="8" name="Rectangle 7">
                <a:extLst>
                  <a:ext uri="{FF2B5EF4-FFF2-40B4-BE49-F238E27FC236}">
                    <a16:creationId xmlns:a16="http://schemas.microsoft.com/office/drawing/2014/main" id="{C4EDE47C-06A9-6404-FDEF-89FD452A391A}"/>
                  </a:ext>
                </a:extLst>
              </p:cNvPr>
              <p:cNvSpPr/>
              <p:nvPr/>
            </p:nvSpPr>
            <p:spPr>
              <a:xfrm>
                <a:off x="7223760" y="3520440"/>
                <a:ext cx="2240280" cy="868680"/>
              </a:xfrm>
              <a:prstGeom prst="rect">
                <a:avLst/>
              </a:prstGeom>
              <a:solidFill>
                <a:srgbClr val="1F4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E17B64D0-F8F3-C2E7-9ECF-98436265B943}"/>
                  </a:ext>
                </a:extLst>
              </p:cNvPr>
              <p:cNvSpPr txBox="1"/>
              <p:nvPr/>
            </p:nvSpPr>
            <p:spPr>
              <a:xfrm>
                <a:off x="7223760" y="3566160"/>
                <a:ext cx="2240280" cy="411480"/>
              </a:xfrm>
              <a:prstGeom prst="rect">
                <a:avLst/>
              </a:prstGeom>
              <a:noFill/>
            </p:spPr>
            <p:txBody>
              <a:bodyPr wrap="square">
                <a:spAutoFit/>
              </a:bodyPr>
              <a:lstStyle/>
              <a:p>
                <a:pPr algn="ctr"/>
                <a:r>
                  <a:rPr sz="2200" b="1" i="0">
                    <a:solidFill>
                      <a:srgbClr val="3B82F6"/>
                    </a:solidFill>
                    <a:latin typeface="Calibri"/>
                  </a:rPr>
                  <a:t>3</a:t>
                </a:r>
              </a:p>
            </p:txBody>
          </p:sp>
          <p:sp>
            <p:nvSpPr>
              <p:cNvPr id="10" name="TextBox 9">
                <a:extLst>
                  <a:ext uri="{FF2B5EF4-FFF2-40B4-BE49-F238E27FC236}">
                    <a16:creationId xmlns:a16="http://schemas.microsoft.com/office/drawing/2014/main" id="{C52E1AC6-09BC-6FA5-E3B7-1E8D0CD51FA7}"/>
                  </a:ext>
                </a:extLst>
              </p:cNvPr>
              <p:cNvSpPr txBox="1"/>
              <p:nvPr/>
            </p:nvSpPr>
            <p:spPr>
              <a:xfrm>
                <a:off x="7223760" y="3931920"/>
                <a:ext cx="2240280" cy="411480"/>
              </a:xfrm>
              <a:prstGeom prst="rect">
                <a:avLst/>
              </a:prstGeom>
              <a:noFill/>
            </p:spPr>
            <p:txBody>
              <a:bodyPr wrap="square">
                <a:spAutoFit/>
              </a:bodyPr>
              <a:lstStyle/>
              <a:p>
                <a:pPr algn="ctr"/>
                <a:r>
                  <a:rPr sz="950" b="0" i="0">
                    <a:solidFill>
                      <a:srgbClr val="FFFFFF"/>
                    </a:solidFill>
                    <a:latin typeface="Calibri"/>
                  </a:rPr>
                  <a:t>ML Algorithms</a:t>
                </a:r>
              </a:p>
            </p:txBody>
          </p:sp>
          <p:sp>
            <p:nvSpPr>
              <p:cNvPr id="14" name="Rectangle 13">
                <a:extLst>
                  <a:ext uri="{FF2B5EF4-FFF2-40B4-BE49-F238E27FC236}">
                    <a16:creationId xmlns:a16="http://schemas.microsoft.com/office/drawing/2014/main" id="{CCE37448-F1DC-F319-9C95-FA48B17B7E39}"/>
                  </a:ext>
                </a:extLst>
              </p:cNvPr>
              <p:cNvSpPr/>
              <p:nvPr/>
            </p:nvSpPr>
            <p:spPr>
              <a:xfrm>
                <a:off x="228600" y="3520440"/>
                <a:ext cx="2240280" cy="868680"/>
              </a:xfrm>
              <a:prstGeom prst="rect">
                <a:avLst/>
              </a:prstGeom>
              <a:solidFill>
                <a:srgbClr val="1F4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C31DF122-61FD-BD7A-C427-86375E07EDDA}"/>
                  </a:ext>
                </a:extLst>
              </p:cNvPr>
              <p:cNvSpPr txBox="1"/>
              <p:nvPr/>
            </p:nvSpPr>
            <p:spPr>
              <a:xfrm>
                <a:off x="228600" y="3566160"/>
                <a:ext cx="2240280" cy="411480"/>
              </a:xfrm>
              <a:prstGeom prst="rect">
                <a:avLst/>
              </a:prstGeom>
              <a:noFill/>
            </p:spPr>
            <p:txBody>
              <a:bodyPr wrap="square">
                <a:spAutoFit/>
              </a:bodyPr>
              <a:lstStyle/>
              <a:p>
                <a:pPr algn="ctr"/>
                <a:r>
                  <a:rPr sz="2200" b="1" i="0">
                    <a:solidFill>
                      <a:srgbClr val="3B82F6"/>
                    </a:solidFill>
                    <a:latin typeface="Calibri"/>
                  </a:rPr>
                  <a:t>8</a:t>
                </a:r>
              </a:p>
            </p:txBody>
          </p:sp>
          <p:sp>
            <p:nvSpPr>
              <p:cNvPr id="16" name="TextBox 15">
                <a:extLst>
                  <a:ext uri="{FF2B5EF4-FFF2-40B4-BE49-F238E27FC236}">
                    <a16:creationId xmlns:a16="http://schemas.microsoft.com/office/drawing/2014/main" id="{9BE5F68C-7C6B-7D64-8964-301D82E42B77}"/>
                  </a:ext>
                </a:extLst>
              </p:cNvPr>
              <p:cNvSpPr txBox="1"/>
              <p:nvPr/>
            </p:nvSpPr>
            <p:spPr>
              <a:xfrm>
                <a:off x="228600" y="3931920"/>
                <a:ext cx="2240280" cy="411480"/>
              </a:xfrm>
              <a:prstGeom prst="rect">
                <a:avLst/>
              </a:prstGeom>
              <a:noFill/>
            </p:spPr>
            <p:txBody>
              <a:bodyPr wrap="square">
                <a:spAutoFit/>
              </a:bodyPr>
              <a:lstStyle/>
              <a:p>
                <a:pPr algn="ctr"/>
                <a:r>
                  <a:rPr sz="950" b="0" i="0">
                    <a:solidFill>
                      <a:srgbClr val="FFFFFF"/>
                    </a:solidFill>
                    <a:latin typeface="Calibri"/>
                  </a:rPr>
                  <a:t>Intelligent Agents</a:t>
                </a:r>
              </a:p>
            </p:txBody>
          </p:sp>
        </p:gr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2">
          <a:extLst>
            <a:ext uri="{FF2B5EF4-FFF2-40B4-BE49-F238E27FC236}">
              <a16:creationId xmlns:a16="http://schemas.microsoft.com/office/drawing/2014/main" id="{ECA1FB96-EC82-0D64-F4EF-4461114A6142}"/>
            </a:ext>
          </a:extLst>
        </p:cNvPr>
        <p:cNvGrpSpPr/>
        <p:nvPr/>
      </p:nvGrpSpPr>
      <p:grpSpPr>
        <a:xfrm>
          <a:off x="0" y="0"/>
          <a:ext cx="0" cy="0"/>
          <a:chOff x="0" y="0"/>
          <a:chExt cx="0" cy="0"/>
        </a:xfrm>
      </p:grpSpPr>
      <p:sp>
        <p:nvSpPr>
          <p:cNvPr id="83" name="Google Shape;83;p15">
            <a:extLst>
              <a:ext uri="{FF2B5EF4-FFF2-40B4-BE49-F238E27FC236}">
                <a16:creationId xmlns:a16="http://schemas.microsoft.com/office/drawing/2014/main" id="{5D968F85-886E-EC2D-D67F-DDAE1D55F95A}"/>
              </a:ext>
            </a:extLst>
          </p:cNvPr>
          <p:cNvSpPr txBox="1">
            <a:spLocks noGrp="1"/>
          </p:cNvSpPr>
          <p:nvPr>
            <p:ph type="title"/>
          </p:nvPr>
        </p:nvSpPr>
        <p:spPr>
          <a:xfrm>
            <a:off x="226208" y="224892"/>
            <a:ext cx="85206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US" sz="2000" b="1" dirty="0">
                <a:solidFill>
                  <a:srgbClr val="083C92"/>
                </a:solidFill>
                <a:latin typeface="Bookman Old Style"/>
                <a:ea typeface="Bookman Old Style"/>
                <a:cs typeface="Bookman Old Style"/>
                <a:sym typeface="Bookman Old Style"/>
              </a:rPr>
              <a:t>Literature Review</a:t>
            </a:r>
            <a:br>
              <a:rPr lang="en-US" sz="2000" b="1" dirty="0">
                <a:solidFill>
                  <a:srgbClr val="083C92"/>
                </a:solidFill>
                <a:latin typeface="Bookman Old Style"/>
                <a:ea typeface="Bookman Old Style"/>
                <a:cs typeface="Bookman Old Style"/>
                <a:sym typeface="Bookman Old Style"/>
              </a:rPr>
            </a:br>
            <a:endParaRPr sz="2000" b="1" dirty="0">
              <a:solidFill>
                <a:srgbClr val="083C92"/>
              </a:solidFill>
              <a:latin typeface="Bookman Old Style"/>
              <a:ea typeface="Bookman Old Style"/>
              <a:cs typeface="Bookman Old Style"/>
              <a:sym typeface="Bookman Old Style"/>
            </a:endParaRPr>
          </a:p>
        </p:txBody>
      </p:sp>
      <p:sp>
        <p:nvSpPr>
          <p:cNvPr id="84" name="Google Shape;84;p15">
            <a:extLst>
              <a:ext uri="{FF2B5EF4-FFF2-40B4-BE49-F238E27FC236}">
                <a16:creationId xmlns:a16="http://schemas.microsoft.com/office/drawing/2014/main" id="{1F7101AC-1C09-E872-10A7-FFEFE055B694}"/>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5</a:t>
            </a:fld>
            <a:endParaRPr/>
          </a:p>
        </p:txBody>
      </p:sp>
      <p:graphicFrame>
        <p:nvGraphicFramePr>
          <p:cNvPr id="5" name="Table 4">
            <a:extLst>
              <a:ext uri="{FF2B5EF4-FFF2-40B4-BE49-F238E27FC236}">
                <a16:creationId xmlns:a16="http://schemas.microsoft.com/office/drawing/2014/main" id="{2E16A9A2-518F-0906-1BD5-E25CB022040D}"/>
              </a:ext>
            </a:extLst>
          </p:cNvPr>
          <p:cNvGraphicFramePr>
            <a:graphicFrameLocks noGrp="1"/>
          </p:cNvGraphicFramePr>
          <p:nvPr>
            <p:extLst>
              <p:ext uri="{D42A27DB-BD31-4B8C-83A1-F6EECF244321}">
                <p14:modId xmlns:p14="http://schemas.microsoft.com/office/powerpoint/2010/main" val="2338217314"/>
              </p:ext>
            </p:extLst>
          </p:nvPr>
        </p:nvGraphicFramePr>
        <p:xfrm>
          <a:off x="466929" y="894587"/>
          <a:ext cx="8279879" cy="4073135"/>
        </p:xfrm>
        <a:graphic>
          <a:graphicData uri="http://schemas.openxmlformats.org/drawingml/2006/table">
            <a:tbl>
              <a:tblPr>
                <a:tableStyleId>{E87FED87-6CF3-4087-AA9B-566F0D66C604}</a:tableStyleId>
              </a:tblPr>
              <a:tblGrid>
                <a:gridCol w="454681">
                  <a:extLst>
                    <a:ext uri="{9D8B030D-6E8A-4147-A177-3AD203B41FA5}">
                      <a16:colId xmlns:a16="http://schemas.microsoft.com/office/drawing/2014/main" val="4018582083"/>
                    </a:ext>
                  </a:extLst>
                </a:gridCol>
                <a:gridCol w="2857272">
                  <a:extLst>
                    <a:ext uri="{9D8B030D-6E8A-4147-A177-3AD203B41FA5}">
                      <a16:colId xmlns:a16="http://schemas.microsoft.com/office/drawing/2014/main" val="3858029737"/>
                    </a:ext>
                  </a:extLst>
                </a:gridCol>
                <a:gridCol w="1420061">
                  <a:extLst>
                    <a:ext uri="{9D8B030D-6E8A-4147-A177-3AD203B41FA5}">
                      <a16:colId xmlns:a16="http://schemas.microsoft.com/office/drawing/2014/main" val="1439794548"/>
                    </a:ext>
                  </a:extLst>
                </a:gridCol>
                <a:gridCol w="1749065">
                  <a:extLst>
                    <a:ext uri="{9D8B030D-6E8A-4147-A177-3AD203B41FA5}">
                      <a16:colId xmlns:a16="http://schemas.microsoft.com/office/drawing/2014/main" val="4171880623"/>
                    </a:ext>
                  </a:extLst>
                </a:gridCol>
                <a:gridCol w="1798800">
                  <a:extLst>
                    <a:ext uri="{9D8B030D-6E8A-4147-A177-3AD203B41FA5}">
                      <a16:colId xmlns:a16="http://schemas.microsoft.com/office/drawing/2014/main" val="642010328"/>
                    </a:ext>
                  </a:extLst>
                </a:gridCol>
              </a:tblGrid>
              <a:tr h="357149">
                <a:tc>
                  <a:txBody>
                    <a:bodyPr/>
                    <a:lstStyle/>
                    <a:p>
                      <a:pPr algn="ctr">
                        <a:buNone/>
                      </a:pPr>
                      <a:r>
                        <a:rPr lang="en-US" sz="1050" b="1">
                          <a:solidFill>
                            <a:schemeClr val="tx1"/>
                          </a:solidFill>
                          <a:effectLst/>
                          <a:latin typeface="Times New Roman" panose="02020603050405020304" pitchFamily="18" charset="0"/>
                          <a:cs typeface="Times New Roman" panose="02020603050405020304" pitchFamily="18" charset="0"/>
                        </a:rPr>
                        <a:t>Sl. No.</a:t>
                      </a:r>
                    </a:p>
                  </a:txBody>
                  <a:tcPr marL="7982" marR="7982" marT="5321" marB="5321" anchor="ctr"/>
                </a:tc>
                <a:tc>
                  <a:txBody>
                    <a:bodyPr/>
                    <a:lstStyle/>
                    <a:p>
                      <a:pPr algn="ctr">
                        <a:buNone/>
                      </a:pPr>
                      <a:r>
                        <a:rPr lang="en-US" sz="1050" b="1">
                          <a:solidFill>
                            <a:schemeClr val="tx1"/>
                          </a:solidFill>
                          <a:effectLst/>
                          <a:latin typeface="Times New Roman" panose="02020603050405020304" pitchFamily="18" charset="0"/>
                          <a:cs typeface="Times New Roman" panose="02020603050405020304" pitchFamily="18" charset="0"/>
                        </a:rPr>
                        <a:t>Title of the Paper</a:t>
                      </a:r>
                    </a:p>
                  </a:txBody>
                  <a:tcPr marL="7982" marR="7982" marT="5321" marB="5321" anchor="ctr"/>
                </a:tc>
                <a:tc>
                  <a:txBody>
                    <a:bodyPr/>
                    <a:lstStyle/>
                    <a:p>
                      <a:pPr algn="ctr">
                        <a:buNone/>
                      </a:pPr>
                      <a:r>
                        <a:rPr lang="en-US" sz="1050" b="1">
                          <a:solidFill>
                            <a:schemeClr val="tx1"/>
                          </a:solidFill>
                          <a:effectLst/>
                          <a:latin typeface="Times New Roman" panose="02020603050405020304" pitchFamily="18" charset="0"/>
                          <a:cs typeface="Times New Roman" panose="02020603050405020304" pitchFamily="18" charset="0"/>
                        </a:rPr>
                        <a:t>Authors</a:t>
                      </a:r>
                    </a:p>
                  </a:txBody>
                  <a:tcPr marL="7982" marR="7982" marT="5321" marB="5321" anchor="ctr"/>
                </a:tc>
                <a:tc>
                  <a:txBody>
                    <a:bodyPr/>
                    <a:lstStyle/>
                    <a:p>
                      <a:pPr algn="ctr">
                        <a:buNone/>
                      </a:pPr>
                      <a:r>
                        <a:rPr lang="en-US" sz="1050" b="1">
                          <a:solidFill>
                            <a:schemeClr val="tx1"/>
                          </a:solidFill>
                          <a:effectLst/>
                          <a:latin typeface="Times New Roman" panose="02020603050405020304" pitchFamily="18" charset="0"/>
                          <a:cs typeface="Times New Roman" panose="02020603050405020304" pitchFamily="18" charset="0"/>
                        </a:rPr>
                        <a:t>Journal / Conference Details</a:t>
                      </a:r>
                    </a:p>
                  </a:txBody>
                  <a:tcPr marL="7982" marR="7982" marT="5321" marB="5321" anchor="ctr"/>
                </a:tc>
                <a:tc>
                  <a:txBody>
                    <a:bodyPr/>
                    <a:lstStyle/>
                    <a:p>
                      <a:pPr algn="ctr">
                        <a:buNone/>
                      </a:pPr>
                      <a:r>
                        <a:rPr lang="en-US" sz="1050" b="1" dirty="0">
                          <a:solidFill>
                            <a:schemeClr val="tx1"/>
                          </a:solidFill>
                          <a:effectLst/>
                          <a:latin typeface="Times New Roman" panose="02020603050405020304" pitchFamily="18" charset="0"/>
                          <a:cs typeface="Times New Roman" panose="02020603050405020304" pitchFamily="18" charset="0"/>
                        </a:rPr>
                        <a:t>Inference</a:t>
                      </a:r>
                    </a:p>
                  </a:txBody>
                  <a:tcPr marL="7982" marR="7982" marT="5321" marB="5321" anchor="ctr"/>
                </a:tc>
                <a:extLst>
                  <a:ext uri="{0D108BD9-81ED-4DB2-BD59-A6C34878D82A}">
                    <a16:rowId xmlns:a16="http://schemas.microsoft.com/office/drawing/2014/main" val="1514723449"/>
                  </a:ext>
                </a:extLst>
              </a:tr>
              <a:tr h="725244">
                <a:tc>
                  <a:txBody>
                    <a:bodyPr/>
                    <a:lstStyle/>
                    <a:p>
                      <a:pPr algn="ctr">
                        <a:buNone/>
                      </a:pPr>
                      <a:r>
                        <a:rPr lang="en-US" sz="1050" dirty="0">
                          <a:solidFill>
                            <a:schemeClr val="tx1"/>
                          </a:solidFill>
                          <a:effectLst/>
                          <a:latin typeface="Times New Roman" panose="02020603050405020304" pitchFamily="18" charset="0"/>
                          <a:cs typeface="Times New Roman" panose="02020603050405020304" pitchFamily="18" charset="0"/>
                        </a:rPr>
                        <a:t>1</a:t>
                      </a:r>
                    </a:p>
                  </a:txBody>
                  <a:tcPr marL="7982" marR="7982" marT="5321" marB="5321" anchor="ctr"/>
                </a:tc>
                <a:tc>
                  <a:txBody>
                    <a:bodyPr/>
                    <a:lstStyle/>
                    <a:p>
                      <a:pPr algn="ctr">
                        <a:buNone/>
                      </a:pPr>
                      <a:r>
                        <a:rPr lang="en-US" sz="1050" dirty="0">
                          <a:solidFill>
                            <a:schemeClr val="tx1"/>
                          </a:solidFill>
                          <a:effectLst/>
                          <a:latin typeface="Times New Roman" panose="02020603050405020304" pitchFamily="18" charset="0"/>
                          <a:cs typeface="Times New Roman" panose="02020603050405020304" pitchFamily="18" charset="0"/>
                        </a:rPr>
                        <a:t>Vault Secrets Management &amp; Dynamic Credentials</a:t>
                      </a:r>
                    </a:p>
                  </a:txBody>
                  <a:tcPr marL="7982" marR="7982" marT="5321" marB="5321" anchor="ctr"/>
                </a:tc>
                <a:tc>
                  <a:txBody>
                    <a:bodyPr/>
                    <a:lstStyle/>
                    <a:p>
                      <a:pPr algn="ctr">
                        <a:buNone/>
                      </a:pPr>
                      <a:r>
                        <a:rPr lang="en-US" sz="1050" dirty="0" err="1">
                          <a:solidFill>
                            <a:schemeClr val="tx1"/>
                          </a:solidFill>
                          <a:effectLst/>
                          <a:latin typeface="Times New Roman" panose="02020603050405020304" pitchFamily="18" charset="0"/>
                          <a:cs typeface="Times New Roman" panose="02020603050405020304" pitchFamily="18" charset="0"/>
                        </a:rPr>
                        <a:t>HashiCorp</a:t>
                      </a:r>
                      <a:endParaRPr lang="en-US" sz="1050" dirty="0">
                        <a:solidFill>
                          <a:schemeClr val="tx1"/>
                        </a:solidFill>
                        <a:effectLst/>
                        <a:latin typeface="Times New Roman" panose="02020603050405020304" pitchFamily="18" charset="0"/>
                        <a:cs typeface="Times New Roman" panose="02020603050405020304" pitchFamily="18" charset="0"/>
                      </a:endParaRPr>
                    </a:p>
                  </a:txBody>
                  <a:tcPr marL="7982" marR="7982" marT="5321" marB="5321" anchor="ctr"/>
                </a:tc>
                <a:tc>
                  <a:txBody>
                    <a:bodyPr/>
                    <a:lstStyle/>
                    <a:p>
                      <a:pPr algn="ctr">
                        <a:buNone/>
                      </a:pPr>
                      <a:r>
                        <a:rPr lang="en-US" sz="1050" dirty="0" err="1">
                          <a:solidFill>
                            <a:schemeClr val="tx1"/>
                          </a:solidFill>
                          <a:effectLst/>
                          <a:latin typeface="Times New Roman" panose="02020603050405020304" pitchFamily="18" charset="0"/>
                          <a:cs typeface="Times New Roman" panose="02020603050405020304" pitchFamily="18" charset="0"/>
                        </a:rPr>
                        <a:t>HashiCorp</a:t>
                      </a:r>
                      <a:r>
                        <a:rPr lang="en-US" sz="1050" dirty="0">
                          <a:solidFill>
                            <a:schemeClr val="tx1"/>
                          </a:solidFill>
                          <a:effectLst/>
                          <a:latin typeface="Times New Roman" panose="02020603050405020304" pitchFamily="18" charset="0"/>
                          <a:cs typeface="Times New Roman" panose="02020603050405020304" pitchFamily="18" charset="0"/>
                        </a:rPr>
                        <a:t> Vault Documentation, v1.15, 2023</a:t>
                      </a:r>
                    </a:p>
                  </a:txBody>
                  <a:tcPr marL="7982" marR="7982" marT="5321" marB="5321" anchor="ctr"/>
                </a:tc>
                <a:tc>
                  <a:txBody>
                    <a:bodyPr/>
                    <a:lstStyle/>
                    <a:p>
                      <a:pPr algn="ctr">
                        <a:buNone/>
                      </a:pPr>
                      <a:r>
                        <a:rPr lang="en-US" sz="1050" dirty="0">
                          <a:solidFill>
                            <a:schemeClr val="tx1"/>
                          </a:solidFill>
                          <a:effectLst/>
                          <a:latin typeface="Times New Roman" panose="02020603050405020304" pitchFamily="18" charset="0"/>
                          <a:cs typeface="Times New Roman" panose="02020603050405020304" pitchFamily="18" charset="0"/>
                        </a:rPr>
                        <a:t>Proposes dynamic secrets engine with lease-based issuance and policy-as-code (HCL). scanning, or ML risk scoring.</a:t>
                      </a:r>
                    </a:p>
                  </a:txBody>
                  <a:tcPr marL="7982" marR="7982" marT="5321" marB="5321" anchor="ctr"/>
                </a:tc>
                <a:extLst>
                  <a:ext uri="{0D108BD9-81ED-4DB2-BD59-A6C34878D82A}">
                    <a16:rowId xmlns:a16="http://schemas.microsoft.com/office/drawing/2014/main" val="532979031"/>
                  </a:ext>
                </a:extLst>
              </a:tr>
              <a:tr h="786186">
                <a:tc>
                  <a:txBody>
                    <a:bodyPr/>
                    <a:lstStyle/>
                    <a:p>
                      <a:pPr algn="ctr">
                        <a:buNone/>
                      </a:pPr>
                      <a:r>
                        <a:rPr lang="en-US" sz="1050">
                          <a:solidFill>
                            <a:schemeClr val="tx1"/>
                          </a:solidFill>
                          <a:effectLst/>
                          <a:latin typeface="Times New Roman" panose="02020603050405020304" pitchFamily="18" charset="0"/>
                          <a:cs typeface="Times New Roman" panose="02020603050405020304" pitchFamily="18" charset="0"/>
                        </a:rPr>
                        <a:t>2</a:t>
                      </a:r>
                    </a:p>
                  </a:txBody>
                  <a:tcPr marL="7982" marR="7982" marT="5321" marB="5321" anchor="ctr"/>
                </a:tc>
                <a:tc>
                  <a:txBody>
                    <a:bodyPr/>
                    <a:lstStyle/>
                    <a:p>
                      <a:pPr algn="ctr">
                        <a:buNone/>
                      </a:pPr>
                      <a:r>
                        <a:rPr lang="en-US" sz="1050" dirty="0">
                          <a:solidFill>
                            <a:schemeClr val="tx1"/>
                          </a:solidFill>
                          <a:effectLst/>
                          <a:latin typeface="Times New Roman" panose="02020603050405020304" pitchFamily="18" charset="0"/>
                          <a:cs typeface="Times New Roman" panose="02020603050405020304" pitchFamily="18" charset="0"/>
                        </a:rPr>
                        <a:t>Application Container Security Guide (NIST SP 800-190)</a:t>
                      </a:r>
                    </a:p>
                  </a:txBody>
                  <a:tcPr marL="7982" marR="7982" marT="5321" marB="5321" anchor="ctr"/>
                </a:tc>
                <a:tc>
                  <a:txBody>
                    <a:bodyPr/>
                    <a:lstStyle/>
                    <a:p>
                      <a:pPr algn="ctr">
                        <a:buNone/>
                      </a:pPr>
                      <a:r>
                        <a:rPr lang="en-US" sz="1050" dirty="0" err="1">
                          <a:solidFill>
                            <a:schemeClr val="tx1"/>
                          </a:solidFill>
                          <a:effectLst/>
                          <a:latin typeface="Times New Roman" panose="02020603050405020304" pitchFamily="18" charset="0"/>
                          <a:cs typeface="Times New Roman" panose="02020603050405020304" pitchFamily="18" charset="0"/>
                        </a:rPr>
                        <a:t>Souppaya</a:t>
                      </a:r>
                      <a:r>
                        <a:rPr lang="en-US" sz="1050" dirty="0">
                          <a:solidFill>
                            <a:schemeClr val="tx1"/>
                          </a:solidFill>
                          <a:effectLst/>
                          <a:latin typeface="Times New Roman" panose="02020603050405020304" pitchFamily="18" charset="0"/>
                          <a:cs typeface="Times New Roman" panose="02020603050405020304" pitchFamily="18" charset="0"/>
                        </a:rPr>
                        <a:t>, M., Mrugala, K. et al.</a:t>
                      </a:r>
                    </a:p>
                  </a:txBody>
                  <a:tcPr marL="7982" marR="7982" marT="5321" marB="5321" anchor="ctr"/>
                </a:tc>
                <a:tc>
                  <a:txBody>
                    <a:bodyPr/>
                    <a:lstStyle/>
                    <a:p>
                      <a:pPr algn="ctr">
                        <a:buNone/>
                      </a:pPr>
                      <a:r>
                        <a:rPr lang="en-US" sz="1050" dirty="0">
                          <a:solidFill>
                            <a:schemeClr val="tx1"/>
                          </a:solidFill>
                          <a:effectLst/>
                          <a:latin typeface="Times New Roman" panose="02020603050405020304" pitchFamily="18" charset="0"/>
                          <a:cs typeface="Times New Roman" panose="02020603050405020304" pitchFamily="18" charset="0"/>
                        </a:rPr>
                        <a:t>NIST Special Publication 800-190, NIST, 2022</a:t>
                      </a:r>
                    </a:p>
                  </a:txBody>
                  <a:tcPr marL="7982" marR="7982" marT="5321" marB="5321" anchor="ctr"/>
                </a:tc>
                <a:tc>
                  <a:txBody>
                    <a:bodyPr/>
                    <a:lstStyle/>
                    <a:p>
                      <a:pPr algn="ctr">
                        <a:buNone/>
                      </a:pPr>
                      <a:r>
                        <a:rPr lang="en-US" sz="1050" dirty="0">
                          <a:solidFill>
                            <a:schemeClr val="tx1"/>
                          </a:solidFill>
                          <a:effectLst/>
                          <a:latin typeface="Times New Roman" panose="02020603050405020304" pitchFamily="18" charset="0"/>
                          <a:cs typeface="Times New Roman" panose="02020603050405020304" pitchFamily="18" charset="0"/>
                        </a:rPr>
                        <a:t>Authoritative U.S. government standard covering secrets handling in </a:t>
                      </a:r>
                      <a:r>
                        <a:rPr lang="en-US" sz="1050" dirty="0" err="1">
                          <a:solidFill>
                            <a:schemeClr val="tx1"/>
                          </a:solidFill>
                          <a:effectLst/>
                          <a:latin typeface="Times New Roman" panose="02020603050405020304" pitchFamily="18" charset="0"/>
                          <a:cs typeface="Times New Roman" panose="02020603050405020304" pitchFamily="18" charset="0"/>
                        </a:rPr>
                        <a:t>containerised</a:t>
                      </a:r>
                      <a:r>
                        <a:rPr lang="en-US" sz="1050" dirty="0">
                          <a:solidFill>
                            <a:schemeClr val="tx1"/>
                          </a:solidFill>
                          <a:effectLst/>
                          <a:latin typeface="Times New Roman" panose="02020603050405020304" pitchFamily="18" charset="0"/>
                          <a:cs typeface="Times New Roman" panose="02020603050405020304" pitchFamily="18" charset="0"/>
                        </a:rPr>
                        <a:t> NHIs (pods, images, registries). ML-based anomaly detection.</a:t>
                      </a:r>
                    </a:p>
                  </a:txBody>
                  <a:tcPr marL="7982" marR="7982" marT="5321" marB="5321" anchor="ctr"/>
                </a:tc>
                <a:extLst>
                  <a:ext uri="{0D108BD9-81ED-4DB2-BD59-A6C34878D82A}">
                    <a16:rowId xmlns:a16="http://schemas.microsoft.com/office/drawing/2014/main" val="215722053"/>
                  </a:ext>
                </a:extLst>
              </a:tr>
              <a:tr h="684629">
                <a:tc>
                  <a:txBody>
                    <a:bodyPr/>
                    <a:lstStyle/>
                    <a:p>
                      <a:pPr algn="ctr">
                        <a:buNone/>
                      </a:pPr>
                      <a:r>
                        <a:rPr lang="en-US" sz="1050" dirty="0">
                          <a:solidFill>
                            <a:schemeClr val="tx1"/>
                          </a:solidFill>
                          <a:effectLst/>
                          <a:latin typeface="Times New Roman" panose="02020603050405020304" pitchFamily="18" charset="0"/>
                          <a:cs typeface="Times New Roman" panose="02020603050405020304" pitchFamily="18" charset="0"/>
                        </a:rPr>
                        <a:t>3</a:t>
                      </a:r>
                    </a:p>
                  </a:txBody>
                  <a:tcPr marL="7982" marR="7982" marT="5321" marB="5321" anchor="ctr"/>
                </a:tc>
                <a:tc>
                  <a:txBody>
                    <a:bodyPr/>
                    <a:lstStyle/>
                    <a:p>
                      <a:pPr algn="ctr">
                        <a:buNone/>
                      </a:pPr>
                      <a:r>
                        <a:rPr lang="en-US" sz="1050">
                          <a:solidFill>
                            <a:schemeClr val="tx1"/>
                          </a:solidFill>
                          <a:effectLst/>
                          <a:latin typeface="Times New Roman" panose="02020603050405020304" pitchFamily="18" charset="0"/>
                          <a:cs typeface="Times New Roman" panose="02020603050405020304" pitchFamily="18" charset="0"/>
                        </a:rPr>
                        <a:t>Microsoft Identity Platform &amp; Azure MSAL SDK</a:t>
                      </a:r>
                    </a:p>
                  </a:txBody>
                  <a:tcPr marL="7982" marR="7982" marT="5321" marB="5321" anchor="ctr"/>
                </a:tc>
                <a:tc>
                  <a:txBody>
                    <a:bodyPr/>
                    <a:lstStyle/>
                    <a:p>
                      <a:pPr algn="ctr">
                        <a:buNone/>
                      </a:pPr>
                      <a:r>
                        <a:rPr lang="en-US" sz="1050" dirty="0">
                          <a:solidFill>
                            <a:schemeClr val="tx1"/>
                          </a:solidFill>
                          <a:effectLst/>
                          <a:latin typeface="Times New Roman" panose="02020603050405020304" pitchFamily="18" charset="0"/>
                          <a:cs typeface="Times New Roman" panose="02020603050405020304" pitchFamily="18" charset="0"/>
                        </a:rPr>
                        <a:t>Microsoft Corporation</a:t>
                      </a:r>
                    </a:p>
                  </a:txBody>
                  <a:tcPr marL="7982" marR="7982" marT="5321" marB="5321" anchor="ctr"/>
                </a:tc>
                <a:tc>
                  <a:txBody>
                    <a:bodyPr/>
                    <a:lstStyle/>
                    <a:p>
                      <a:pPr algn="ctr">
                        <a:buNone/>
                      </a:pPr>
                      <a:r>
                        <a:rPr lang="en-US" sz="1050" dirty="0">
                          <a:solidFill>
                            <a:schemeClr val="tx1"/>
                          </a:solidFill>
                          <a:effectLst/>
                          <a:latin typeface="Times New Roman" panose="02020603050405020304" pitchFamily="18" charset="0"/>
                          <a:cs typeface="Times New Roman" panose="02020603050405020304" pitchFamily="18" charset="0"/>
                        </a:rPr>
                        <a:t>Azure Identity SDK v1.7, Microsoft Docs, 2023</a:t>
                      </a:r>
                    </a:p>
                  </a:txBody>
                  <a:tcPr marL="7982" marR="7982" marT="5321" marB="5321" anchor="ctr"/>
                </a:tc>
                <a:tc>
                  <a:txBody>
                    <a:bodyPr/>
                    <a:lstStyle/>
                    <a:p>
                      <a:pPr algn="ctr">
                        <a:buNone/>
                      </a:pPr>
                      <a:r>
                        <a:rPr lang="en-US" sz="1050" dirty="0">
                          <a:solidFill>
                            <a:schemeClr val="tx1"/>
                          </a:solidFill>
                          <a:effectLst/>
                          <a:latin typeface="Times New Roman" panose="02020603050405020304" pitchFamily="18" charset="0"/>
                          <a:cs typeface="Times New Roman" panose="02020603050405020304" pitchFamily="18" charset="0"/>
                        </a:rPr>
                        <a:t>Enables zero-secret Managed Identity authentication via </a:t>
                      </a:r>
                      <a:r>
                        <a:rPr lang="en-US" sz="1050" dirty="0" err="1">
                          <a:solidFill>
                            <a:schemeClr val="tx1"/>
                          </a:solidFill>
                          <a:effectLst/>
                          <a:latin typeface="Times New Roman" panose="02020603050405020304" pitchFamily="18" charset="0"/>
                          <a:cs typeface="Times New Roman" panose="02020603050405020304" pitchFamily="18" charset="0"/>
                        </a:rPr>
                        <a:t>DefaultAzureCredential</a:t>
                      </a:r>
                      <a:r>
                        <a:rPr lang="en-US" sz="1050" dirty="0">
                          <a:solidFill>
                            <a:schemeClr val="tx1"/>
                          </a:solidFill>
                          <a:effectLst/>
                          <a:latin typeface="Times New Roman" panose="02020603050405020304" pitchFamily="18" charset="0"/>
                          <a:cs typeface="Times New Roman" panose="02020603050405020304" pitchFamily="18" charset="0"/>
                        </a:rPr>
                        <a:t> and MSAL token caching. </a:t>
                      </a:r>
                    </a:p>
                  </a:txBody>
                  <a:tcPr marL="7982" marR="7982" marT="5321" marB="5321" anchor="ctr"/>
                </a:tc>
                <a:extLst>
                  <a:ext uri="{0D108BD9-81ED-4DB2-BD59-A6C34878D82A}">
                    <a16:rowId xmlns:a16="http://schemas.microsoft.com/office/drawing/2014/main" val="838133720"/>
                  </a:ext>
                </a:extLst>
              </a:tr>
              <a:tr h="684629">
                <a:tc>
                  <a:txBody>
                    <a:bodyPr/>
                    <a:lstStyle/>
                    <a:p>
                      <a:pPr algn="ctr">
                        <a:buNone/>
                      </a:pPr>
                      <a:r>
                        <a:rPr lang="en-US" sz="1050">
                          <a:solidFill>
                            <a:schemeClr val="tx1"/>
                          </a:solidFill>
                          <a:effectLst/>
                          <a:latin typeface="Times New Roman" panose="02020603050405020304" pitchFamily="18" charset="0"/>
                          <a:cs typeface="Times New Roman" panose="02020603050405020304" pitchFamily="18" charset="0"/>
                        </a:rPr>
                        <a:t>4</a:t>
                      </a:r>
                    </a:p>
                  </a:txBody>
                  <a:tcPr marL="7982" marR="7982" marT="5321" marB="5321" anchor="ctr"/>
                </a:tc>
                <a:tc>
                  <a:txBody>
                    <a:bodyPr/>
                    <a:lstStyle/>
                    <a:p>
                      <a:pPr algn="ctr">
                        <a:buNone/>
                      </a:pPr>
                      <a:r>
                        <a:rPr lang="en-US" sz="1050" dirty="0">
                          <a:solidFill>
                            <a:schemeClr val="tx1"/>
                          </a:solidFill>
                          <a:effectLst/>
                          <a:latin typeface="Times New Roman" panose="02020603050405020304" pitchFamily="18" charset="0"/>
                          <a:cs typeface="Times New Roman" panose="02020603050405020304" pitchFamily="18" charset="0"/>
                        </a:rPr>
                        <a:t>Tool-Calling LLM Agents for Security Automation</a:t>
                      </a:r>
                    </a:p>
                  </a:txBody>
                  <a:tcPr marL="7982" marR="7982" marT="5321" marB="5321" anchor="ctr"/>
                </a:tc>
                <a:tc>
                  <a:txBody>
                    <a:bodyPr/>
                    <a:lstStyle/>
                    <a:p>
                      <a:pPr algn="ctr">
                        <a:buNone/>
                      </a:pPr>
                      <a:r>
                        <a:rPr lang="en-US" sz="1050">
                          <a:solidFill>
                            <a:schemeClr val="tx1"/>
                          </a:solidFill>
                          <a:effectLst/>
                          <a:latin typeface="Times New Roman" panose="02020603050405020304" pitchFamily="18" charset="0"/>
                          <a:cs typeface="Times New Roman" panose="02020603050405020304" pitchFamily="18" charset="0"/>
                        </a:rPr>
                        <a:t>Chase, H. et al. (LangChain Team)</a:t>
                      </a:r>
                    </a:p>
                  </a:txBody>
                  <a:tcPr marL="7982" marR="7982" marT="5321" marB="5321" anchor="ctr"/>
                </a:tc>
                <a:tc>
                  <a:txBody>
                    <a:bodyPr/>
                    <a:lstStyle/>
                    <a:p>
                      <a:pPr algn="ctr">
                        <a:buNone/>
                      </a:pPr>
                      <a:r>
                        <a:rPr lang="en-US" sz="1050" dirty="0" err="1">
                          <a:solidFill>
                            <a:schemeClr val="tx1"/>
                          </a:solidFill>
                          <a:effectLst/>
                          <a:latin typeface="Times New Roman" panose="02020603050405020304" pitchFamily="18" charset="0"/>
                          <a:cs typeface="Times New Roman" panose="02020603050405020304" pitchFamily="18" charset="0"/>
                        </a:rPr>
                        <a:t>LangChain</a:t>
                      </a:r>
                      <a:r>
                        <a:rPr lang="en-US" sz="1050" dirty="0">
                          <a:solidFill>
                            <a:schemeClr val="tx1"/>
                          </a:solidFill>
                          <a:effectLst/>
                          <a:latin typeface="Times New Roman" panose="02020603050405020304" pitchFamily="18" charset="0"/>
                          <a:cs typeface="Times New Roman" panose="02020603050405020304" pitchFamily="18" charset="0"/>
                        </a:rPr>
                        <a:t> &amp; OpenAI Technical Report, 2024</a:t>
                      </a:r>
                    </a:p>
                  </a:txBody>
                  <a:tcPr marL="7982" marR="7982" marT="5321" marB="5321" anchor="ctr"/>
                </a:tc>
                <a:tc>
                  <a:txBody>
                    <a:bodyPr/>
                    <a:lstStyle/>
                    <a:p>
                      <a:pPr algn="ctr">
                        <a:buNone/>
                      </a:pPr>
                      <a:r>
                        <a:rPr lang="en-US" sz="1050" dirty="0">
                          <a:solidFill>
                            <a:schemeClr val="tx1"/>
                          </a:solidFill>
                          <a:effectLst/>
                          <a:latin typeface="Times New Roman" panose="02020603050405020304" pitchFamily="18" charset="0"/>
                          <a:cs typeface="Times New Roman" panose="02020603050405020304" pitchFamily="18" charset="0"/>
                        </a:rPr>
                        <a:t>Demonstrates GPT-4 </a:t>
                      </a:r>
                      <a:r>
                        <a:rPr lang="en-US" sz="1050" dirty="0" err="1">
                          <a:solidFill>
                            <a:schemeClr val="tx1"/>
                          </a:solidFill>
                          <a:effectLst/>
                          <a:latin typeface="Times New Roman" panose="02020603050405020304" pitchFamily="18" charset="0"/>
                          <a:cs typeface="Times New Roman" panose="02020603050405020304" pitchFamily="18" charset="0"/>
                        </a:rPr>
                        <a:t>ReAct</a:t>
                      </a:r>
                      <a:r>
                        <a:rPr lang="en-US" sz="1050" dirty="0">
                          <a:solidFill>
                            <a:schemeClr val="tx1"/>
                          </a:solidFill>
                          <a:effectLst/>
                          <a:latin typeface="Times New Roman" panose="02020603050405020304" pitchFamily="18" charset="0"/>
                          <a:cs typeface="Times New Roman" panose="02020603050405020304" pitchFamily="18" charset="0"/>
                        </a:rPr>
                        <a:t> agent loops that call external tools for multi-step security tasks. T</a:t>
                      </a:r>
                    </a:p>
                  </a:txBody>
                  <a:tcPr marL="7982" marR="7982" marT="5321" marB="5321" anchor="ctr"/>
                </a:tc>
                <a:extLst>
                  <a:ext uri="{0D108BD9-81ED-4DB2-BD59-A6C34878D82A}">
                    <a16:rowId xmlns:a16="http://schemas.microsoft.com/office/drawing/2014/main" val="3825234069"/>
                  </a:ext>
                </a:extLst>
              </a:tr>
              <a:tr h="786186">
                <a:tc>
                  <a:txBody>
                    <a:bodyPr/>
                    <a:lstStyle/>
                    <a:p>
                      <a:pPr algn="ctr">
                        <a:buNone/>
                      </a:pPr>
                      <a:r>
                        <a:rPr lang="en-US" sz="1050">
                          <a:solidFill>
                            <a:schemeClr val="tx1"/>
                          </a:solidFill>
                          <a:effectLst/>
                          <a:latin typeface="Times New Roman" panose="02020603050405020304" pitchFamily="18" charset="0"/>
                          <a:cs typeface="Times New Roman" panose="02020603050405020304" pitchFamily="18" charset="0"/>
                        </a:rPr>
                        <a:t>5</a:t>
                      </a:r>
                    </a:p>
                  </a:txBody>
                  <a:tcPr marL="7982" marR="7982" marT="5321" marB="5321" anchor="ctr"/>
                </a:tc>
                <a:tc>
                  <a:txBody>
                    <a:bodyPr/>
                    <a:lstStyle/>
                    <a:p>
                      <a:pPr algn="ctr">
                        <a:buNone/>
                      </a:pPr>
                      <a:r>
                        <a:rPr lang="en-US" sz="1050">
                          <a:solidFill>
                            <a:schemeClr val="tx1"/>
                          </a:solidFill>
                          <a:effectLst/>
                          <a:latin typeface="Times New Roman" panose="02020603050405020304" pitchFamily="18" charset="0"/>
                          <a:cs typeface="Times New Roman" panose="02020603050405020304" pitchFamily="18" charset="0"/>
                        </a:rPr>
                        <a:t>ML-Based Anomaly Detection in IAM Access Logs</a:t>
                      </a:r>
                    </a:p>
                  </a:txBody>
                  <a:tcPr marL="7982" marR="7982" marT="5321" marB="5321" anchor="ctr"/>
                </a:tc>
                <a:tc>
                  <a:txBody>
                    <a:bodyPr/>
                    <a:lstStyle/>
                    <a:p>
                      <a:pPr algn="ctr">
                        <a:buNone/>
                      </a:pPr>
                      <a:r>
                        <a:rPr lang="en-US" sz="1050">
                          <a:solidFill>
                            <a:schemeClr val="tx1"/>
                          </a:solidFill>
                          <a:effectLst/>
                          <a:latin typeface="Times New Roman" panose="02020603050405020304" pitchFamily="18" charset="0"/>
                          <a:cs typeface="Times New Roman" panose="02020603050405020304" pitchFamily="18" charset="0"/>
                        </a:rPr>
                        <a:t>Syed, R. et al.</a:t>
                      </a:r>
                    </a:p>
                  </a:txBody>
                  <a:tcPr marL="7982" marR="7982" marT="5321" marB="5321" anchor="ctr"/>
                </a:tc>
                <a:tc>
                  <a:txBody>
                    <a:bodyPr/>
                    <a:lstStyle/>
                    <a:p>
                      <a:pPr algn="ctr">
                        <a:buNone/>
                      </a:pPr>
                      <a:r>
                        <a:rPr lang="en-US" sz="1050">
                          <a:solidFill>
                            <a:schemeClr val="tx1"/>
                          </a:solidFill>
                          <a:effectLst/>
                          <a:latin typeface="Times New Roman" panose="02020603050405020304" pitchFamily="18" charset="0"/>
                          <a:cs typeface="Times New Roman" panose="02020603050405020304" pitchFamily="18" charset="0"/>
                        </a:rPr>
                        <a:t>Int. Journal of Computer Science &amp; Information Security (IJCSIS), 2021</a:t>
                      </a:r>
                    </a:p>
                  </a:txBody>
                  <a:tcPr marL="7982" marR="7982" marT="5321" marB="5321" anchor="ctr"/>
                </a:tc>
                <a:tc>
                  <a:txBody>
                    <a:bodyPr/>
                    <a:lstStyle/>
                    <a:p>
                      <a:pPr algn="ctr">
                        <a:buNone/>
                      </a:pPr>
                      <a:r>
                        <a:rPr lang="en-US" sz="1050" dirty="0">
                          <a:solidFill>
                            <a:schemeClr val="tx1"/>
                          </a:solidFill>
                          <a:effectLst/>
                          <a:latin typeface="Times New Roman" panose="02020603050405020304" pitchFamily="18" charset="0"/>
                          <a:cs typeface="Times New Roman" panose="02020603050405020304" pitchFamily="18" charset="0"/>
                        </a:rPr>
                        <a:t>Applies Isolation Forest (unsupervised) to IAM access logs, achieving low false-positive rate for unusual identity </a:t>
                      </a:r>
                      <a:r>
                        <a:rPr lang="en-US" sz="1050" dirty="0" err="1">
                          <a:solidFill>
                            <a:schemeClr val="tx1"/>
                          </a:solidFill>
                          <a:effectLst/>
                          <a:latin typeface="Times New Roman" panose="02020603050405020304" pitchFamily="18" charset="0"/>
                          <a:cs typeface="Times New Roman" panose="02020603050405020304" pitchFamily="18" charset="0"/>
                        </a:rPr>
                        <a:t>behaviour</a:t>
                      </a:r>
                      <a:r>
                        <a:rPr lang="en-US" sz="1050" dirty="0">
                          <a:solidFill>
                            <a:schemeClr val="tx1"/>
                          </a:solidFill>
                          <a:effectLst/>
                          <a:latin typeface="Times New Roman" panose="02020603050405020304" pitchFamily="18" charset="0"/>
                          <a:cs typeface="Times New Roman" panose="02020603050405020304" pitchFamily="18" charset="0"/>
                        </a:rPr>
                        <a:t>.</a:t>
                      </a:r>
                    </a:p>
                  </a:txBody>
                  <a:tcPr marL="7982" marR="7982" marT="5321" marB="5321" anchor="ctr"/>
                </a:tc>
                <a:extLst>
                  <a:ext uri="{0D108BD9-81ED-4DB2-BD59-A6C34878D82A}">
                    <a16:rowId xmlns:a16="http://schemas.microsoft.com/office/drawing/2014/main" val="1928907057"/>
                  </a:ext>
                </a:extLst>
              </a:tr>
            </a:tbl>
          </a:graphicData>
        </a:graphic>
      </p:graphicFrame>
    </p:spTree>
    <p:extLst>
      <p:ext uri="{BB962C8B-B14F-4D97-AF65-F5344CB8AC3E}">
        <p14:creationId xmlns:p14="http://schemas.microsoft.com/office/powerpoint/2010/main" val="42134904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2">
          <a:extLst>
            <a:ext uri="{FF2B5EF4-FFF2-40B4-BE49-F238E27FC236}">
              <a16:creationId xmlns:a16="http://schemas.microsoft.com/office/drawing/2014/main" id="{9405C3D1-6F44-4606-848A-A7379A59D435}"/>
            </a:ext>
          </a:extLst>
        </p:cNvPr>
        <p:cNvGrpSpPr/>
        <p:nvPr/>
      </p:nvGrpSpPr>
      <p:grpSpPr>
        <a:xfrm>
          <a:off x="0" y="0"/>
          <a:ext cx="0" cy="0"/>
          <a:chOff x="0" y="0"/>
          <a:chExt cx="0" cy="0"/>
        </a:xfrm>
      </p:grpSpPr>
      <p:sp>
        <p:nvSpPr>
          <p:cNvPr id="83" name="Google Shape;83;p15">
            <a:extLst>
              <a:ext uri="{FF2B5EF4-FFF2-40B4-BE49-F238E27FC236}">
                <a16:creationId xmlns:a16="http://schemas.microsoft.com/office/drawing/2014/main" id="{73F9E8F7-96E5-3FE9-4618-68992E51C4DD}"/>
              </a:ext>
            </a:extLst>
          </p:cNvPr>
          <p:cNvSpPr txBox="1">
            <a:spLocks noGrp="1"/>
          </p:cNvSpPr>
          <p:nvPr>
            <p:ph type="title"/>
          </p:nvPr>
        </p:nvSpPr>
        <p:spPr>
          <a:xfrm>
            <a:off x="226208" y="224892"/>
            <a:ext cx="85206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US" sz="2000" b="1" dirty="0">
                <a:solidFill>
                  <a:srgbClr val="083C92"/>
                </a:solidFill>
                <a:latin typeface="Bookman Old Style"/>
                <a:ea typeface="Bookman Old Style"/>
                <a:cs typeface="Bookman Old Style"/>
                <a:sym typeface="Bookman Old Style"/>
              </a:rPr>
              <a:t>Literature Review</a:t>
            </a:r>
            <a:br>
              <a:rPr lang="en-US" sz="2000" b="1" dirty="0">
                <a:solidFill>
                  <a:srgbClr val="083C92"/>
                </a:solidFill>
                <a:latin typeface="Bookman Old Style"/>
                <a:ea typeface="Bookman Old Style"/>
                <a:cs typeface="Bookman Old Style"/>
                <a:sym typeface="Bookman Old Style"/>
              </a:rPr>
            </a:br>
            <a:endParaRPr sz="2000" b="1" dirty="0">
              <a:solidFill>
                <a:srgbClr val="083C92"/>
              </a:solidFill>
              <a:latin typeface="Bookman Old Style"/>
              <a:ea typeface="Bookman Old Style"/>
              <a:cs typeface="Bookman Old Style"/>
              <a:sym typeface="Bookman Old Style"/>
            </a:endParaRPr>
          </a:p>
        </p:txBody>
      </p:sp>
      <p:sp>
        <p:nvSpPr>
          <p:cNvPr id="84" name="Google Shape;84;p15">
            <a:extLst>
              <a:ext uri="{FF2B5EF4-FFF2-40B4-BE49-F238E27FC236}">
                <a16:creationId xmlns:a16="http://schemas.microsoft.com/office/drawing/2014/main" id="{6BC103DD-53FE-2E9F-E469-A7D79478FCAF}"/>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6</a:t>
            </a:fld>
            <a:endParaRPr/>
          </a:p>
        </p:txBody>
      </p:sp>
      <p:graphicFrame>
        <p:nvGraphicFramePr>
          <p:cNvPr id="5" name="Table 4">
            <a:extLst>
              <a:ext uri="{FF2B5EF4-FFF2-40B4-BE49-F238E27FC236}">
                <a16:creationId xmlns:a16="http://schemas.microsoft.com/office/drawing/2014/main" id="{CD15DD3E-BB43-D7B8-4633-CB26E68142F5}"/>
              </a:ext>
            </a:extLst>
          </p:cNvPr>
          <p:cNvGraphicFramePr>
            <a:graphicFrameLocks noGrp="1"/>
          </p:cNvGraphicFramePr>
          <p:nvPr>
            <p:extLst>
              <p:ext uri="{D42A27DB-BD31-4B8C-83A1-F6EECF244321}">
                <p14:modId xmlns:p14="http://schemas.microsoft.com/office/powerpoint/2010/main" val="1717698467"/>
              </p:ext>
            </p:extLst>
          </p:nvPr>
        </p:nvGraphicFramePr>
        <p:xfrm>
          <a:off x="439989" y="797592"/>
          <a:ext cx="8306818" cy="4259224"/>
        </p:xfrm>
        <a:graphic>
          <a:graphicData uri="http://schemas.openxmlformats.org/drawingml/2006/table">
            <a:tbl>
              <a:tblPr>
                <a:tableStyleId>{E87FED87-6CF3-4087-AA9B-566F0D66C604}</a:tableStyleId>
              </a:tblPr>
              <a:tblGrid>
                <a:gridCol w="385624">
                  <a:extLst>
                    <a:ext uri="{9D8B030D-6E8A-4147-A177-3AD203B41FA5}">
                      <a16:colId xmlns:a16="http://schemas.microsoft.com/office/drawing/2014/main" val="4018582083"/>
                    </a:ext>
                  </a:extLst>
                </a:gridCol>
                <a:gridCol w="2937105">
                  <a:extLst>
                    <a:ext uri="{9D8B030D-6E8A-4147-A177-3AD203B41FA5}">
                      <a16:colId xmlns:a16="http://schemas.microsoft.com/office/drawing/2014/main" val="3858029737"/>
                    </a:ext>
                  </a:extLst>
                </a:gridCol>
                <a:gridCol w="1661363">
                  <a:extLst>
                    <a:ext uri="{9D8B030D-6E8A-4147-A177-3AD203B41FA5}">
                      <a16:colId xmlns:a16="http://schemas.microsoft.com/office/drawing/2014/main" val="1439794548"/>
                    </a:ext>
                  </a:extLst>
                </a:gridCol>
                <a:gridCol w="1661363">
                  <a:extLst>
                    <a:ext uri="{9D8B030D-6E8A-4147-A177-3AD203B41FA5}">
                      <a16:colId xmlns:a16="http://schemas.microsoft.com/office/drawing/2014/main" val="4171880623"/>
                    </a:ext>
                  </a:extLst>
                </a:gridCol>
                <a:gridCol w="1661363">
                  <a:extLst>
                    <a:ext uri="{9D8B030D-6E8A-4147-A177-3AD203B41FA5}">
                      <a16:colId xmlns:a16="http://schemas.microsoft.com/office/drawing/2014/main" val="642010328"/>
                    </a:ext>
                  </a:extLst>
                </a:gridCol>
              </a:tblGrid>
              <a:tr h="403525">
                <a:tc>
                  <a:txBody>
                    <a:bodyPr/>
                    <a:lstStyle/>
                    <a:p>
                      <a:pPr algn="ctr">
                        <a:buNone/>
                      </a:pPr>
                      <a:r>
                        <a:rPr lang="en-US" sz="1050" b="1" dirty="0">
                          <a:effectLst/>
                          <a:latin typeface="Times New Roman" panose="02020603050405020304" pitchFamily="18" charset="0"/>
                          <a:cs typeface="Times New Roman" panose="02020603050405020304" pitchFamily="18" charset="0"/>
                        </a:rPr>
                        <a:t>Sl. No.</a:t>
                      </a:r>
                    </a:p>
                  </a:txBody>
                  <a:tcPr marL="38100" marR="38100" marT="25400" marB="25400" anchor="ctr"/>
                </a:tc>
                <a:tc>
                  <a:txBody>
                    <a:bodyPr/>
                    <a:lstStyle/>
                    <a:p>
                      <a:pPr algn="ctr">
                        <a:buNone/>
                      </a:pPr>
                      <a:r>
                        <a:rPr lang="en-US" sz="1050" b="1" dirty="0">
                          <a:effectLst/>
                          <a:latin typeface="Times New Roman" panose="02020603050405020304" pitchFamily="18" charset="0"/>
                          <a:cs typeface="Times New Roman" panose="02020603050405020304" pitchFamily="18" charset="0"/>
                        </a:rPr>
                        <a:t>Title of the Paper</a:t>
                      </a:r>
                    </a:p>
                  </a:txBody>
                  <a:tcPr marL="38100" marR="38100" marT="25400" marB="25400" anchor="ctr"/>
                </a:tc>
                <a:tc>
                  <a:txBody>
                    <a:bodyPr/>
                    <a:lstStyle/>
                    <a:p>
                      <a:pPr algn="ctr">
                        <a:buNone/>
                      </a:pPr>
                      <a:r>
                        <a:rPr lang="en-US" sz="1050" b="1">
                          <a:effectLst/>
                          <a:latin typeface="Times New Roman" panose="02020603050405020304" pitchFamily="18" charset="0"/>
                          <a:cs typeface="Times New Roman" panose="02020603050405020304" pitchFamily="18" charset="0"/>
                        </a:rPr>
                        <a:t>Authors</a:t>
                      </a:r>
                    </a:p>
                  </a:txBody>
                  <a:tcPr marL="38100" marR="38100" marT="25400" marB="25400" anchor="ctr"/>
                </a:tc>
                <a:tc>
                  <a:txBody>
                    <a:bodyPr/>
                    <a:lstStyle/>
                    <a:p>
                      <a:pPr algn="ctr">
                        <a:buNone/>
                      </a:pPr>
                      <a:r>
                        <a:rPr lang="en-US" sz="1050" b="1">
                          <a:effectLst/>
                          <a:latin typeface="Times New Roman" panose="02020603050405020304" pitchFamily="18" charset="0"/>
                          <a:cs typeface="Times New Roman" panose="02020603050405020304" pitchFamily="18" charset="0"/>
                        </a:rPr>
                        <a:t>Journal / Conference Details</a:t>
                      </a:r>
                    </a:p>
                  </a:txBody>
                  <a:tcPr marL="38100" marR="38100" marT="25400" marB="25400" anchor="ctr"/>
                </a:tc>
                <a:tc>
                  <a:txBody>
                    <a:bodyPr/>
                    <a:lstStyle/>
                    <a:p>
                      <a:pPr algn="ctr">
                        <a:buNone/>
                      </a:pPr>
                      <a:r>
                        <a:rPr lang="en-US" sz="1050" b="1" dirty="0">
                          <a:effectLst/>
                          <a:latin typeface="Times New Roman" panose="02020603050405020304" pitchFamily="18" charset="0"/>
                          <a:cs typeface="Times New Roman" panose="02020603050405020304" pitchFamily="18" charset="0"/>
                        </a:rPr>
                        <a:t>Inference</a:t>
                      </a:r>
                    </a:p>
                  </a:txBody>
                  <a:tcPr marL="38100" marR="38100" marT="25400" marB="25400" anchor="ctr"/>
                </a:tc>
                <a:extLst>
                  <a:ext uri="{0D108BD9-81ED-4DB2-BD59-A6C34878D82A}">
                    <a16:rowId xmlns:a16="http://schemas.microsoft.com/office/drawing/2014/main" val="1514723449"/>
                  </a:ext>
                </a:extLst>
              </a:tr>
              <a:tr h="980165">
                <a:tc>
                  <a:txBody>
                    <a:bodyPr/>
                    <a:lstStyle/>
                    <a:p>
                      <a:pPr algn="ctr">
                        <a:buNone/>
                      </a:pPr>
                      <a:r>
                        <a:rPr lang="en-US" sz="1050">
                          <a:effectLst/>
                          <a:latin typeface="Times New Roman" panose="02020603050405020304" pitchFamily="18" charset="0"/>
                          <a:cs typeface="Times New Roman" panose="02020603050405020304" pitchFamily="18" charset="0"/>
                        </a:rPr>
                        <a:t>6</a:t>
                      </a:r>
                    </a:p>
                  </a:txBody>
                  <a:tcPr marL="38100" marR="38100" marT="25400" marB="25400" anchor="ctr"/>
                </a:tc>
                <a:tc>
                  <a:txBody>
                    <a:bodyPr/>
                    <a:lstStyle/>
                    <a:p>
                      <a:pPr algn="ctr">
                        <a:buNone/>
                      </a:pPr>
                      <a:r>
                        <a:rPr lang="en-US" sz="1050">
                          <a:effectLst/>
                          <a:latin typeface="Times New Roman" panose="02020603050405020304" pitchFamily="18" charset="0"/>
                          <a:cs typeface="Times New Roman" panose="02020603050405020304" pitchFamily="18" charset="0"/>
                        </a:rPr>
                        <a:t>CyberArk Privileged Access Manager (PAM) for NHIs</a:t>
                      </a:r>
                    </a:p>
                  </a:txBody>
                  <a:tcPr marL="38100" marR="38100" marT="25400" marB="25400" anchor="ctr"/>
                </a:tc>
                <a:tc>
                  <a:txBody>
                    <a:bodyPr/>
                    <a:lstStyle/>
                    <a:p>
                      <a:pPr algn="ctr">
                        <a:buNone/>
                      </a:pPr>
                      <a:r>
                        <a:rPr lang="en-US" sz="1050">
                          <a:effectLst/>
                          <a:latin typeface="Times New Roman" panose="02020603050405020304" pitchFamily="18" charset="0"/>
                          <a:cs typeface="Times New Roman" panose="02020603050405020304" pitchFamily="18" charset="0"/>
                        </a:rPr>
                        <a:t>CyberArk Software Ltd.</a:t>
                      </a:r>
                    </a:p>
                  </a:txBody>
                  <a:tcPr marL="38100" marR="38100" marT="25400" marB="25400" anchor="ctr"/>
                </a:tc>
                <a:tc>
                  <a:txBody>
                    <a:bodyPr/>
                    <a:lstStyle/>
                    <a:p>
                      <a:pPr algn="ctr">
                        <a:buNone/>
                      </a:pPr>
                      <a:r>
                        <a:rPr lang="en-US" sz="1050">
                          <a:effectLst/>
                          <a:latin typeface="Times New Roman" panose="02020603050405020304" pitchFamily="18" charset="0"/>
                          <a:cs typeface="Times New Roman" panose="02020603050405020304" pitchFamily="18" charset="0"/>
                        </a:rPr>
                        <a:t>CyberArk PAM Documentation, v13.2, 2023</a:t>
                      </a:r>
                    </a:p>
                  </a:txBody>
                  <a:tcPr marL="38100" marR="38100" marT="25400" marB="25400" anchor="ctr"/>
                </a:tc>
                <a:tc>
                  <a:txBody>
                    <a:bodyPr/>
                    <a:lstStyle/>
                    <a:p>
                      <a:pPr algn="ctr">
                        <a:buNone/>
                      </a:pPr>
                      <a:r>
                        <a:rPr lang="en-US" sz="1050" dirty="0">
                          <a:effectLst/>
                          <a:latin typeface="Times New Roman" panose="02020603050405020304" pitchFamily="18" charset="0"/>
                          <a:cs typeface="Times New Roman" panose="02020603050405020304" pitchFamily="18" charset="0"/>
                        </a:rPr>
                        <a:t>Industry-leading PAM solution with service-account vaulting and session recording. Strong for human privileged accounts; </a:t>
                      </a:r>
                    </a:p>
                  </a:txBody>
                  <a:tcPr marL="38100" marR="38100" marT="25400" marB="25400" anchor="ctr"/>
                </a:tc>
                <a:extLst>
                  <a:ext uri="{0D108BD9-81ED-4DB2-BD59-A6C34878D82A}">
                    <a16:rowId xmlns:a16="http://schemas.microsoft.com/office/drawing/2014/main" val="532979031"/>
                  </a:ext>
                </a:extLst>
              </a:tr>
              <a:tr h="664237">
                <a:tc>
                  <a:txBody>
                    <a:bodyPr/>
                    <a:lstStyle/>
                    <a:p>
                      <a:pPr algn="ctr">
                        <a:buNone/>
                      </a:pPr>
                      <a:r>
                        <a:rPr lang="en-US" sz="1050">
                          <a:effectLst/>
                          <a:latin typeface="Times New Roman" panose="02020603050405020304" pitchFamily="18" charset="0"/>
                          <a:cs typeface="Times New Roman" panose="02020603050405020304" pitchFamily="18" charset="0"/>
                        </a:rPr>
                        <a:t>7</a:t>
                      </a:r>
                    </a:p>
                  </a:txBody>
                  <a:tcPr marL="38100" marR="38100" marT="25400" marB="25400" anchor="ctr"/>
                </a:tc>
                <a:tc>
                  <a:txBody>
                    <a:bodyPr/>
                    <a:lstStyle/>
                    <a:p>
                      <a:pPr algn="ctr">
                        <a:buNone/>
                      </a:pPr>
                      <a:r>
                        <a:rPr lang="en-US" sz="1050" dirty="0">
                          <a:effectLst/>
                          <a:latin typeface="Times New Roman" panose="02020603050405020304" pitchFamily="18" charset="0"/>
                          <a:cs typeface="Times New Roman" panose="02020603050405020304" pitchFamily="18" charset="0"/>
                        </a:rPr>
                        <a:t>OAuth 2.0 Authorization Framework (RFC 6749)</a:t>
                      </a:r>
                    </a:p>
                  </a:txBody>
                  <a:tcPr marL="38100" marR="38100" marT="25400" marB="25400" anchor="ctr"/>
                </a:tc>
                <a:tc>
                  <a:txBody>
                    <a:bodyPr/>
                    <a:lstStyle/>
                    <a:p>
                      <a:pPr algn="ctr">
                        <a:buNone/>
                      </a:pPr>
                      <a:r>
                        <a:rPr lang="en-US" sz="1050">
                          <a:effectLst/>
                          <a:latin typeface="Times New Roman" panose="02020603050405020304" pitchFamily="18" charset="0"/>
                          <a:cs typeface="Times New Roman" panose="02020603050405020304" pitchFamily="18" charset="0"/>
                        </a:rPr>
                        <a:t>Hardt, D. (Ed.), IETF</a:t>
                      </a:r>
                    </a:p>
                  </a:txBody>
                  <a:tcPr marL="38100" marR="38100" marT="25400" marB="25400" anchor="ctr"/>
                </a:tc>
                <a:tc>
                  <a:txBody>
                    <a:bodyPr/>
                    <a:lstStyle/>
                    <a:p>
                      <a:pPr algn="ctr">
                        <a:buNone/>
                      </a:pPr>
                      <a:r>
                        <a:rPr lang="en-US" sz="1050" dirty="0">
                          <a:effectLst/>
                          <a:latin typeface="Times New Roman" panose="02020603050405020304" pitchFamily="18" charset="0"/>
                          <a:cs typeface="Times New Roman" panose="02020603050405020304" pitchFamily="18" charset="0"/>
                        </a:rPr>
                        <a:t>RFC 6749, Internet Engineering Task Force (IETF), 2024</a:t>
                      </a:r>
                    </a:p>
                  </a:txBody>
                  <a:tcPr marL="38100" marR="38100" marT="25400" marB="25400" anchor="ctr"/>
                </a:tc>
                <a:tc>
                  <a:txBody>
                    <a:bodyPr/>
                    <a:lstStyle/>
                    <a:p>
                      <a:pPr algn="ctr">
                        <a:buNone/>
                      </a:pPr>
                      <a:r>
                        <a:rPr lang="en-US" sz="1050" dirty="0">
                          <a:effectLst/>
                          <a:latin typeface="Times New Roman" panose="02020603050405020304" pitchFamily="18" charset="0"/>
                          <a:cs typeface="Times New Roman" panose="02020603050405020304" pitchFamily="18" charset="0"/>
                        </a:rPr>
                        <a:t>Foundational protocol for token-based NHI authentication. </a:t>
                      </a:r>
                    </a:p>
                  </a:txBody>
                  <a:tcPr marL="38100" marR="38100" marT="25400" marB="25400" anchor="ctr"/>
                </a:tc>
                <a:extLst>
                  <a:ext uri="{0D108BD9-81ED-4DB2-BD59-A6C34878D82A}">
                    <a16:rowId xmlns:a16="http://schemas.microsoft.com/office/drawing/2014/main" val="215722053"/>
                  </a:ext>
                </a:extLst>
              </a:tr>
              <a:tr h="773530">
                <a:tc>
                  <a:txBody>
                    <a:bodyPr/>
                    <a:lstStyle/>
                    <a:p>
                      <a:pPr algn="ctr">
                        <a:buNone/>
                      </a:pPr>
                      <a:r>
                        <a:rPr lang="en-US" sz="1050">
                          <a:effectLst/>
                          <a:latin typeface="Times New Roman" panose="02020603050405020304" pitchFamily="18" charset="0"/>
                          <a:cs typeface="Times New Roman" panose="02020603050405020304" pitchFamily="18" charset="0"/>
                        </a:rPr>
                        <a:t>8</a:t>
                      </a:r>
                    </a:p>
                  </a:txBody>
                  <a:tcPr marL="38100" marR="38100" marT="25400" marB="25400" anchor="ctr"/>
                </a:tc>
                <a:tc>
                  <a:txBody>
                    <a:bodyPr/>
                    <a:lstStyle/>
                    <a:p>
                      <a:pPr algn="ctr">
                        <a:buNone/>
                      </a:pPr>
                      <a:r>
                        <a:rPr lang="en-US" sz="1050" dirty="0">
                          <a:effectLst/>
                          <a:latin typeface="Times New Roman" panose="02020603050405020304" pitchFamily="18" charset="0"/>
                          <a:cs typeface="Times New Roman" panose="02020603050405020304" pitchFamily="18" charset="0"/>
                        </a:rPr>
                        <a:t>Kubernetes RBAC &amp; Service Account Governance</a:t>
                      </a:r>
                    </a:p>
                  </a:txBody>
                  <a:tcPr marL="38100" marR="38100" marT="25400" marB="25400" anchor="ctr"/>
                </a:tc>
                <a:tc>
                  <a:txBody>
                    <a:bodyPr/>
                    <a:lstStyle/>
                    <a:p>
                      <a:pPr algn="ctr">
                        <a:buNone/>
                      </a:pPr>
                      <a:r>
                        <a:rPr lang="en-US" sz="1050" dirty="0">
                          <a:effectLst/>
                          <a:latin typeface="Times New Roman" panose="02020603050405020304" pitchFamily="18" charset="0"/>
                          <a:cs typeface="Times New Roman" panose="02020603050405020304" pitchFamily="18" charset="0"/>
                        </a:rPr>
                        <a:t>The Kubernetes Authors, CNCF</a:t>
                      </a:r>
                    </a:p>
                  </a:txBody>
                  <a:tcPr marL="38100" marR="38100" marT="25400" marB="25400" anchor="ctr"/>
                </a:tc>
                <a:tc>
                  <a:txBody>
                    <a:bodyPr/>
                    <a:lstStyle/>
                    <a:p>
                      <a:pPr algn="ctr">
                        <a:buNone/>
                      </a:pPr>
                      <a:r>
                        <a:rPr lang="en-US" sz="1050">
                          <a:effectLst/>
                          <a:latin typeface="Times New Roman" panose="02020603050405020304" pitchFamily="18" charset="0"/>
                          <a:cs typeface="Times New Roman" panose="02020603050405020304" pitchFamily="18" charset="0"/>
                        </a:rPr>
                        <a:t>Kubernetes Official Docs, v1.29, CNCF, 2023</a:t>
                      </a:r>
                    </a:p>
                  </a:txBody>
                  <a:tcPr marL="38100" marR="38100" marT="25400" marB="25400" anchor="ctr"/>
                </a:tc>
                <a:tc>
                  <a:txBody>
                    <a:bodyPr/>
                    <a:lstStyle/>
                    <a:p>
                      <a:pPr algn="ctr">
                        <a:buNone/>
                      </a:pPr>
                      <a:r>
                        <a:rPr lang="en-US" sz="1050" dirty="0">
                          <a:effectLst/>
                          <a:latin typeface="Times New Roman" panose="02020603050405020304" pitchFamily="18" charset="0"/>
                          <a:cs typeface="Times New Roman" panose="02020603050405020304" pitchFamily="18" charset="0"/>
                        </a:rPr>
                        <a:t>Defines RBAC model for Kubernetes Service Accounts (NHIs in </a:t>
                      </a:r>
                      <a:r>
                        <a:rPr lang="en-US" sz="1050" dirty="0" err="1">
                          <a:effectLst/>
                          <a:latin typeface="Times New Roman" panose="02020603050405020304" pitchFamily="18" charset="0"/>
                          <a:cs typeface="Times New Roman" panose="02020603050405020304" pitchFamily="18" charset="0"/>
                        </a:rPr>
                        <a:t>containerised</a:t>
                      </a:r>
                      <a:r>
                        <a:rPr lang="en-US" sz="1050" dirty="0">
                          <a:effectLst/>
                          <a:latin typeface="Times New Roman" panose="02020603050405020304" pitchFamily="18" charset="0"/>
                          <a:cs typeface="Times New Roman" panose="02020603050405020304" pitchFamily="18" charset="0"/>
                        </a:rPr>
                        <a:t> workloads). </a:t>
                      </a:r>
                    </a:p>
                  </a:txBody>
                  <a:tcPr marL="38100" marR="38100" marT="25400" marB="25400" anchor="ctr"/>
                </a:tc>
                <a:extLst>
                  <a:ext uri="{0D108BD9-81ED-4DB2-BD59-A6C34878D82A}">
                    <a16:rowId xmlns:a16="http://schemas.microsoft.com/office/drawing/2014/main" val="838133720"/>
                  </a:ext>
                </a:extLst>
              </a:tr>
              <a:tr h="773530">
                <a:tc>
                  <a:txBody>
                    <a:bodyPr/>
                    <a:lstStyle/>
                    <a:p>
                      <a:pPr algn="ctr">
                        <a:buNone/>
                      </a:pPr>
                      <a:r>
                        <a:rPr lang="en-US" sz="1050">
                          <a:effectLst/>
                          <a:latin typeface="Times New Roman" panose="02020603050405020304" pitchFamily="18" charset="0"/>
                          <a:cs typeface="Times New Roman" panose="02020603050405020304" pitchFamily="18" charset="0"/>
                        </a:rPr>
                        <a:t>9</a:t>
                      </a:r>
                    </a:p>
                  </a:txBody>
                  <a:tcPr marL="38100" marR="38100" marT="25400" marB="25400" anchor="ctr"/>
                </a:tc>
                <a:tc>
                  <a:txBody>
                    <a:bodyPr/>
                    <a:lstStyle/>
                    <a:p>
                      <a:pPr algn="ctr">
                        <a:buNone/>
                      </a:pPr>
                      <a:r>
                        <a:rPr lang="en-US" sz="1050">
                          <a:effectLst/>
                          <a:latin typeface="Times New Roman" panose="02020603050405020304" pitchFamily="18" charset="0"/>
                          <a:cs typeface="Times New Roman" panose="02020603050405020304" pitchFamily="18" charset="0"/>
                        </a:rPr>
                        <a:t>Zero Trust Architecture (NIST SP 800-207)</a:t>
                      </a:r>
                    </a:p>
                  </a:txBody>
                  <a:tcPr marL="38100" marR="38100" marT="25400" marB="25400" anchor="ctr"/>
                </a:tc>
                <a:tc>
                  <a:txBody>
                    <a:bodyPr/>
                    <a:lstStyle/>
                    <a:p>
                      <a:pPr algn="ctr">
                        <a:buNone/>
                      </a:pPr>
                      <a:r>
                        <a:rPr lang="en-US" sz="1050">
                          <a:effectLst/>
                          <a:latin typeface="Times New Roman" panose="02020603050405020304" pitchFamily="18" charset="0"/>
                          <a:cs typeface="Times New Roman" panose="02020603050405020304" pitchFamily="18" charset="0"/>
                        </a:rPr>
                        <a:t>Rose, S. et al., NIST</a:t>
                      </a:r>
                    </a:p>
                  </a:txBody>
                  <a:tcPr marL="38100" marR="38100" marT="25400" marB="25400" anchor="ctr"/>
                </a:tc>
                <a:tc>
                  <a:txBody>
                    <a:bodyPr/>
                    <a:lstStyle/>
                    <a:p>
                      <a:pPr algn="ctr">
                        <a:buNone/>
                      </a:pPr>
                      <a:r>
                        <a:rPr lang="en-US" sz="1050">
                          <a:effectLst/>
                          <a:latin typeface="Times New Roman" panose="02020603050405020304" pitchFamily="18" charset="0"/>
                          <a:cs typeface="Times New Roman" panose="02020603050405020304" pitchFamily="18" charset="0"/>
                        </a:rPr>
                        <a:t>NIST Special Publication 800-207, NIST, 2020</a:t>
                      </a:r>
                    </a:p>
                  </a:txBody>
                  <a:tcPr marL="38100" marR="38100" marT="25400" marB="25400" anchor="ctr"/>
                </a:tc>
                <a:tc>
                  <a:txBody>
                    <a:bodyPr/>
                    <a:lstStyle/>
                    <a:p>
                      <a:pPr algn="ctr">
                        <a:buNone/>
                      </a:pPr>
                      <a:r>
                        <a:rPr lang="en-US" sz="1050" dirty="0">
                          <a:effectLst/>
                          <a:latin typeface="Times New Roman" panose="02020603050405020304" pitchFamily="18" charset="0"/>
                          <a:cs typeface="Times New Roman" panose="02020603050405020304" pitchFamily="18" charset="0"/>
                        </a:rPr>
                        <a:t>Establishes the Zero Trust principle: "never trust, always verify" for all identities including NHIs. </a:t>
                      </a:r>
                    </a:p>
                  </a:txBody>
                  <a:tcPr marL="38100" marR="38100" marT="25400" marB="25400" anchor="ctr"/>
                </a:tc>
                <a:extLst>
                  <a:ext uri="{0D108BD9-81ED-4DB2-BD59-A6C34878D82A}">
                    <a16:rowId xmlns:a16="http://schemas.microsoft.com/office/drawing/2014/main" val="3825234069"/>
                  </a:ext>
                </a:extLst>
              </a:tr>
              <a:tr h="664237">
                <a:tc>
                  <a:txBody>
                    <a:bodyPr/>
                    <a:lstStyle/>
                    <a:p>
                      <a:pPr algn="ctr">
                        <a:buNone/>
                      </a:pPr>
                      <a:r>
                        <a:rPr lang="en-US" sz="1050">
                          <a:effectLst/>
                          <a:latin typeface="Times New Roman" panose="02020603050405020304" pitchFamily="18" charset="0"/>
                          <a:cs typeface="Times New Roman" panose="02020603050405020304" pitchFamily="18" charset="0"/>
                        </a:rPr>
                        <a:t>10</a:t>
                      </a:r>
                    </a:p>
                  </a:txBody>
                  <a:tcPr marL="38100" marR="38100" marT="25400" marB="25400" anchor="ctr"/>
                </a:tc>
                <a:tc>
                  <a:txBody>
                    <a:bodyPr/>
                    <a:lstStyle/>
                    <a:p>
                      <a:pPr algn="ctr">
                        <a:buNone/>
                      </a:pPr>
                      <a:r>
                        <a:rPr lang="en-US" sz="1050">
                          <a:effectLst/>
                          <a:latin typeface="Times New Roman" panose="02020603050405020304" pitchFamily="18" charset="0"/>
                          <a:cs typeface="Times New Roman" panose="02020603050405020304" pitchFamily="18" charset="0"/>
                        </a:rPr>
                        <a:t>OWASP Non-Human Identities Top 10 Security Risks</a:t>
                      </a:r>
                    </a:p>
                  </a:txBody>
                  <a:tcPr marL="38100" marR="38100" marT="25400" marB="25400" anchor="ctr"/>
                </a:tc>
                <a:tc>
                  <a:txBody>
                    <a:bodyPr/>
                    <a:lstStyle/>
                    <a:p>
                      <a:pPr algn="ctr">
                        <a:buNone/>
                      </a:pPr>
                      <a:r>
                        <a:rPr lang="en-US" sz="1050">
                          <a:effectLst/>
                          <a:latin typeface="Times New Roman" panose="02020603050405020304" pitchFamily="18" charset="0"/>
                          <a:cs typeface="Times New Roman" panose="02020603050405020304" pitchFamily="18" charset="0"/>
                        </a:rPr>
                        <a:t>OWASP Foundation</a:t>
                      </a:r>
                    </a:p>
                  </a:txBody>
                  <a:tcPr marL="38100" marR="38100" marT="25400" marB="25400" anchor="ctr"/>
                </a:tc>
                <a:tc>
                  <a:txBody>
                    <a:bodyPr/>
                    <a:lstStyle/>
                    <a:p>
                      <a:pPr algn="ctr">
                        <a:buNone/>
                      </a:pPr>
                      <a:r>
                        <a:rPr lang="en-US" sz="1050">
                          <a:effectLst/>
                          <a:latin typeface="Times New Roman" panose="02020603050405020304" pitchFamily="18" charset="0"/>
                          <a:cs typeface="Times New Roman" panose="02020603050405020304" pitchFamily="18" charset="0"/>
                        </a:rPr>
                        <a:t>OWASP NHI Top 10 Project, OWASP Foundation, 2024</a:t>
                      </a:r>
                    </a:p>
                  </a:txBody>
                  <a:tcPr marL="38100" marR="38100" marT="25400" marB="25400" anchor="ctr"/>
                </a:tc>
                <a:tc>
                  <a:txBody>
                    <a:bodyPr/>
                    <a:lstStyle/>
                    <a:p>
                      <a:pPr algn="ctr">
                        <a:buNone/>
                      </a:pPr>
                      <a:r>
                        <a:rPr lang="en-US" sz="1050" dirty="0">
                          <a:effectLst/>
                          <a:latin typeface="Times New Roman" panose="02020603050405020304" pitchFamily="18" charset="0"/>
                          <a:cs typeface="Times New Roman" panose="02020603050405020304" pitchFamily="18" charset="0"/>
                        </a:rPr>
                        <a:t>First community-curated ranking of NHI-specific risks</a:t>
                      </a:r>
                    </a:p>
                  </a:txBody>
                  <a:tcPr marL="38100" marR="38100" marT="25400" marB="25400" anchor="ctr"/>
                </a:tc>
                <a:extLst>
                  <a:ext uri="{0D108BD9-81ED-4DB2-BD59-A6C34878D82A}">
                    <a16:rowId xmlns:a16="http://schemas.microsoft.com/office/drawing/2014/main" val="1928907057"/>
                  </a:ext>
                </a:extLst>
              </a:tr>
            </a:tbl>
          </a:graphicData>
        </a:graphic>
      </p:graphicFrame>
    </p:spTree>
    <p:extLst>
      <p:ext uri="{BB962C8B-B14F-4D97-AF65-F5344CB8AC3E}">
        <p14:creationId xmlns:p14="http://schemas.microsoft.com/office/powerpoint/2010/main" val="2124095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D38668F-BDD2-5BB3-74C7-8B8DFF3A2E8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
        <p:nvSpPr>
          <p:cNvPr id="6" name="TextBox 5">
            <a:extLst>
              <a:ext uri="{FF2B5EF4-FFF2-40B4-BE49-F238E27FC236}">
                <a16:creationId xmlns:a16="http://schemas.microsoft.com/office/drawing/2014/main" id="{A5C9C824-EBDF-0B01-9B5B-E0D7348DB3D0}"/>
              </a:ext>
            </a:extLst>
          </p:cNvPr>
          <p:cNvSpPr txBox="1"/>
          <p:nvPr/>
        </p:nvSpPr>
        <p:spPr>
          <a:xfrm>
            <a:off x="436033" y="2030342"/>
            <a:ext cx="8271933" cy="738664"/>
          </a:xfrm>
          <a:prstGeom prst="rect">
            <a:avLst/>
          </a:prstGeom>
          <a:noFill/>
        </p:spPr>
        <p:txBody>
          <a:bodyPr wrap="square">
            <a:spAutoFit/>
          </a:bodyPr>
          <a:lstStyle/>
          <a:p>
            <a:pPr algn="ctr"/>
            <a:r>
              <a:rPr lang="en-US" sz="1400" b="1" i="1" dirty="0">
                <a:solidFill>
                  <a:srgbClr val="3B82F6"/>
                </a:solidFill>
                <a:latin typeface="Times New Roman" panose="02020603050405020304" pitchFamily="18" charset="0"/>
                <a:cs typeface="Times New Roman" panose="02020603050405020304" pitchFamily="18" charset="0"/>
              </a:rPr>
              <a:t>Research Gap Identified:  No existing solution provides a unified, multi-cloud NHI governance platform that combines automated discovery, ML-based risk scoring, policy enforcement (SOC2 / ISO 27001), and one-click credential rotation through a real-time dashboard.</a:t>
            </a:r>
          </a:p>
        </p:txBody>
      </p:sp>
    </p:spTree>
    <p:extLst>
      <p:ext uri="{BB962C8B-B14F-4D97-AF65-F5344CB8AC3E}">
        <p14:creationId xmlns:p14="http://schemas.microsoft.com/office/powerpoint/2010/main" val="4416388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2"/>
        <p:cNvGrpSpPr/>
        <p:nvPr/>
      </p:nvGrpSpPr>
      <p:grpSpPr>
        <a:xfrm>
          <a:off x="0" y="0"/>
          <a:ext cx="0" cy="0"/>
          <a:chOff x="0" y="0"/>
          <a:chExt cx="0" cy="0"/>
        </a:xfrm>
      </p:grpSpPr>
      <p:sp>
        <p:nvSpPr>
          <p:cNvPr id="93" name="Google Shape;93;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8</a:t>
            </a:fld>
            <a:endParaRPr/>
          </a:p>
        </p:txBody>
      </p:sp>
      <p:sp>
        <p:nvSpPr>
          <p:cNvPr id="95" name="Google Shape;95;p16"/>
          <p:cNvSpPr/>
          <p:nvPr/>
        </p:nvSpPr>
        <p:spPr>
          <a:xfrm>
            <a:off x="3512185" y="4483735"/>
            <a:ext cx="3188335"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200" b="0" i="0" u="none" strike="noStrike" cap="none">
                <a:solidFill>
                  <a:srgbClr val="888888"/>
                </a:solidFill>
                <a:latin typeface="Arial"/>
                <a:ea typeface="Arial"/>
                <a:cs typeface="Arial"/>
                <a:sym typeface="Arial"/>
              </a:rPr>
              <a:t>RV COLLEGE OF ENGINEERING</a:t>
            </a:r>
            <a:endParaRPr/>
          </a:p>
        </p:txBody>
      </p:sp>
      <p:sp>
        <p:nvSpPr>
          <p:cNvPr id="96" name="Google Shape;96;p16"/>
          <p:cNvSpPr txBox="1">
            <a:spLocks noGrp="1"/>
          </p:cNvSpPr>
          <p:nvPr>
            <p:ph type="title"/>
          </p:nvPr>
        </p:nvSpPr>
        <p:spPr>
          <a:xfrm>
            <a:off x="1948909" y="172463"/>
            <a:ext cx="4751612" cy="540337"/>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US" sz="2000" b="1" dirty="0">
                <a:solidFill>
                  <a:srgbClr val="083C92"/>
                </a:solidFill>
                <a:latin typeface="Bookman Old Style"/>
                <a:ea typeface="Bookman Old Style"/>
                <a:cs typeface="Bookman Old Style"/>
                <a:sym typeface="Bookman Old Style"/>
              </a:rPr>
              <a:t>Motivation</a:t>
            </a:r>
            <a:endParaRPr sz="2000" b="1" dirty="0">
              <a:solidFill>
                <a:srgbClr val="083C92"/>
              </a:solidFill>
              <a:latin typeface="Bookman Old Style"/>
              <a:ea typeface="Bookman Old Style"/>
              <a:cs typeface="Bookman Old Style"/>
              <a:sym typeface="Bookman Old Style"/>
            </a:endParaRPr>
          </a:p>
        </p:txBody>
      </p:sp>
      <p:graphicFrame>
        <p:nvGraphicFramePr>
          <p:cNvPr id="97" name="Google Shape;97;p16"/>
          <p:cNvGraphicFramePr/>
          <p:nvPr/>
        </p:nvGraphicFramePr>
        <p:xfrm>
          <a:off x="311150" y="2708275"/>
          <a:ext cx="8521700" cy="304810"/>
        </p:xfrm>
        <a:graphic>
          <a:graphicData uri="http://schemas.openxmlformats.org/drawingml/2006/table">
            <a:tbl>
              <a:tblPr>
                <a:noFill/>
                <a:tableStyleId>{E87FED87-6CF3-4087-AA9B-566F0D66C604}</a:tableStyleId>
              </a:tblPr>
              <a:tblGrid>
                <a:gridCol w="8521700">
                  <a:extLst>
                    <a:ext uri="{9D8B030D-6E8A-4147-A177-3AD203B41FA5}">
                      <a16:colId xmlns:a16="http://schemas.microsoft.com/office/drawing/2014/main" val="20000"/>
                    </a:ext>
                  </a:extLst>
                </a:gridCol>
              </a:tblGrid>
              <a:tr h="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pSp>
        <p:nvGrpSpPr>
          <p:cNvPr id="18" name="Group 17">
            <a:extLst>
              <a:ext uri="{FF2B5EF4-FFF2-40B4-BE49-F238E27FC236}">
                <a16:creationId xmlns:a16="http://schemas.microsoft.com/office/drawing/2014/main" id="{E37DE606-6B5C-3DE6-72A1-B4B163F43C2C}"/>
              </a:ext>
            </a:extLst>
          </p:cNvPr>
          <p:cNvGrpSpPr/>
          <p:nvPr/>
        </p:nvGrpSpPr>
        <p:grpSpPr>
          <a:xfrm>
            <a:off x="122841" y="880685"/>
            <a:ext cx="4775215" cy="4104704"/>
            <a:chOff x="256032" y="1143000"/>
            <a:chExt cx="5513654" cy="5230368"/>
          </a:xfrm>
        </p:grpSpPr>
        <p:sp>
          <p:nvSpPr>
            <p:cNvPr id="2" name="Rectangle 1">
              <a:extLst>
                <a:ext uri="{FF2B5EF4-FFF2-40B4-BE49-F238E27FC236}">
                  <a16:creationId xmlns:a16="http://schemas.microsoft.com/office/drawing/2014/main" id="{2072B857-B6B7-C9AA-1A76-0AD532016A54}"/>
                </a:ext>
              </a:extLst>
            </p:cNvPr>
            <p:cNvSpPr/>
            <p:nvPr/>
          </p:nvSpPr>
          <p:spPr>
            <a:xfrm>
              <a:off x="283286" y="1161288"/>
              <a:ext cx="5486400" cy="52120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7" name="Group 16">
              <a:extLst>
                <a:ext uri="{FF2B5EF4-FFF2-40B4-BE49-F238E27FC236}">
                  <a16:creationId xmlns:a16="http://schemas.microsoft.com/office/drawing/2014/main" id="{28FE4ABF-50E9-28B0-0216-5B284F6536FF}"/>
                </a:ext>
              </a:extLst>
            </p:cNvPr>
            <p:cNvGrpSpPr/>
            <p:nvPr/>
          </p:nvGrpSpPr>
          <p:grpSpPr>
            <a:xfrm>
              <a:off x="256032" y="1143000"/>
              <a:ext cx="5486400" cy="4807613"/>
              <a:chOff x="256032" y="1143000"/>
              <a:chExt cx="5486400" cy="4807613"/>
            </a:xfrm>
          </p:grpSpPr>
          <p:sp>
            <p:nvSpPr>
              <p:cNvPr id="3" name="Rectangle 2">
                <a:extLst>
                  <a:ext uri="{FF2B5EF4-FFF2-40B4-BE49-F238E27FC236}">
                    <a16:creationId xmlns:a16="http://schemas.microsoft.com/office/drawing/2014/main" id="{79D774AD-AB9E-EBBD-E20A-3E24C20F9F32}"/>
                  </a:ext>
                </a:extLst>
              </p:cNvPr>
              <p:cNvSpPr/>
              <p:nvPr/>
            </p:nvSpPr>
            <p:spPr>
              <a:xfrm>
                <a:off x="256032" y="1143000"/>
                <a:ext cx="5486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3E9EA6FC-1BB6-81C6-0A42-5D39411E276A}"/>
                  </a:ext>
                </a:extLst>
              </p:cNvPr>
              <p:cNvSpPr txBox="1"/>
              <p:nvPr/>
            </p:nvSpPr>
            <p:spPr>
              <a:xfrm>
                <a:off x="365760" y="1188720"/>
                <a:ext cx="5303520" cy="365760"/>
              </a:xfrm>
              <a:prstGeom prst="rect">
                <a:avLst/>
              </a:prstGeom>
              <a:noFill/>
            </p:spPr>
            <p:txBody>
              <a:bodyPr wrap="square">
                <a:spAutoFit/>
              </a:bodyPr>
              <a:lstStyle/>
              <a:p>
                <a:pPr algn="l"/>
                <a:r>
                  <a:rPr sz="1400" b="1" i="0" dirty="0">
                    <a:solidFill>
                      <a:srgbClr val="3B82F6"/>
                    </a:solidFill>
                    <a:latin typeface="Calibri"/>
                  </a:rPr>
                  <a:t>Key Drivers</a:t>
                </a:r>
              </a:p>
            </p:txBody>
          </p:sp>
          <p:sp>
            <p:nvSpPr>
              <p:cNvPr id="6" name="TextBox 5">
                <a:extLst>
                  <a:ext uri="{FF2B5EF4-FFF2-40B4-BE49-F238E27FC236}">
                    <a16:creationId xmlns:a16="http://schemas.microsoft.com/office/drawing/2014/main" id="{F0E47B77-27A4-28E4-672C-05EF127284FD}"/>
                  </a:ext>
                </a:extLst>
              </p:cNvPr>
              <p:cNvSpPr txBox="1"/>
              <p:nvPr/>
            </p:nvSpPr>
            <p:spPr>
              <a:xfrm>
                <a:off x="396355" y="1842234"/>
                <a:ext cx="4754880" cy="274320"/>
              </a:xfrm>
              <a:prstGeom prst="rect">
                <a:avLst/>
              </a:prstGeom>
              <a:noFill/>
            </p:spPr>
            <p:txBody>
              <a:bodyPr wrap="square">
                <a:spAutoFit/>
              </a:bodyPr>
              <a:lstStyle/>
              <a:p>
                <a:pPr algn="l"/>
                <a:r>
                  <a:rPr sz="1100" b="1" i="0" dirty="0">
                    <a:solidFill>
                      <a:srgbClr val="3B82F6"/>
                    </a:solidFill>
                    <a:latin typeface="Calibri"/>
                  </a:rPr>
                  <a:t>CRITICAL RISK</a:t>
                </a:r>
              </a:p>
            </p:txBody>
          </p:sp>
          <p:sp>
            <p:nvSpPr>
              <p:cNvPr id="7" name="TextBox 6">
                <a:extLst>
                  <a:ext uri="{FF2B5EF4-FFF2-40B4-BE49-F238E27FC236}">
                    <a16:creationId xmlns:a16="http://schemas.microsoft.com/office/drawing/2014/main" id="{972422F7-38A5-0BFE-B85B-3696A635BBB6}"/>
                  </a:ext>
                </a:extLst>
              </p:cNvPr>
              <p:cNvSpPr txBox="1"/>
              <p:nvPr/>
            </p:nvSpPr>
            <p:spPr>
              <a:xfrm>
                <a:off x="397585" y="2149041"/>
                <a:ext cx="5257800" cy="529443"/>
              </a:xfrm>
              <a:prstGeom prst="rect">
                <a:avLst/>
              </a:prstGeom>
              <a:noFill/>
            </p:spPr>
            <p:txBody>
              <a:bodyPr wrap="square">
                <a:spAutoFit/>
              </a:bodyPr>
              <a:lstStyle/>
              <a:p>
                <a:pPr algn="l"/>
                <a:r>
                  <a:rPr sz="1050" b="0" i="0" dirty="0">
                    <a:solidFill>
                      <a:srgbClr val="94A3B8"/>
                    </a:solidFill>
                    <a:latin typeface="Times New Roman" panose="02020603050405020304" pitchFamily="18" charset="0"/>
                    <a:cs typeface="Times New Roman" panose="02020603050405020304" pitchFamily="18" charset="0"/>
                  </a:rPr>
                  <a:t>Unrotated credentials are involved in 80 %+ of cloud breaches (Verizon DBIR 2023). A single stale GitHub PAT can expose entire CI/CD pipelines.</a:t>
                </a:r>
              </a:p>
            </p:txBody>
          </p:sp>
          <p:sp>
            <p:nvSpPr>
              <p:cNvPr id="8" name="TextBox 7">
                <a:extLst>
                  <a:ext uri="{FF2B5EF4-FFF2-40B4-BE49-F238E27FC236}">
                    <a16:creationId xmlns:a16="http://schemas.microsoft.com/office/drawing/2014/main" id="{8E9D0EEE-CCEC-5E0A-D9B2-6454A7670F04}"/>
                  </a:ext>
                </a:extLst>
              </p:cNvPr>
              <p:cNvSpPr txBox="1"/>
              <p:nvPr/>
            </p:nvSpPr>
            <p:spPr>
              <a:xfrm>
                <a:off x="347473" y="2633472"/>
                <a:ext cx="457200" cy="431398"/>
              </a:xfrm>
              <a:prstGeom prst="rect">
                <a:avLst/>
              </a:prstGeom>
              <a:noFill/>
            </p:spPr>
            <p:txBody>
              <a:bodyPr wrap="square">
                <a:spAutoFit/>
              </a:bodyPr>
              <a:lstStyle/>
              <a:p>
                <a:pPr algn="l"/>
                <a:endParaRPr sz="1600" b="0" i="0" dirty="0">
                  <a:solidFill>
                    <a:srgbClr val="FFFFFF"/>
                  </a:solidFill>
                  <a:latin typeface="Calibri"/>
                </a:endParaRPr>
              </a:p>
            </p:txBody>
          </p:sp>
          <p:sp>
            <p:nvSpPr>
              <p:cNvPr id="9" name="TextBox 8">
                <a:extLst>
                  <a:ext uri="{FF2B5EF4-FFF2-40B4-BE49-F238E27FC236}">
                    <a16:creationId xmlns:a16="http://schemas.microsoft.com/office/drawing/2014/main" id="{77C2E4F8-BF38-9BFE-2153-28F6A516E916}"/>
                  </a:ext>
                </a:extLst>
              </p:cNvPr>
              <p:cNvSpPr txBox="1"/>
              <p:nvPr/>
            </p:nvSpPr>
            <p:spPr>
              <a:xfrm>
                <a:off x="362288" y="2762206"/>
                <a:ext cx="4754880" cy="274320"/>
              </a:xfrm>
              <a:prstGeom prst="rect">
                <a:avLst/>
              </a:prstGeom>
              <a:noFill/>
            </p:spPr>
            <p:txBody>
              <a:bodyPr wrap="square">
                <a:spAutoFit/>
              </a:bodyPr>
              <a:lstStyle/>
              <a:p>
                <a:pPr algn="l"/>
                <a:r>
                  <a:rPr sz="1100" b="1" i="0" dirty="0">
                    <a:solidFill>
                      <a:srgbClr val="3B82F6"/>
                    </a:solidFill>
                    <a:latin typeface="Calibri"/>
                  </a:rPr>
                  <a:t>SCALE PROBLEM</a:t>
                </a:r>
              </a:p>
            </p:txBody>
          </p:sp>
          <p:sp>
            <p:nvSpPr>
              <p:cNvPr id="10" name="TextBox 9">
                <a:extLst>
                  <a:ext uri="{FF2B5EF4-FFF2-40B4-BE49-F238E27FC236}">
                    <a16:creationId xmlns:a16="http://schemas.microsoft.com/office/drawing/2014/main" id="{3E7B84CF-16AC-5B1F-EC33-6B2CE38D8561}"/>
                  </a:ext>
                </a:extLst>
              </p:cNvPr>
              <p:cNvSpPr txBox="1"/>
              <p:nvPr/>
            </p:nvSpPr>
            <p:spPr>
              <a:xfrm>
                <a:off x="347471" y="3079668"/>
                <a:ext cx="5257800" cy="735338"/>
              </a:xfrm>
              <a:prstGeom prst="rect">
                <a:avLst/>
              </a:prstGeom>
              <a:noFill/>
            </p:spPr>
            <p:txBody>
              <a:bodyPr wrap="square">
                <a:spAutoFit/>
              </a:bodyPr>
              <a:lstStyle/>
              <a:p>
                <a:pPr algn="l"/>
                <a:r>
                  <a:rPr sz="1050" b="0" i="0" dirty="0">
                    <a:solidFill>
                      <a:srgbClr val="94A3B8"/>
                    </a:solidFill>
                    <a:latin typeface="Times New Roman" panose="02020603050405020304" pitchFamily="18" charset="0"/>
                    <a:cs typeface="Times New Roman" panose="02020603050405020304" pitchFamily="18" charset="0"/>
                  </a:rPr>
                  <a:t>A typical enterprise has 45× more NHIs than human identities. Honeywell's GitHub </a:t>
                </a:r>
                <a:r>
                  <a:rPr sz="1050" b="0" i="0" dirty="0" err="1">
                    <a:solidFill>
                      <a:srgbClr val="94A3B8"/>
                    </a:solidFill>
                    <a:latin typeface="Times New Roman" panose="02020603050405020304" pitchFamily="18" charset="0"/>
                    <a:cs typeface="Times New Roman" panose="02020603050405020304" pitchFamily="18" charset="0"/>
                  </a:rPr>
                  <a:t>organisation</a:t>
                </a:r>
                <a:r>
                  <a:rPr sz="1050" b="0" i="0" dirty="0">
                    <a:solidFill>
                      <a:srgbClr val="94A3B8"/>
                    </a:solidFill>
                    <a:latin typeface="Times New Roman" panose="02020603050405020304" pitchFamily="18" charset="0"/>
                    <a:cs typeface="Times New Roman" panose="02020603050405020304" pitchFamily="18" charset="0"/>
                  </a:rPr>
                  <a:t> alone manages thousands of deploy keys, Actions secrets, and service-principal credentials.</a:t>
                </a:r>
              </a:p>
            </p:txBody>
          </p:sp>
          <p:sp>
            <p:nvSpPr>
              <p:cNvPr id="12" name="TextBox 11">
                <a:extLst>
                  <a:ext uri="{FF2B5EF4-FFF2-40B4-BE49-F238E27FC236}">
                    <a16:creationId xmlns:a16="http://schemas.microsoft.com/office/drawing/2014/main" id="{31C6F2E9-F3ED-9AD4-4D4E-F2E31BE90F80}"/>
                  </a:ext>
                </a:extLst>
              </p:cNvPr>
              <p:cNvSpPr txBox="1"/>
              <p:nvPr/>
            </p:nvSpPr>
            <p:spPr>
              <a:xfrm>
                <a:off x="311785" y="3930950"/>
                <a:ext cx="4754880" cy="274320"/>
              </a:xfrm>
              <a:prstGeom prst="rect">
                <a:avLst/>
              </a:prstGeom>
              <a:noFill/>
            </p:spPr>
            <p:txBody>
              <a:bodyPr wrap="square">
                <a:spAutoFit/>
              </a:bodyPr>
              <a:lstStyle/>
              <a:p>
                <a:pPr algn="l"/>
                <a:r>
                  <a:rPr sz="1100" b="1" i="0" dirty="0">
                    <a:solidFill>
                      <a:srgbClr val="3B82F6"/>
                    </a:solidFill>
                    <a:latin typeface="Calibri"/>
                  </a:rPr>
                  <a:t>COMPLIANCE GAP</a:t>
                </a:r>
              </a:p>
            </p:txBody>
          </p:sp>
          <p:sp>
            <p:nvSpPr>
              <p:cNvPr id="13" name="TextBox 12">
                <a:extLst>
                  <a:ext uri="{FF2B5EF4-FFF2-40B4-BE49-F238E27FC236}">
                    <a16:creationId xmlns:a16="http://schemas.microsoft.com/office/drawing/2014/main" id="{9512C117-11CC-3CA3-7C5E-CACBB0F7F22E}"/>
                  </a:ext>
                </a:extLst>
              </p:cNvPr>
              <p:cNvSpPr txBox="1"/>
              <p:nvPr/>
            </p:nvSpPr>
            <p:spPr>
              <a:xfrm>
                <a:off x="347471" y="4234291"/>
                <a:ext cx="5257800" cy="735338"/>
              </a:xfrm>
              <a:prstGeom prst="rect">
                <a:avLst/>
              </a:prstGeom>
              <a:noFill/>
            </p:spPr>
            <p:txBody>
              <a:bodyPr wrap="square">
                <a:spAutoFit/>
              </a:bodyPr>
              <a:lstStyle/>
              <a:p>
                <a:pPr algn="l"/>
                <a:r>
                  <a:rPr sz="1050" b="0" i="0" dirty="0">
                    <a:solidFill>
                      <a:srgbClr val="94A3B8"/>
                    </a:solidFill>
                    <a:latin typeface="Times New Roman" panose="02020603050405020304" pitchFamily="18" charset="0"/>
                    <a:cs typeface="Times New Roman" panose="02020603050405020304" pitchFamily="18" charset="0"/>
                  </a:rPr>
                  <a:t>SOC2 Type II (CC6) and ISO 27001 (A.9) mandate documented credential rotation policies with audit evidence. Manual tracking in spreadsheets fails periodic audits.</a:t>
                </a:r>
              </a:p>
            </p:txBody>
          </p:sp>
          <p:sp>
            <p:nvSpPr>
              <p:cNvPr id="15" name="TextBox 14">
                <a:extLst>
                  <a:ext uri="{FF2B5EF4-FFF2-40B4-BE49-F238E27FC236}">
                    <a16:creationId xmlns:a16="http://schemas.microsoft.com/office/drawing/2014/main" id="{637C0974-D6A8-8FEE-E870-BEF2CE8A7718}"/>
                  </a:ext>
                </a:extLst>
              </p:cNvPr>
              <p:cNvSpPr txBox="1"/>
              <p:nvPr/>
            </p:nvSpPr>
            <p:spPr>
              <a:xfrm>
                <a:off x="311785" y="5106511"/>
                <a:ext cx="4754880" cy="274320"/>
              </a:xfrm>
              <a:prstGeom prst="rect">
                <a:avLst/>
              </a:prstGeom>
              <a:noFill/>
            </p:spPr>
            <p:txBody>
              <a:bodyPr wrap="square">
                <a:spAutoFit/>
              </a:bodyPr>
              <a:lstStyle/>
              <a:p>
                <a:pPr algn="l"/>
                <a:r>
                  <a:rPr sz="1100" b="1" i="0" dirty="0">
                    <a:solidFill>
                      <a:srgbClr val="3B82F6"/>
                    </a:solidFill>
                    <a:latin typeface="Calibri"/>
                  </a:rPr>
                  <a:t>MEAN TIME TO ROTATE</a:t>
                </a:r>
              </a:p>
            </p:txBody>
          </p:sp>
          <p:sp>
            <p:nvSpPr>
              <p:cNvPr id="16" name="TextBox 15">
                <a:extLst>
                  <a:ext uri="{FF2B5EF4-FFF2-40B4-BE49-F238E27FC236}">
                    <a16:creationId xmlns:a16="http://schemas.microsoft.com/office/drawing/2014/main" id="{9BB0597F-40AF-7851-1DD5-F03C56549C0E}"/>
                  </a:ext>
                </a:extLst>
              </p:cNvPr>
              <p:cNvSpPr txBox="1"/>
              <p:nvPr/>
            </p:nvSpPr>
            <p:spPr>
              <a:xfrm>
                <a:off x="320041" y="5421170"/>
                <a:ext cx="5257800" cy="529443"/>
              </a:xfrm>
              <a:prstGeom prst="rect">
                <a:avLst/>
              </a:prstGeom>
              <a:noFill/>
            </p:spPr>
            <p:txBody>
              <a:bodyPr wrap="square">
                <a:spAutoFit/>
              </a:bodyPr>
              <a:lstStyle/>
              <a:p>
                <a:pPr algn="l"/>
                <a:r>
                  <a:rPr sz="1050" b="0" i="0" dirty="0">
                    <a:solidFill>
                      <a:srgbClr val="94A3B8"/>
                    </a:solidFill>
                    <a:latin typeface="Times New Roman" panose="02020603050405020304" pitchFamily="18" charset="0"/>
                    <a:cs typeface="Times New Roman" panose="02020603050405020304" pitchFamily="18" charset="0"/>
                  </a:rPr>
                  <a:t>Without automation, mean time to rotate an expiring credential is 14–30 days. This project reduces it to &lt; 1 minute for GitHub deploy keys and Actions secrets.</a:t>
                </a:r>
              </a:p>
            </p:txBody>
          </p:sp>
        </p:grpSp>
      </p:grpSp>
      <p:grpSp>
        <p:nvGrpSpPr>
          <p:cNvPr id="19" name="Group 18">
            <a:extLst>
              <a:ext uri="{FF2B5EF4-FFF2-40B4-BE49-F238E27FC236}">
                <a16:creationId xmlns:a16="http://schemas.microsoft.com/office/drawing/2014/main" id="{C921A30C-1C43-C948-1999-F6FD70704F49}"/>
              </a:ext>
            </a:extLst>
          </p:cNvPr>
          <p:cNvGrpSpPr/>
          <p:nvPr/>
        </p:nvGrpSpPr>
        <p:grpSpPr>
          <a:xfrm>
            <a:off x="5062762" y="881792"/>
            <a:ext cx="3918800" cy="4060541"/>
            <a:chOff x="5989320" y="1143000"/>
            <a:chExt cx="6004267" cy="5212080"/>
          </a:xfrm>
        </p:grpSpPr>
        <p:sp>
          <p:nvSpPr>
            <p:cNvPr id="20" name="Rectangle 19">
              <a:extLst>
                <a:ext uri="{FF2B5EF4-FFF2-40B4-BE49-F238E27FC236}">
                  <a16:creationId xmlns:a16="http://schemas.microsoft.com/office/drawing/2014/main" id="{D1100A7D-08C8-6CFF-6B53-B9E54866C40E}"/>
                </a:ext>
              </a:extLst>
            </p:cNvPr>
            <p:cNvSpPr/>
            <p:nvPr/>
          </p:nvSpPr>
          <p:spPr>
            <a:xfrm>
              <a:off x="5989320" y="1143000"/>
              <a:ext cx="5943600" cy="5212080"/>
            </a:xfrm>
            <a:prstGeom prst="rect">
              <a:avLst/>
            </a:prstGeom>
            <a:solidFill>
              <a:srgbClr val="0A19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a:extLst>
                <a:ext uri="{FF2B5EF4-FFF2-40B4-BE49-F238E27FC236}">
                  <a16:creationId xmlns:a16="http://schemas.microsoft.com/office/drawing/2014/main" id="{6462442C-CB46-61D8-ECA6-CA5339E6CB89}"/>
                </a:ext>
              </a:extLst>
            </p:cNvPr>
            <p:cNvSpPr/>
            <p:nvPr/>
          </p:nvSpPr>
          <p:spPr>
            <a:xfrm>
              <a:off x="5989320" y="1143000"/>
              <a:ext cx="59436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a:extLst>
                <a:ext uri="{FF2B5EF4-FFF2-40B4-BE49-F238E27FC236}">
                  <a16:creationId xmlns:a16="http://schemas.microsoft.com/office/drawing/2014/main" id="{412028B7-97B4-20FD-D00B-73693D174D6B}"/>
                </a:ext>
              </a:extLst>
            </p:cNvPr>
            <p:cNvSpPr txBox="1"/>
            <p:nvPr/>
          </p:nvSpPr>
          <p:spPr>
            <a:xfrm>
              <a:off x="6099048" y="1188720"/>
              <a:ext cx="5760720" cy="365760"/>
            </a:xfrm>
            <a:prstGeom prst="rect">
              <a:avLst/>
            </a:prstGeom>
            <a:noFill/>
          </p:spPr>
          <p:txBody>
            <a:bodyPr wrap="square">
              <a:spAutoFit/>
            </a:bodyPr>
            <a:lstStyle/>
            <a:p>
              <a:pPr algn="l"/>
              <a:r>
                <a:rPr sz="1400" b="1" i="0">
                  <a:solidFill>
                    <a:srgbClr val="3B82F6"/>
                  </a:solidFill>
                  <a:latin typeface="Calibri"/>
                </a:rPr>
                <a:t>Industry Statistics &amp; Project Context</a:t>
              </a:r>
            </a:p>
          </p:txBody>
        </p:sp>
        <p:sp>
          <p:nvSpPr>
            <p:cNvPr id="23" name="Rectangle 22">
              <a:extLst>
                <a:ext uri="{FF2B5EF4-FFF2-40B4-BE49-F238E27FC236}">
                  <a16:creationId xmlns:a16="http://schemas.microsoft.com/office/drawing/2014/main" id="{38A462E6-6BA1-224D-C902-A850C6ED5C0D}"/>
                </a:ext>
              </a:extLst>
            </p:cNvPr>
            <p:cNvSpPr/>
            <p:nvPr/>
          </p:nvSpPr>
          <p:spPr>
            <a:xfrm>
              <a:off x="6035040" y="1627632"/>
              <a:ext cx="5806440" cy="658368"/>
            </a:xfrm>
            <a:prstGeom prst="rect">
              <a:avLst/>
            </a:prstGeom>
            <a:solidFill>
              <a:srgbClr val="1F4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a:extLst>
                <a:ext uri="{FF2B5EF4-FFF2-40B4-BE49-F238E27FC236}">
                  <a16:creationId xmlns:a16="http://schemas.microsoft.com/office/drawing/2014/main" id="{20986771-B415-002C-BCB2-511FA27D8263}"/>
                </a:ext>
              </a:extLst>
            </p:cNvPr>
            <p:cNvSpPr txBox="1"/>
            <p:nvPr/>
          </p:nvSpPr>
          <p:spPr>
            <a:xfrm>
              <a:off x="6080760" y="1673352"/>
              <a:ext cx="1371600" cy="548640"/>
            </a:xfrm>
            <a:prstGeom prst="rect">
              <a:avLst/>
            </a:prstGeom>
            <a:noFill/>
          </p:spPr>
          <p:txBody>
            <a:bodyPr wrap="square">
              <a:spAutoFit/>
            </a:bodyPr>
            <a:lstStyle/>
            <a:p>
              <a:pPr algn="l"/>
              <a:r>
                <a:rPr sz="2000" b="1" i="0">
                  <a:solidFill>
                    <a:srgbClr val="3B82F6"/>
                  </a:solidFill>
                  <a:latin typeface="Calibri"/>
                </a:rPr>
                <a:t>45 ×</a:t>
              </a:r>
            </a:p>
          </p:txBody>
        </p:sp>
        <p:sp>
          <p:nvSpPr>
            <p:cNvPr id="25" name="TextBox 24">
              <a:extLst>
                <a:ext uri="{FF2B5EF4-FFF2-40B4-BE49-F238E27FC236}">
                  <a16:creationId xmlns:a16="http://schemas.microsoft.com/office/drawing/2014/main" id="{EF5A553B-5481-3D62-A3BA-567D8606AC5B}"/>
                </a:ext>
              </a:extLst>
            </p:cNvPr>
            <p:cNvSpPr txBox="1"/>
            <p:nvPr/>
          </p:nvSpPr>
          <p:spPr>
            <a:xfrm>
              <a:off x="7498079" y="1792224"/>
              <a:ext cx="4251961" cy="553083"/>
            </a:xfrm>
            <a:prstGeom prst="rect">
              <a:avLst/>
            </a:prstGeom>
            <a:noFill/>
          </p:spPr>
          <p:txBody>
            <a:bodyPr wrap="square">
              <a:spAutoFit/>
            </a:bodyPr>
            <a:lstStyle/>
            <a:p>
              <a:pPr algn="l"/>
              <a:r>
                <a:rPr sz="1100" b="0" i="0" dirty="0">
                  <a:solidFill>
                    <a:srgbClr val="FFFFFF"/>
                  </a:solidFill>
                  <a:latin typeface="Times New Roman" panose="02020603050405020304" pitchFamily="18" charset="0"/>
                  <a:cs typeface="Times New Roman" panose="02020603050405020304" pitchFamily="18" charset="0"/>
                </a:rPr>
                <a:t>More NHIs than humans in enterprise environments</a:t>
              </a:r>
            </a:p>
          </p:txBody>
        </p:sp>
        <p:sp>
          <p:nvSpPr>
            <p:cNvPr id="26" name="Rectangle 25">
              <a:extLst>
                <a:ext uri="{FF2B5EF4-FFF2-40B4-BE49-F238E27FC236}">
                  <a16:creationId xmlns:a16="http://schemas.microsoft.com/office/drawing/2014/main" id="{BEA2FEAB-8FAE-60F0-9AD2-D3D68B754ED4}"/>
                </a:ext>
              </a:extLst>
            </p:cNvPr>
            <p:cNvSpPr/>
            <p:nvPr/>
          </p:nvSpPr>
          <p:spPr>
            <a:xfrm>
              <a:off x="6035040" y="2359152"/>
              <a:ext cx="5806440" cy="658368"/>
            </a:xfrm>
            <a:prstGeom prst="rect">
              <a:avLst/>
            </a:prstGeom>
            <a:solidFill>
              <a:srgbClr val="1F4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a:extLst>
                <a:ext uri="{FF2B5EF4-FFF2-40B4-BE49-F238E27FC236}">
                  <a16:creationId xmlns:a16="http://schemas.microsoft.com/office/drawing/2014/main" id="{0E9EC954-205B-4D90-3788-6ACB45BA19EC}"/>
                </a:ext>
              </a:extLst>
            </p:cNvPr>
            <p:cNvSpPr txBox="1"/>
            <p:nvPr/>
          </p:nvSpPr>
          <p:spPr>
            <a:xfrm>
              <a:off x="6080760" y="2404872"/>
              <a:ext cx="1371600" cy="548640"/>
            </a:xfrm>
            <a:prstGeom prst="rect">
              <a:avLst/>
            </a:prstGeom>
            <a:noFill/>
          </p:spPr>
          <p:txBody>
            <a:bodyPr wrap="square">
              <a:spAutoFit/>
            </a:bodyPr>
            <a:lstStyle/>
            <a:p>
              <a:pPr algn="l"/>
              <a:r>
                <a:rPr sz="2000" b="1" i="0">
                  <a:solidFill>
                    <a:srgbClr val="3B82F6"/>
                  </a:solidFill>
                  <a:latin typeface="Calibri"/>
                </a:rPr>
                <a:t>80 %</a:t>
              </a:r>
            </a:p>
          </p:txBody>
        </p:sp>
        <p:sp>
          <p:nvSpPr>
            <p:cNvPr id="28" name="TextBox 27">
              <a:extLst>
                <a:ext uri="{FF2B5EF4-FFF2-40B4-BE49-F238E27FC236}">
                  <a16:creationId xmlns:a16="http://schemas.microsoft.com/office/drawing/2014/main" id="{D107D566-8FD5-E6CC-D72A-6D9E57EA7BB9}"/>
                </a:ext>
              </a:extLst>
            </p:cNvPr>
            <p:cNvSpPr txBox="1"/>
            <p:nvPr/>
          </p:nvSpPr>
          <p:spPr>
            <a:xfrm>
              <a:off x="7498079" y="2523744"/>
              <a:ext cx="4251961" cy="335801"/>
            </a:xfrm>
            <a:prstGeom prst="rect">
              <a:avLst/>
            </a:prstGeom>
            <a:noFill/>
          </p:spPr>
          <p:txBody>
            <a:bodyPr wrap="square">
              <a:spAutoFit/>
            </a:bodyPr>
            <a:lstStyle/>
            <a:p>
              <a:pPr algn="l"/>
              <a:r>
                <a:rPr sz="1100" b="0" i="0" dirty="0">
                  <a:solidFill>
                    <a:srgbClr val="FFFFFF"/>
                  </a:solidFill>
                  <a:latin typeface="Times New Roman" panose="02020603050405020304" pitchFamily="18" charset="0"/>
                  <a:cs typeface="Times New Roman" panose="02020603050405020304" pitchFamily="18" charset="0"/>
                </a:rPr>
                <a:t>Of breaches involve compromised credentials</a:t>
              </a:r>
            </a:p>
          </p:txBody>
        </p:sp>
        <p:sp>
          <p:nvSpPr>
            <p:cNvPr id="29" name="Rectangle 28">
              <a:extLst>
                <a:ext uri="{FF2B5EF4-FFF2-40B4-BE49-F238E27FC236}">
                  <a16:creationId xmlns:a16="http://schemas.microsoft.com/office/drawing/2014/main" id="{1F97736C-D3A9-BEB4-1902-0924436773C7}"/>
                </a:ext>
              </a:extLst>
            </p:cNvPr>
            <p:cNvSpPr/>
            <p:nvPr/>
          </p:nvSpPr>
          <p:spPr>
            <a:xfrm>
              <a:off x="6035040" y="3090672"/>
              <a:ext cx="5806440" cy="658368"/>
            </a:xfrm>
            <a:prstGeom prst="rect">
              <a:avLst/>
            </a:prstGeom>
            <a:solidFill>
              <a:srgbClr val="1F4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a:extLst>
                <a:ext uri="{FF2B5EF4-FFF2-40B4-BE49-F238E27FC236}">
                  <a16:creationId xmlns:a16="http://schemas.microsoft.com/office/drawing/2014/main" id="{C47E134B-F7BF-89C5-92B3-346646C4FBB6}"/>
                </a:ext>
              </a:extLst>
            </p:cNvPr>
            <p:cNvSpPr txBox="1"/>
            <p:nvPr/>
          </p:nvSpPr>
          <p:spPr>
            <a:xfrm>
              <a:off x="6080760" y="3136391"/>
              <a:ext cx="1371600" cy="548640"/>
            </a:xfrm>
            <a:prstGeom prst="rect">
              <a:avLst/>
            </a:prstGeom>
            <a:noFill/>
          </p:spPr>
          <p:txBody>
            <a:bodyPr wrap="square">
              <a:spAutoFit/>
            </a:bodyPr>
            <a:lstStyle/>
            <a:p>
              <a:pPr algn="l"/>
              <a:r>
                <a:rPr sz="2000" b="1" i="0">
                  <a:solidFill>
                    <a:srgbClr val="3B82F6"/>
                  </a:solidFill>
                  <a:latin typeface="Calibri"/>
                </a:rPr>
                <a:t>14 d</a:t>
              </a:r>
            </a:p>
          </p:txBody>
        </p:sp>
        <p:sp>
          <p:nvSpPr>
            <p:cNvPr id="31" name="TextBox 30">
              <a:extLst>
                <a:ext uri="{FF2B5EF4-FFF2-40B4-BE49-F238E27FC236}">
                  <a16:creationId xmlns:a16="http://schemas.microsoft.com/office/drawing/2014/main" id="{AFAE7F8D-88F1-DD52-5A66-219839AFE9D8}"/>
                </a:ext>
              </a:extLst>
            </p:cNvPr>
            <p:cNvSpPr txBox="1"/>
            <p:nvPr/>
          </p:nvSpPr>
          <p:spPr>
            <a:xfrm>
              <a:off x="7498079" y="3255264"/>
              <a:ext cx="4251961" cy="335801"/>
            </a:xfrm>
            <a:prstGeom prst="rect">
              <a:avLst/>
            </a:prstGeom>
            <a:noFill/>
          </p:spPr>
          <p:txBody>
            <a:bodyPr wrap="square">
              <a:spAutoFit/>
            </a:bodyPr>
            <a:lstStyle/>
            <a:p>
              <a:pPr algn="l"/>
              <a:r>
                <a:rPr sz="1100" b="0" i="0" dirty="0">
                  <a:solidFill>
                    <a:srgbClr val="FFFFFF"/>
                  </a:solidFill>
                  <a:latin typeface="Times New Roman" panose="02020603050405020304" pitchFamily="18" charset="0"/>
                  <a:cs typeface="Times New Roman" panose="02020603050405020304" pitchFamily="18" charset="0"/>
                </a:rPr>
                <a:t>Average time to detect an exposed secret</a:t>
              </a:r>
            </a:p>
          </p:txBody>
        </p:sp>
        <p:sp>
          <p:nvSpPr>
            <p:cNvPr id="32" name="Rectangle 31">
              <a:extLst>
                <a:ext uri="{FF2B5EF4-FFF2-40B4-BE49-F238E27FC236}">
                  <a16:creationId xmlns:a16="http://schemas.microsoft.com/office/drawing/2014/main" id="{5110F47B-3D25-27FA-BF40-BC481FFD9312}"/>
                </a:ext>
              </a:extLst>
            </p:cNvPr>
            <p:cNvSpPr/>
            <p:nvPr/>
          </p:nvSpPr>
          <p:spPr>
            <a:xfrm>
              <a:off x="6035040" y="3822191"/>
              <a:ext cx="5806440" cy="658368"/>
            </a:xfrm>
            <a:prstGeom prst="rect">
              <a:avLst/>
            </a:prstGeom>
            <a:solidFill>
              <a:srgbClr val="1F4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a:extLst>
                <a:ext uri="{FF2B5EF4-FFF2-40B4-BE49-F238E27FC236}">
                  <a16:creationId xmlns:a16="http://schemas.microsoft.com/office/drawing/2014/main" id="{D1DD65F5-1E66-31BE-CD11-CC31BA77D7AB}"/>
                </a:ext>
              </a:extLst>
            </p:cNvPr>
            <p:cNvSpPr txBox="1"/>
            <p:nvPr/>
          </p:nvSpPr>
          <p:spPr>
            <a:xfrm>
              <a:off x="6080760" y="3867911"/>
              <a:ext cx="1371600" cy="548640"/>
            </a:xfrm>
            <a:prstGeom prst="rect">
              <a:avLst/>
            </a:prstGeom>
            <a:noFill/>
          </p:spPr>
          <p:txBody>
            <a:bodyPr wrap="square">
              <a:spAutoFit/>
            </a:bodyPr>
            <a:lstStyle/>
            <a:p>
              <a:pPr algn="l"/>
              <a:r>
                <a:rPr sz="2000" b="1" i="0">
                  <a:solidFill>
                    <a:srgbClr val="3B82F6"/>
                  </a:solidFill>
                  <a:latin typeface="Calibri"/>
                </a:rPr>
                <a:t>&lt; 1 m</a:t>
              </a:r>
            </a:p>
          </p:txBody>
        </p:sp>
        <p:sp>
          <p:nvSpPr>
            <p:cNvPr id="34" name="TextBox 33">
              <a:extLst>
                <a:ext uri="{FF2B5EF4-FFF2-40B4-BE49-F238E27FC236}">
                  <a16:creationId xmlns:a16="http://schemas.microsoft.com/office/drawing/2014/main" id="{54BC4B56-A9DF-28A5-F8D3-C9D63D26830C}"/>
                </a:ext>
              </a:extLst>
            </p:cNvPr>
            <p:cNvSpPr txBox="1"/>
            <p:nvPr/>
          </p:nvSpPr>
          <p:spPr>
            <a:xfrm>
              <a:off x="7498078" y="3986783"/>
              <a:ext cx="4251960" cy="335801"/>
            </a:xfrm>
            <a:prstGeom prst="rect">
              <a:avLst/>
            </a:prstGeom>
            <a:noFill/>
          </p:spPr>
          <p:txBody>
            <a:bodyPr wrap="square">
              <a:spAutoFit/>
            </a:bodyPr>
            <a:lstStyle/>
            <a:p>
              <a:pPr algn="l"/>
              <a:r>
                <a:rPr sz="1100" b="0" i="0" dirty="0">
                  <a:solidFill>
                    <a:srgbClr val="FFFFFF"/>
                  </a:solidFill>
                  <a:latin typeface="Times New Roman" panose="02020603050405020304" pitchFamily="18" charset="0"/>
                  <a:cs typeface="Times New Roman" panose="02020603050405020304" pitchFamily="18" charset="0"/>
                </a:rPr>
                <a:t>Rotation</a:t>
              </a:r>
              <a:r>
                <a:rPr sz="1100" b="0" i="0" dirty="0">
                  <a:solidFill>
                    <a:srgbClr val="FFFFFF"/>
                  </a:solidFill>
                  <a:latin typeface="Calibri"/>
                </a:rPr>
                <a:t> time achieved by this platform</a:t>
              </a:r>
            </a:p>
          </p:txBody>
        </p:sp>
        <p:sp>
          <p:nvSpPr>
            <p:cNvPr id="35" name="Rectangle 34">
              <a:extLst>
                <a:ext uri="{FF2B5EF4-FFF2-40B4-BE49-F238E27FC236}">
                  <a16:creationId xmlns:a16="http://schemas.microsoft.com/office/drawing/2014/main" id="{226330CA-12CF-7FDA-520A-797A1B62B38D}"/>
                </a:ext>
              </a:extLst>
            </p:cNvPr>
            <p:cNvSpPr/>
            <p:nvPr/>
          </p:nvSpPr>
          <p:spPr>
            <a:xfrm>
              <a:off x="6035040" y="4553712"/>
              <a:ext cx="5806440" cy="658368"/>
            </a:xfrm>
            <a:prstGeom prst="rect">
              <a:avLst/>
            </a:prstGeom>
            <a:solidFill>
              <a:srgbClr val="1F4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a:extLst>
                <a:ext uri="{FF2B5EF4-FFF2-40B4-BE49-F238E27FC236}">
                  <a16:creationId xmlns:a16="http://schemas.microsoft.com/office/drawing/2014/main" id="{ACF9B928-DB68-DBD6-4736-089A230497B0}"/>
                </a:ext>
              </a:extLst>
            </p:cNvPr>
            <p:cNvSpPr txBox="1"/>
            <p:nvPr/>
          </p:nvSpPr>
          <p:spPr>
            <a:xfrm>
              <a:off x="6080760" y="4599431"/>
              <a:ext cx="1371600" cy="548640"/>
            </a:xfrm>
            <a:prstGeom prst="rect">
              <a:avLst/>
            </a:prstGeom>
            <a:noFill/>
          </p:spPr>
          <p:txBody>
            <a:bodyPr wrap="square">
              <a:spAutoFit/>
            </a:bodyPr>
            <a:lstStyle/>
            <a:p>
              <a:pPr algn="l"/>
              <a:r>
                <a:rPr sz="2000" b="1" i="0">
                  <a:solidFill>
                    <a:srgbClr val="3B82F6"/>
                  </a:solidFill>
                  <a:latin typeface="Calibri"/>
                </a:rPr>
                <a:t>11</a:t>
              </a:r>
            </a:p>
          </p:txBody>
        </p:sp>
        <p:sp>
          <p:nvSpPr>
            <p:cNvPr id="37" name="TextBox 36">
              <a:extLst>
                <a:ext uri="{FF2B5EF4-FFF2-40B4-BE49-F238E27FC236}">
                  <a16:creationId xmlns:a16="http://schemas.microsoft.com/office/drawing/2014/main" id="{0C5DB119-C0D9-F5DC-1B00-EC1061DD3D73}"/>
                </a:ext>
              </a:extLst>
            </p:cNvPr>
            <p:cNvSpPr txBox="1"/>
            <p:nvPr/>
          </p:nvSpPr>
          <p:spPr>
            <a:xfrm>
              <a:off x="7498077" y="4663441"/>
              <a:ext cx="4251960" cy="553083"/>
            </a:xfrm>
            <a:prstGeom prst="rect">
              <a:avLst/>
            </a:prstGeom>
            <a:noFill/>
          </p:spPr>
          <p:txBody>
            <a:bodyPr wrap="square">
              <a:spAutoFit/>
            </a:bodyPr>
            <a:lstStyle/>
            <a:p>
              <a:pPr algn="l"/>
              <a:r>
                <a:rPr sz="1100" b="0" i="0" dirty="0">
                  <a:solidFill>
                    <a:srgbClr val="FFFFFF"/>
                  </a:solidFill>
                  <a:latin typeface="Times New Roman" panose="02020603050405020304" pitchFamily="18" charset="0"/>
                  <a:cs typeface="Times New Roman" panose="02020603050405020304" pitchFamily="18" charset="0"/>
                </a:rPr>
                <a:t>Policy rules automating SOC2 &amp; ISO 27001 controls</a:t>
              </a:r>
            </a:p>
          </p:txBody>
        </p:sp>
        <p:sp>
          <p:nvSpPr>
            <p:cNvPr id="38" name="Rectangle 37">
              <a:extLst>
                <a:ext uri="{FF2B5EF4-FFF2-40B4-BE49-F238E27FC236}">
                  <a16:creationId xmlns:a16="http://schemas.microsoft.com/office/drawing/2014/main" id="{D206D2CC-7C41-8C4B-3198-585D391EC597}"/>
                </a:ext>
              </a:extLst>
            </p:cNvPr>
            <p:cNvSpPr/>
            <p:nvPr/>
          </p:nvSpPr>
          <p:spPr>
            <a:xfrm>
              <a:off x="6035040" y="5285231"/>
              <a:ext cx="5806440" cy="658368"/>
            </a:xfrm>
            <a:prstGeom prst="rect">
              <a:avLst/>
            </a:prstGeom>
            <a:solidFill>
              <a:srgbClr val="1F4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a:extLst>
                <a:ext uri="{FF2B5EF4-FFF2-40B4-BE49-F238E27FC236}">
                  <a16:creationId xmlns:a16="http://schemas.microsoft.com/office/drawing/2014/main" id="{1C91F402-92B0-EE66-C605-C4CA678A00D1}"/>
                </a:ext>
              </a:extLst>
            </p:cNvPr>
            <p:cNvSpPr txBox="1"/>
            <p:nvPr/>
          </p:nvSpPr>
          <p:spPr>
            <a:xfrm>
              <a:off x="6080760" y="5330951"/>
              <a:ext cx="1371600" cy="548640"/>
            </a:xfrm>
            <a:prstGeom prst="rect">
              <a:avLst/>
            </a:prstGeom>
            <a:noFill/>
          </p:spPr>
          <p:txBody>
            <a:bodyPr wrap="square">
              <a:spAutoFit/>
            </a:bodyPr>
            <a:lstStyle/>
            <a:p>
              <a:pPr algn="l"/>
              <a:r>
                <a:rPr sz="2000" b="1" i="0">
                  <a:solidFill>
                    <a:srgbClr val="3B82F6"/>
                  </a:solidFill>
                  <a:latin typeface="Calibri"/>
                </a:rPr>
                <a:t>0</a:t>
              </a:r>
            </a:p>
          </p:txBody>
        </p:sp>
        <p:sp>
          <p:nvSpPr>
            <p:cNvPr id="40" name="TextBox 39">
              <a:extLst>
                <a:ext uri="{FF2B5EF4-FFF2-40B4-BE49-F238E27FC236}">
                  <a16:creationId xmlns:a16="http://schemas.microsoft.com/office/drawing/2014/main" id="{087D79CB-3B20-8E76-DF23-4A5109C63F95}"/>
                </a:ext>
              </a:extLst>
            </p:cNvPr>
            <p:cNvSpPr txBox="1"/>
            <p:nvPr/>
          </p:nvSpPr>
          <p:spPr>
            <a:xfrm>
              <a:off x="7437410" y="5485029"/>
              <a:ext cx="4556177" cy="335801"/>
            </a:xfrm>
            <a:prstGeom prst="rect">
              <a:avLst/>
            </a:prstGeom>
            <a:noFill/>
          </p:spPr>
          <p:txBody>
            <a:bodyPr wrap="square">
              <a:spAutoFit/>
            </a:bodyPr>
            <a:lstStyle/>
            <a:p>
              <a:pPr algn="l"/>
              <a:r>
                <a:rPr sz="1100" b="0" i="0" dirty="0">
                  <a:solidFill>
                    <a:srgbClr val="FFFFFF"/>
                  </a:solidFill>
                  <a:latin typeface="Times New Roman" panose="02020603050405020304" pitchFamily="18" charset="0"/>
                  <a:cs typeface="Times New Roman" panose="02020603050405020304" pitchFamily="18" charset="0"/>
                </a:rPr>
                <a:t>False positives using ML Isolation Forest tuning</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2"/>
        <p:cNvGrpSpPr/>
        <p:nvPr/>
      </p:nvGrpSpPr>
      <p:grpSpPr>
        <a:xfrm>
          <a:off x="0" y="0"/>
          <a:ext cx="0" cy="0"/>
          <a:chOff x="0" y="0"/>
          <a:chExt cx="0" cy="0"/>
        </a:xfrm>
      </p:grpSpPr>
      <p:sp>
        <p:nvSpPr>
          <p:cNvPr id="103" name="Google Shape;103;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9</a:t>
            </a:fld>
            <a:endParaRPr/>
          </a:p>
        </p:txBody>
      </p:sp>
      <p:sp>
        <p:nvSpPr>
          <p:cNvPr id="104" name="Google Shape;104;p17"/>
          <p:cNvSpPr/>
          <p:nvPr/>
        </p:nvSpPr>
        <p:spPr>
          <a:xfrm>
            <a:off x="311785" y="4483735"/>
            <a:ext cx="212598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1200" b="0" i="0" u="none" strike="noStrike" cap="none">
                <a:solidFill>
                  <a:srgbClr val="888888"/>
                </a:solidFill>
                <a:latin typeface="Arial"/>
                <a:ea typeface="Arial"/>
                <a:cs typeface="Arial"/>
                <a:sym typeface="Arial"/>
              </a:rPr>
              <a:t>Date</a:t>
            </a:r>
            <a:endParaRPr/>
          </a:p>
        </p:txBody>
      </p:sp>
      <p:sp>
        <p:nvSpPr>
          <p:cNvPr id="105" name="Google Shape;105;p17"/>
          <p:cNvSpPr/>
          <p:nvPr/>
        </p:nvSpPr>
        <p:spPr>
          <a:xfrm>
            <a:off x="3512185" y="4483735"/>
            <a:ext cx="3188335"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200" b="0" i="0" u="none" strike="noStrike" cap="none">
                <a:solidFill>
                  <a:srgbClr val="888888"/>
                </a:solidFill>
                <a:latin typeface="Arial"/>
                <a:ea typeface="Arial"/>
                <a:cs typeface="Arial"/>
                <a:sym typeface="Arial"/>
              </a:rPr>
              <a:t>RV COLLEGE OF ENGINEERING</a:t>
            </a:r>
            <a:endParaRPr/>
          </a:p>
        </p:txBody>
      </p:sp>
      <p:sp>
        <p:nvSpPr>
          <p:cNvPr id="106" name="Google Shape;106;p17"/>
          <p:cNvSpPr txBox="1">
            <a:spLocks noGrp="1"/>
          </p:cNvSpPr>
          <p:nvPr>
            <p:ph type="title"/>
          </p:nvPr>
        </p:nvSpPr>
        <p:spPr>
          <a:xfrm>
            <a:off x="1948909" y="172463"/>
            <a:ext cx="4751612" cy="540337"/>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US" sz="2000" b="1" dirty="0">
                <a:solidFill>
                  <a:srgbClr val="083C92"/>
                </a:solidFill>
                <a:latin typeface="Bookman Old Style"/>
                <a:ea typeface="Bookman Old Style"/>
                <a:cs typeface="Bookman Old Style"/>
                <a:sym typeface="Bookman Old Style"/>
              </a:rPr>
              <a:t>Problem Statement</a:t>
            </a:r>
            <a:endParaRPr dirty="0"/>
          </a:p>
        </p:txBody>
      </p:sp>
      <p:graphicFrame>
        <p:nvGraphicFramePr>
          <p:cNvPr id="107" name="Google Shape;107;p17"/>
          <p:cNvGraphicFramePr/>
          <p:nvPr/>
        </p:nvGraphicFramePr>
        <p:xfrm>
          <a:off x="311150" y="2708275"/>
          <a:ext cx="8521700" cy="304810"/>
        </p:xfrm>
        <a:graphic>
          <a:graphicData uri="http://schemas.openxmlformats.org/drawingml/2006/table">
            <a:tbl>
              <a:tblPr>
                <a:noFill/>
                <a:tableStyleId>{E87FED87-6CF3-4087-AA9B-566F0D66C604}</a:tableStyleId>
              </a:tblPr>
              <a:tblGrid>
                <a:gridCol w="8521700">
                  <a:extLst>
                    <a:ext uri="{9D8B030D-6E8A-4147-A177-3AD203B41FA5}">
                      <a16:colId xmlns:a16="http://schemas.microsoft.com/office/drawing/2014/main" val="20000"/>
                    </a:ext>
                  </a:extLst>
                </a:gridCol>
              </a:tblGrid>
              <a:tr h="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108" name="Google Shape;108;p17"/>
          <p:cNvGraphicFramePr/>
          <p:nvPr>
            <p:extLst>
              <p:ext uri="{D42A27DB-BD31-4B8C-83A1-F6EECF244321}">
                <p14:modId xmlns:p14="http://schemas.microsoft.com/office/powerpoint/2010/main" val="2798003062"/>
              </p:ext>
            </p:extLst>
          </p:nvPr>
        </p:nvGraphicFramePr>
        <p:xfrm>
          <a:off x="503362" y="1245225"/>
          <a:ext cx="8137275" cy="1463050"/>
        </p:xfrm>
        <a:graphic>
          <a:graphicData uri="http://schemas.openxmlformats.org/drawingml/2006/table">
            <a:tbl>
              <a:tblPr>
                <a:noFill/>
                <a:tableStyleId>{E87FED87-6CF3-4087-AA9B-566F0D66C604}</a:tableStyleId>
              </a:tblPr>
              <a:tblGrid>
                <a:gridCol w="8137275">
                  <a:extLst>
                    <a:ext uri="{9D8B030D-6E8A-4147-A177-3AD203B41FA5}">
                      <a16:colId xmlns:a16="http://schemas.microsoft.com/office/drawing/2014/main" val="20000"/>
                    </a:ext>
                  </a:extLst>
                </a:gridCol>
              </a:tblGrid>
              <a:tr h="1284300">
                <a:tc>
                  <a:txBody>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lang="en-US" sz="1800" b="0" i="1" dirty="0">
                          <a:solidFill>
                            <a:schemeClr val="tx1"/>
                          </a:solidFill>
                          <a:latin typeface="Times New Roman" panose="02020603050405020304" pitchFamily="18" charset="0"/>
                          <a:cs typeface="Times New Roman" panose="02020603050405020304" pitchFamily="18" charset="0"/>
                        </a:rPr>
                        <a:t>"Enterprise </a:t>
                      </a:r>
                      <a:r>
                        <a:rPr lang="en-US" sz="1800" b="0" i="1" dirty="0" err="1">
                          <a:solidFill>
                            <a:schemeClr val="tx1"/>
                          </a:solidFill>
                          <a:latin typeface="Times New Roman" panose="02020603050405020304" pitchFamily="18" charset="0"/>
                          <a:cs typeface="Times New Roman" panose="02020603050405020304" pitchFamily="18" charset="0"/>
                        </a:rPr>
                        <a:t>DevSecOps</a:t>
                      </a:r>
                      <a:r>
                        <a:rPr lang="en-US" sz="1800" b="0" i="1" dirty="0">
                          <a:solidFill>
                            <a:schemeClr val="tx1"/>
                          </a:solidFill>
                          <a:latin typeface="Times New Roman" panose="02020603050405020304" pitchFamily="18" charset="0"/>
                          <a:cs typeface="Times New Roman" panose="02020603050405020304" pitchFamily="18" charset="0"/>
                        </a:rPr>
                        <a:t> teams lack a unified, automated platform to discover, score, monitor, and rotate Non-Human Identities (NHIs) including GitHub deploy keys, Actions secrets, PATs, Azure service principal credentials, Key Vault secrets, and TLS certificates across heterogeneous cloud environments, resulting in undetected credential sprawl, compliance violations, and elevated security risk exposure."</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2"/>
        <p:cNvGrpSpPr/>
        <p:nvPr/>
      </p:nvGrpSpPr>
      <p:grpSpPr>
        <a:xfrm>
          <a:off x="0" y="0"/>
          <a:ext cx="0" cy="0"/>
          <a:chOff x="0" y="0"/>
          <a:chExt cx="0" cy="0"/>
        </a:xfrm>
      </p:grpSpPr>
      <p:sp>
        <p:nvSpPr>
          <p:cNvPr id="113" name="Google Shape;113;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10</a:t>
            </a:fld>
            <a:endParaRPr/>
          </a:p>
        </p:txBody>
      </p:sp>
      <p:sp>
        <p:nvSpPr>
          <p:cNvPr id="114" name="Google Shape;114;p18"/>
          <p:cNvSpPr/>
          <p:nvPr/>
        </p:nvSpPr>
        <p:spPr>
          <a:xfrm>
            <a:off x="311785" y="4483735"/>
            <a:ext cx="212598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1200" b="0" i="0" u="none" strike="noStrike" cap="none">
                <a:solidFill>
                  <a:srgbClr val="888888"/>
                </a:solidFill>
                <a:latin typeface="Arial"/>
                <a:ea typeface="Arial"/>
                <a:cs typeface="Arial"/>
                <a:sym typeface="Arial"/>
              </a:rPr>
              <a:t>Date</a:t>
            </a:r>
            <a:endParaRPr/>
          </a:p>
        </p:txBody>
      </p:sp>
      <p:sp>
        <p:nvSpPr>
          <p:cNvPr id="115" name="Google Shape;115;p18"/>
          <p:cNvSpPr/>
          <p:nvPr/>
        </p:nvSpPr>
        <p:spPr>
          <a:xfrm>
            <a:off x="3512185" y="4483735"/>
            <a:ext cx="3188335"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200" b="0" i="0" u="none" strike="noStrike" cap="none">
                <a:solidFill>
                  <a:srgbClr val="888888"/>
                </a:solidFill>
                <a:latin typeface="Arial"/>
                <a:ea typeface="Arial"/>
                <a:cs typeface="Arial"/>
                <a:sym typeface="Arial"/>
              </a:rPr>
              <a:t>RV COLLEGE OF ENGINEERING</a:t>
            </a:r>
            <a:endParaRPr/>
          </a:p>
        </p:txBody>
      </p:sp>
      <p:sp>
        <p:nvSpPr>
          <p:cNvPr id="116" name="Google Shape;116;p18"/>
          <p:cNvSpPr txBox="1">
            <a:spLocks noGrp="1"/>
          </p:cNvSpPr>
          <p:nvPr>
            <p:ph type="title"/>
          </p:nvPr>
        </p:nvSpPr>
        <p:spPr>
          <a:xfrm>
            <a:off x="1948909" y="172463"/>
            <a:ext cx="4751612" cy="540337"/>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US" sz="2000" b="1" dirty="0">
                <a:solidFill>
                  <a:srgbClr val="083C92"/>
                </a:solidFill>
                <a:latin typeface="Bookman Old Style"/>
                <a:ea typeface="Bookman Old Style"/>
                <a:cs typeface="Bookman Old Style"/>
                <a:sym typeface="Bookman Old Style"/>
              </a:rPr>
              <a:t>Objectives</a:t>
            </a:r>
            <a:endParaRPr dirty="0"/>
          </a:p>
        </p:txBody>
      </p:sp>
      <p:grpSp>
        <p:nvGrpSpPr>
          <p:cNvPr id="33" name="Group 32">
            <a:extLst>
              <a:ext uri="{FF2B5EF4-FFF2-40B4-BE49-F238E27FC236}">
                <a16:creationId xmlns:a16="http://schemas.microsoft.com/office/drawing/2014/main" id="{D585E8F9-FA48-885D-F573-9243AD3B6C70}"/>
              </a:ext>
            </a:extLst>
          </p:cNvPr>
          <p:cNvGrpSpPr/>
          <p:nvPr/>
        </p:nvGrpSpPr>
        <p:grpSpPr>
          <a:xfrm>
            <a:off x="226881" y="1115568"/>
            <a:ext cx="8697113" cy="3855469"/>
            <a:chOff x="256032" y="1115568"/>
            <a:chExt cx="11475720" cy="5133039"/>
          </a:xfrm>
        </p:grpSpPr>
        <p:sp>
          <p:nvSpPr>
            <p:cNvPr id="35" name="Rectangle 34">
              <a:extLst>
                <a:ext uri="{FF2B5EF4-FFF2-40B4-BE49-F238E27FC236}">
                  <a16:creationId xmlns:a16="http://schemas.microsoft.com/office/drawing/2014/main" id="{A5CB6E55-BCEB-36B9-468A-5845A9E88698}"/>
                </a:ext>
              </a:extLst>
            </p:cNvPr>
            <p:cNvSpPr/>
            <p:nvPr/>
          </p:nvSpPr>
          <p:spPr>
            <a:xfrm>
              <a:off x="256032" y="4590288"/>
              <a:ext cx="5669280" cy="162763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latin typeface="Times New Roman" panose="02020603050405020304" pitchFamily="18" charset="0"/>
                <a:cs typeface="Times New Roman" panose="02020603050405020304" pitchFamily="18" charset="0"/>
              </a:endParaRPr>
            </a:p>
          </p:txBody>
        </p:sp>
        <p:sp>
          <p:nvSpPr>
            <p:cNvPr id="36" name="Rectangle 35">
              <a:extLst>
                <a:ext uri="{FF2B5EF4-FFF2-40B4-BE49-F238E27FC236}">
                  <a16:creationId xmlns:a16="http://schemas.microsoft.com/office/drawing/2014/main" id="{552B1D2C-6669-2564-A7C2-D0BD0E0C8366}"/>
                </a:ext>
              </a:extLst>
            </p:cNvPr>
            <p:cNvSpPr/>
            <p:nvPr/>
          </p:nvSpPr>
          <p:spPr>
            <a:xfrm>
              <a:off x="256032" y="4590288"/>
              <a:ext cx="502920" cy="1627632"/>
            </a:xfrm>
            <a:prstGeom prst="rect">
              <a:avLst/>
            </a:prstGeom>
            <a:solidFill>
              <a:srgbClr val="1F4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latin typeface="Times New Roman" panose="02020603050405020304" pitchFamily="18" charset="0"/>
                <a:cs typeface="Times New Roman" panose="02020603050405020304" pitchFamily="18" charset="0"/>
              </a:endParaRPr>
            </a:p>
          </p:txBody>
        </p:sp>
        <p:sp>
          <p:nvSpPr>
            <p:cNvPr id="37" name="Rectangle 36">
              <a:extLst>
                <a:ext uri="{FF2B5EF4-FFF2-40B4-BE49-F238E27FC236}">
                  <a16:creationId xmlns:a16="http://schemas.microsoft.com/office/drawing/2014/main" id="{5CB08223-151F-C387-AEED-41F3C94C177A}"/>
                </a:ext>
              </a:extLst>
            </p:cNvPr>
            <p:cNvSpPr/>
            <p:nvPr/>
          </p:nvSpPr>
          <p:spPr>
            <a:xfrm>
              <a:off x="256032" y="4590288"/>
              <a:ext cx="54864" cy="162763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latin typeface="Times New Roman" panose="02020603050405020304" pitchFamily="18" charset="0"/>
                <a:cs typeface="Times New Roman" panose="02020603050405020304" pitchFamily="18" charset="0"/>
              </a:endParaRPr>
            </a:p>
          </p:txBody>
        </p:sp>
        <p:sp>
          <p:nvSpPr>
            <p:cNvPr id="38" name="Rectangle 37">
              <a:extLst>
                <a:ext uri="{FF2B5EF4-FFF2-40B4-BE49-F238E27FC236}">
                  <a16:creationId xmlns:a16="http://schemas.microsoft.com/office/drawing/2014/main" id="{E3CA4B1C-B746-C1FF-65A3-F699A90AF794}"/>
                </a:ext>
              </a:extLst>
            </p:cNvPr>
            <p:cNvSpPr/>
            <p:nvPr/>
          </p:nvSpPr>
          <p:spPr>
            <a:xfrm>
              <a:off x="6062472" y="4590288"/>
              <a:ext cx="5669280" cy="162763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latin typeface="Times New Roman" panose="02020603050405020304" pitchFamily="18" charset="0"/>
                <a:cs typeface="Times New Roman" panose="02020603050405020304" pitchFamily="18" charset="0"/>
              </a:endParaRPr>
            </a:p>
          </p:txBody>
        </p:sp>
        <p:sp>
          <p:nvSpPr>
            <p:cNvPr id="39" name="Rectangle 38">
              <a:extLst>
                <a:ext uri="{FF2B5EF4-FFF2-40B4-BE49-F238E27FC236}">
                  <a16:creationId xmlns:a16="http://schemas.microsoft.com/office/drawing/2014/main" id="{31DA1F59-7454-CB8A-2A62-07D5C27444F8}"/>
                </a:ext>
              </a:extLst>
            </p:cNvPr>
            <p:cNvSpPr/>
            <p:nvPr/>
          </p:nvSpPr>
          <p:spPr>
            <a:xfrm>
              <a:off x="6062472" y="4590288"/>
              <a:ext cx="502920" cy="1627632"/>
            </a:xfrm>
            <a:prstGeom prst="rect">
              <a:avLst/>
            </a:prstGeom>
            <a:solidFill>
              <a:srgbClr val="1F4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latin typeface="Times New Roman" panose="02020603050405020304" pitchFamily="18" charset="0"/>
                <a:cs typeface="Times New Roman" panose="02020603050405020304" pitchFamily="18" charset="0"/>
              </a:endParaRPr>
            </a:p>
          </p:txBody>
        </p:sp>
        <p:sp>
          <p:nvSpPr>
            <p:cNvPr id="40" name="Rectangle 39">
              <a:extLst>
                <a:ext uri="{FF2B5EF4-FFF2-40B4-BE49-F238E27FC236}">
                  <a16:creationId xmlns:a16="http://schemas.microsoft.com/office/drawing/2014/main" id="{3B733DB1-19C3-7A82-EC65-44B75DF02B31}"/>
                </a:ext>
              </a:extLst>
            </p:cNvPr>
            <p:cNvSpPr/>
            <p:nvPr/>
          </p:nvSpPr>
          <p:spPr>
            <a:xfrm>
              <a:off x="6062472" y="4590288"/>
              <a:ext cx="54864" cy="162763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latin typeface="Times New Roman" panose="02020603050405020304" pitchFamily="18" charset="0"/>
                <a:cs typeface="Times New Roman" panose="02020603050405020304" pitchFamily="18" charset="0"/>
              </a:endParaRPr>
            </a:p>
          </p:txBody>
        </p:sp>
        <p:grpSp>
          <p:nvGrpSpPr>
            <p:cNvPr id="41" name="Group 40">
              <a:extLst>
                <a:ext uri="{FF2B5EF4-FFF2-40B4-BE49-F238E27FC236}">
                  <a16:creationId xmlns:a16="http://schemas.microsoft.com/office/drawing/2014/main" id="{B263AF45-FEFE-F34D-427B-D1B4E79735CA}"/>
                </a:ext>
              </a:extLst>
            </p:cNvPr>
            <p:cNvGrpSpPr/>
            <p:nvPr/>
          </p:nvGrpSpPr>
          <p:grpSpPr>
            <a:xfrm>
              <a:off x="256032" y="1115568"/>
              <a:ext cx="11475720" cy="5133039"/>
              <a:chOff x="256032" y="1115568"/>
              <a:chExt cx="11475720" cy="5133039"/>
            </a:xfrm>
          </p:grpSpPr>
          <p:sp>
            <p:nvSpPr>
              <p:cNvPr id="42" name="Rectangle 41">
                <a:extLst>
                  <a:ext uri="{FF2B5EF4-FFF2-40B4-BE49-F238E27FC236}">
                    <a16:creationId xmlns:a16="http://schemas.microsoft.com/office/drawing/2014/main" id="{337AC5F8-37A6-F162-1246-2E5E769F012B}"/>
                  </a:ext>
                </a:extLst>
              </p:cNvPr>
              <p:cNvSpPr/>
              <p:nvPr/>
            </p:nvSpPr>
            <p:spPr>
              <a:xfrm>
                <a:off x="256032" y="1115568"/>
                <a:ext cx="5669280" cy="162763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latin typeface="Times New Roman" panose="02020603050405020304" pitchFamily="18" charset="0"/>
                  <a:cs typeface="Times New Roman" panose="02020603050405020304" pitchFamily="18" charset="0"/>
                </a:endParaRPr>
              </a:p>
            </p:txBody>
          </p:sp>
          <p:sp>
            <p:nvSpPr>
              <p:cNvPr id="43" name="Rectangle 42">
                <a:extLst>
                  <a:ext uri="{FF2B5EF4-FFF2-40B4-BE49-F238E27FC236}">
                    <a16:creationId xmlns:a16="http://schemas.microsoft.com/office/drawing/2014/main" id="{090DAE0B-9FAA-01B0-38E6-78E062A1740A}"/>
                  </a:ext>
                </a:extLst>
              </p:cNvPr>
              <p:cNvSpPr/>
              <p:nvPr/>
            </p:nvSpPr>
            <p:spPr>
              <a:xfrm>
                <a:off x="256032" y="1115568"/>
                <a:ext cx="502920" cy="1627632"/>
              </a:xfrm>
              <a:prstGeom prst="rect">
                <a:avLst/>
              </a:prstGeom>
              <a:solidFill>
                <a:srgbClr val="1F4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latin typeface="Times New Roman" panose="02020603050405020304" pitchFamily="18" charset="0"/>
                  <a:cs typeface="Times New Roman" panose="02020603050405020304" pitchFamily="18" charset="0"/>
                </a:endParaRPr>
              </a:p>
            </p:txBody>
          </p:sp>
          <p:sp>
            <p:nvSpPr>
              <p:cNvPr id="44" name="Rectangle 43">
                <a:extLst>
                  <a:ext uri="{FF2B5EF4-FFF2-40B4-BE49-F238E27FC236}">
                    <a16:creationId xmlns:a16="http://schemas.microsoft.com/office/drawing/2014/main" id="{01E36D69-AF0C-0A18-A86A-589CE1CC2B7E}"/>
                  </a:ext>
                </a:extLst>
              </p:cNvPr>
              <p:cNvSpPr/>
              <p:nvPr/>
            </p:nvSpPr>
            <p:spPr>
              <a:xfrm>
                <a:off x="256032" y="1115568"/>
                <a:ext cx="54864" cy="162763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latin typeface="Times New Roman" panose="02020603050405020304" pitchFamily="18" charset="0"/>
                  <a:cs typeface="Times New Roman" panose="02020603050405020304" pitchFamily="18" charset="0"/>
                </a:endParaRPr>
              </a:p>
            </p:txBody>
          </p:sp>
          <p:sp>
            <p:nvSpPr>
              <p:cNvPr id="45" name="TextBox 44">
                <a:extLst>
                  <a:ext uri="{FF2B5EF4-FFF2-40B4-BE49-F238E27FC236}">
                    <a16:creationId xmlns:a16="http://schemas.microsoft.com/office/drawing/2014/main" id="{6476963E-2032-5410-2046-63AA99FE5DF1}"/>
                  </a:ext>
                </a:extLst>
              </p:cNvPr>
              <p:cNvSpPr txBox="1"/>
              <p:nvPr/>
            </p:nvSpPr>
            <p:spPr>
              <a:xfrm>
                <a:off x="329184" y="1170431"/>
                <a:ext cx="411480" cy="417780"/>
              </a:xfrm>
              <a:prstGeom prst="rect">
                <a:avLst/>
              </a:prstGeom>
              <a:noFill/>
            </p:spPr>
            <p:txBody>
              <a:bodyPr wrap="square">
                <a:spAutoFit/>
              </a:bodyPr>
              <a:lstStyle/>
              <a:p>
                <a:pPr algn="ctr"/>
                <a:r>
                  <a:rPr sz="1000" b="1" i="0" dirty="0">
                    <a:solidFill>
                      <a:srgbClr val="22C55E"/>
                    </a:solidFill>
                    <a:latin typeface="Times New Roman" panose="02020603050405020304" pitchFamily="18" charset="0"/>
                    <a:cs typeface="Times New Roman" panose="02020603050405020304" pitchFamily="18" charset="0"/>
                  </a:rPr>
                  <a:t>1</a:t>
                </a:r>
              </a:p>
            </p:txBody>
          </p:sp>
          <p:sp>
            <p:nvSpPr>
              <p:cNvPr id="46" name="TextBox 45">
                <a:extLst>
                  <a:ext uri="{FF2B5EF4-FFF2-40B4-BE49-F238E27FC236}">
                    <a16:creationId xmlns:a16="http://schemas.microsoft.com/office/drawing/2014/main" id="{00803AF3-ACEC-77C2-248C-A9EDF8854F07}"/>
                  </a:ext>
                </a:extLst>
              </p:cNvPr>
              <p:cNvSpPr txBox="1"/>
              <p:nvPr/>
            </p:nvSpPr>
            <p:spPr>
              <a:xfrm>
                <a:off x="850392" y="1188721"/>
                <a:ext cx="4956048" cy="417780"/>
              </a:xfrm>
              <a:prstGeom prst="rect">
                <a:avLst/>
              </a:prstGeom>
              <a:noFill/>
            </p:spPr>
            <p:txBody>
              <a:bodyPr wrap="square">
                <a:spAutoFit/>
              </a:bodyPr>
              <a:lstStyle/>
              <a:p>
                <a:pPr algn="l"/>
                <a:r>
                  <a:rPr sz="1000" b="1" i="0">
                    <a:solidFill>
                      <a:srgbClr val="FFFFFF"/>
                    </a:solidFill>
                    <a:latin typeface="Times New Roman" panose="02020603050405020304" pitchFamily="18" charset="0"/>
                    <a:cs typeface="Times New Roman" panose="02020603050405020304" pitchFamily="18" charset="0"/>
                  </a:rPr>
                  <a:t>Automated Multi-Source NHI Discovery</a:t>
                </a:r>
              </a:p>
            </p:txBody>
          </p:sp>
          <p:sp>
            <p:nvSpPr>
              <p:cNvPr id="47" name="TextBox 46">
                <a:extLst>
                  <a:ext uri="{FF2B5EF4-FFF2-40B4-BE49-F238E27FC236}">
                    <a16:creationId xmlns:a16="http://schemas.microsoft.com/office/drawing/2014/main" id="{91384616-EF5D-330E-6918-92FDB2997CC9}"/>
                  </a:ext>
                </a:extLst>
              </p:cNvPr>
              <p:cNvSpPr txBox="1"/>
              <p:nvPr/>
            </p:nvSpPr>
            <p:spPr>
              <a:xfrm>
                <a:off x="850392" y="1572768"/>
                <a:ext cx="4956048" cy="1201119"/>
              </a:xfrm>
              <a:prstGeom prst="rect">
                <a:avLst/>
              </a:prstGeom>
              <a:noFill/>
            </p:spPr>
            <p:txBody>
              <a:bodyPr wrap="square">
                <a:spAutoFit/>
              </a:bodyPr>
              <a:lstStyle/>
              <a:p>
                <a:pPr algn="l"/>
                <a:r>
                  <a:rPr sz="1000" b="0" i="0" dirty="0">
                    <a:solidFill>
                      <a:srgbClr val="94A3B8"/>
                    </a:solidFill>
                    <a:latin typeface="Times New Roman" panose="02020603050405020304" pitchFamily="18" charset="0"/>
                    <a:cs typeface="Times New Roman" panose="02020603050405020304" pitchFamily="18" charset="0"/>
                  </a:rPr>
                  <a:t>Continuously discover all NHIs from GitHub repositories (deploy keys, Actions secrets, PATs), Azure Active Directory (service principals, managed identities), Azure Key Vault (secrets, certificates, keys), and domain TLS certificates — without manual enumeration.</a:t>
                </a:r>
              </a:p>
            </p:txBody>
          </p:sp>
          <p:sp>
            <p:nvSpPr>
              <p:cNvPr id="48" name="Rectangle 47">
                <a:extLst>
                  <a:ext uri="{FF2B5EF4-FFF2-40B4-BE49-F238E27FC236}">
                    <a16:creationId xmlns:a16="http://schemas.microsoft.com/office/drawing/2014/main" id="{7668A38C-9EE1-6B77-0BF1-6CD8329BBC6F}"/>
                  </a:ext>
                </a:extLst>
              </p:cNvPr>
              <p:cNvSpPr/>
              <p:nvPr/>
            </p:nvSpPr>
            <p:spPr>
              <a:xfrm>
                <a:off x="6062472" y="1115568"/>
                <a:ext cx="5669280" cy="162763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latin typeface="Times New Roman" panose="02020603050405020304" pitchFamily="18" charset="0"/>
                  <a:cs typeface="Times New Roman" panose="02020603050405020304" pitchFamily="18" charset="0"/>
                </a:endParaRPr>
              </a:p>
            </p:txBody>
          </p:sp>
          <p:sp>
            <p:nvSpPr>
              <p:cNvPr id="49" name="Rectangle 48">
                <a:extLst>
                  <a:ext uri="{FF2B5EF4-FFF2-40B4-BE49-F238E27FC236}">
                    <a16:creationId xmlns:a16="http://schemas.microsoft.com/office/drawing/2014/main" id="{F23A3DFF-1B2B-93C7-D707-9A9727403CAD}"/>
                  </a:ext>
                </a:extLst>
              </p:cNvPr>
              <p:cNvSpPr/>
              <p:nvPr/>
            </p:nvSpPr>
            <p:spPr>
              <a:xfrm>
                <a:off x="6062472" y="1115568"/>
                <a:ext cx="502920" cy="1627632"/>
              </a:xfrm>
              <a:prstGeom prst="rect">
                <a:avLst/>
              </a:prstGeom>
              <a:solidFill>
                <a:srgbClr val="1F4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latin typeface="Times New Roman" panose="02020603050405020304" pitchFamily="18" charset="0"/>
                  <a:cs typeface="Times New Roman" panose="02020603050405020304" pitchFamily="18" charset="0"/>
                </a:endParaRPr>
              </a:p>
            </p:txBody>
          </p:sp>
          <p:sp>
            <p:nvSpPr>
              <p:cNvPr id="50" name="Rectangle 49">
                <a:extLst>
                  <a:ext uri="{FF2B5EF4-FFF2-40B4-BE49-F238E27FC236}">
                    <a16:creationId xmlns:a16="http://schemas.microsoft.com/office/drawing/2014/main" id="{5F9E02A4-59D1-621E-E8EC-DBF7D5C6FFF5}"/>
                  </a:ext>
                </a:extLst>
              </p:cNvPr>
              <p:cNvSpPr/>
              <p:nvPr/>
            </p:nvSpPr>
            <p:spPr>
              <a:xfrm>
                <a:off x="6062472" y="1115568"/>
                <a:ext cx="54864" cy="162763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latin typeface="Times New Roman" panose="02020603050405020304" pitchFamily="18" charset="0"/>
                  <a:cs typeface="Times New Roman" panose="02020603050405020304" pitchFamily="18" charset="0"/>
                </a:endParaRPr>
              </a:p>
            </p:txBody>
          </p:sp>
          <p:sp>
            <p:nvSpPr>
              <p:cNvPr id="51" name="TextBox 50">
                <a:extLst>
                  <a:ext uri="{FF2B5EF4-FFF2-40B4-BE49-F238E27FC236}">
                    <a16:creationId xmlns:a16="http://schemas.microsoft.com/office/drawing/2014/main" id="{55A3550F-6BEA-2612-47A8-7CCBEFDFB55C}"/>
                  </a:ext>
                </a:extLst>
              </p:cNvPr>
              <p:cNvSpPr txBox="1"/>
              <p:nvPr/>
            </p:nvSpPr>
            <p:spPr>
              <a:xfrm>
                <a:off x="6135624" y="1170431"/>
                <a:ext cx="411480" cy="417780"/>
              </a:xfrm>
              <a:prstGeom prst="rect">
                <a:avLst/>
              </a:prstGeom>
              <a:noFill/>
            </p:spPr>
            <p:txBody>
              <a:bodyPr wrap="square">
                <a:spAutoFit/>
              </a:bodyPr>
              <a:lstStyle/>
              <a:p>
                <a:pPr algn="ctr"/>
                <a:r>
                  <a:rPr sz="1000" b="1" i="0" dirty="0">
                    <a:solidFill>
                      <a:srgbClr val="3B82F6"/>
                    </a:solidFill>
                    <a:latin typeface="Times New Roman" panose="02020603050405020304" pitchFamily="18" charset="0"/>
                    <a:cs typeface="Times New Roman" panose="02020603050405020304" pitchFamily="18" charset="0"/>
                  </a:rPr>
                  <a:t>2</a:t>
                </a:r>
              </a:p>
            </p:txBody>
          </p:sp>
          <p:sp>
            <p:nvSpPr>
              <p:cNvPr id="52" name="TextBox 51">
                <a:extLst>
                  <a:ext uri="{FF2B5EF4-FFF2-40B4-BE49-F238E27FC236}">
                    <a16:creationId xmlns:a16="http://schemas.microsoft.com/office/drawing/2014/main" id="{18EF26A0-C61B-9947-7FD8-B7CFF4168B95}"/>
                  </a:ext>
                </a:extLst>
              </p:cNvPr>
              <p:cNvSpPr txBox="1"/>
              <p:nvPr/>
            </p:nvSpPr>
            <p:spPr>
              <a:xfrm>
                <a:off x="6656832" y="1188721"/>
                <a:ext cx="4956048" cy="417780"/>
              </a:xfrm>
              <a:prstGeom prst="rect">
                <a:avLst/>
              </a:prstGeom>
              <a:noFill/>
            </p:spPr>
            <p:txBody>
              <a:bodyPr wrap="square">
                <a:spAutoFit/>
              </a:bodyPr>
              <a:lstStyle/>
              <a:p>
                <a:pPr algn="l"/>
                <a:r>
                  <a:rPr sz="1000" b="1" i="0">
                    <a:solidFill>
                      <a:srgbClr val="FFFFFF"/>
                    </a:solidFill>
                    <a:latin typeface="Times New Roman" panose="02020603050405020304" pitchFamily="18" charset="0"/>
                    <a:cs typeface="Times New Roman" panose="02020603050405020304" pitchFamily="18" charset="0"/>
                  </a:rPr>
                  <a:t>Unified Risk Scoring Engine (0–100)</a:t>
                </a:r>
              </a:p>
            </p:txBody>
          </p:sp>
          <p:sp>
            <p:nvSpPr>
              <p:cNvPr id="53" name="TextBox 52">
                <a:extLst>
                  <a:ext uri="{FF2B5EF4-FFF2-40B4-BE49-F238E27FC236}">
                    <a16:creationId xmlns:a16="http://schemas.microsoft.com/office/drawing/2014/main" id="{289BB04C-165E-55A0-F1B9-955B6CDD993F}"/>
                  </a:ext>
                </a:extLst>
              </p:cNvPr>
              <p:cNvSpPr txBox="1"/>
              <p:nvPr/>
            </p:nvSpPr>
            <p:spPr>
              <a:xfrm>
                <a:off x="6656832" y="1572768"/>
                <a:ext cx="4956048" cy="1201119"/>
              </a:xfrm>
              <a:prstGeom prst="rect">
                <a:avLst/>
              </a:prstGeom>
              <a:noFill/>
            </p:spPr>
            <p:txBody>
              <a:bodyPr wrap="square">
                <a:spAutoFit/>
              </a:bodyPr>
              <a:lstStyle/>
              <a:p>
                <a:pPr algn="l"/>
                <a:r>
                  <a:rPr sz="1000" b="0" i="0">
                    <a:solidFill>
                      <a:srgbClr val="94A3B8"/>
                    </a:solidFill>
                    <a:latin typeface="Times New Roman" panose="02020603050405020304" pitchFamily="18" charset="0"/>
                    <a:cs typeface="Times New Roman" panose="02020603050405020304" pitchFamily="18" charset="0"/>
                  </a:rPr>
                  <a:t>Assign a numeric risk score to every NHI based on credential age, days until expiry, permission scope, dormancy, and contextual factors. Score drives prioritisation and automated rotation thresholds (configurable, default ≥ 70 triggers action).</a:t>
                </a:r>
              </a:p>
            </p:txBody>
          </p:sp>
          <p:sp>
            <p:nvSpPr>
              <p:cNvPr id="54" name="Rectangle 53">
                <a:extLst>
                  <a:ext uri="{FF2B5EF4-FFF2-40B4-BE49-F238E27FC236}">
                    <a16:creationId xmlns:a16="http://schemas.microsoft.com/office/drawing/2014/main" id="{199B3511-E316-211E-6E24-E0B1DFD7DF0C}"/>
                  </a:ext>
                </a:extLst>
              </p:cNvPr>
              <p:cNvSpPr/>
              <p:nvPr/>
            </p:nvSpPr>
            <p:spPr>
              <a:xfrm>
                <a:off x="256032" y="2852928"/>
                <a:ext cx="5669280" cy="162763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latin typeface="Times New Roman" panose="02020603050405020304" pitchFamily="18" charset="0"/>
                  <a:cs typeface="Times New Roman" panose="02020603050405020304" pitchFamily="18" charset="0"/>
                </a:endParaRPr>
              </a:p>
            </p:txBody>
          </p:sp>
          <p:sp>
            <p:nvSpPr>
              <p:cNvPr id="55" name="Rectangle 54">
                <a:extLst>
                  <a:ext uri="{FF2B5EF4-FFF2-40B4-BE49-F238E27FC236}">
                    <a16:creationId xmlns:a16="http://schemas.microsoft.com/office/drawing/2014/main" id="{C1B9AC13-7EFB-B8C0-2D12-134CA9294D94}"/>
                  </a:ext>
                </a:extLst>
              </p:cNvPr>
              <p:cNvSpPr/>
              <p:nvPr/>
            </p:nvSpPr>
            <p:spPr>
              <a:xfrm>
                <a:off x="256032" y="2852928"/>
                <a:ext cx="502920" cy="1627632"/>
              </a:xfrm>
              <a:prstGeom prst="rect">
                <a:avLst/>
              </a:prstGeom>
              <a:solidFill>
                <a:srgbClr val="1F4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latin typeface="Times New Roman" panose="02020603050405020304" pitchFamily="18" charset="0"/>
                  <a:cs typeface="Times New Roman" panose="02020603050405020304" pitchFamily="18" charset="0"/>
                </a:endParaRPr>
              </a:p>
            </p:txBody>
          </p:sp>
          <p:sp>
            <p:nvSpPr>
              <p:cNvPr id="56" name="Rectangle 55">
                <a:extLst>
                  <a:ext uri="{FF2B5EF4-FFF2-40B4-BE49-F238E27FC236}">
                    <a16:creationId xmlns:a16="http://schemas.microsoft.com/office/drawing/2014/main" id="{ED8D73E1-B7D8-8BB8-0196-74F80E38A42D}"/>
                  </a:ext>
                </a:extLst>
              </p:cNvPr>
              <p:cNvSpPr/>
              <p:nvPr/>
            </p:nvSpPr>
            <p:spPr>
              <a:xfrm>
                <a:off x="256032" y="2852928"/>
                <a:ext cx="54864" cy="162763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latin typeface="Times New Roman" panose="02020603050405020304" pitchFamily="18" charset="0"/>
                  <a:cs typeface="Times New Roman" panose="02020603050405020304" pitchFamily="18" charset="0"/>
                </a:endParaRPr>
              </a:p>
            </p:txBody>
          </p:sp>
          <p:sp>
            <p:nvSpPr>
              <p:cNvPr id="57" name="TextBox 56">
                <a:extLst>
                  <a:ext uri="{FF2B5EF4-FFF2-40B4-BE49-F238E27FC236}">
                    <a16:creationId xmlns:a16="http://schemas.microsoft.com/office/drawing/2014/main" id="{0E8610E4-7AA5-7146-AADA-9BFB5426EF61}"/>
                  </a:ext>
                </a:extLst>
              </p:cNvPr>
              <p:cNvSpPr txBox="1"/>
              <p:nvPr/>
            </p:nvSpPr>
            <p:spPr>
              <a:xfrm>
                <a:off x="329184" y="2907792"/>
                <a:ext cx="411480" cy="417780"/>
              </a:xfrm>
              <a:prstGeom prst="rect">
                <a:avLst/>
              </a:prstGeom>
              <a:noFill/>
            </p:spPr>
            <p:txBody>
              <a:bodyPr wrap="square">
                <a:spAutoFit/>
              </a:bodyPr>
              <a:lstStyle/>
              <a:p>
                <a:pPr algn="ctr"/>
                <a:r>
                  <a:rPr sz="1000" b="1" i="0" dirty="0">
                    <a:solidFill>
                      <a:srgbClr val="F59E0B"/>
                    </a:solidFill>
                    <a:latin typeface="Times New Roman" panose="02020603050405020304" pitchFamily="18" charset="0"/>
                    <a:cs typeface="Times New Roman" panose="02020603050405020304" pitchFamily="18" charset="0"/>
                  </a:rPr>
                  <a:t>3</a:t>
                </a:r>
              </a:p>
            </p:txBody>
          </p:sp>
          <p:sp>
            <p:nvSpPr>
              <p:cNvPr id="58" name="TextBox 57">
                <a:extLst>
                  <a:ext uri="{FF2B5EF4-FFF2-40B4-BE49-F238E27FC236}">
                    <a16:creationId xmlns:a16="http://schemas.microsoft.com/office/drawing/2014/main" id="{2B9EA647-1861-25CF-EF02-94B81D7143CE}"/>
                  </a:ext>
                </a:extLst>
              </p:cNvPr>
              <p:cNvSpPr txBox="1"/>
              <p:nvPr/>
            </p:nvSpPr>
            <p:spPr>
              <a:xfrm>
                <a:off x="850392" y="2926080"/>
                <a:ext cx="4956048" cy="417780"/>
              </a:xfrm>
              <a:prstGeom prst="rect">
                <a:avLst/>
              </a:prstGeom>
              <a:noFill/>
            </p:spPr>
            <p:txBody>
              <a:bodyPr wrap="square">
                <a:spAutoFit/>
              </a:bodyPr>
              <a:lstStyle/>
              <a:p>
                <a:pPr algn="l"/>
                <a:r>
                  <a:rPr sz="1000" b="1" i="0">
                    <a:solidFill>
                      <a:srgbClr val="FFFFFF"/>
                    </a:solidFill>
                    <a:latin typeface="Times New Roman" panose="02020603050405020304" pitchFamily="18" charset="0"/>
                    <a:cs typeface="Times New Roman" panose="02020603050405020304" pitchFamily="18" charset="0"/>
                  </a:rPr>
                  <a:t>Policy Enforcement — SOC2 &amp; ISO 27001 Compliance</a:t>
                </a:r>
              </a:p>
            </p:txBody>
          </p:sp>
          <p:sp>
            <p:nvSpPr>
              <p:cNvPr id="59" name="TextBox 58">
                <a:extLst>
                  <a:ext uri="{FF2B5EF4-FFF2-40B4-BE49-F238E27FC236}">
                    <a16:creationId xmlns:a16="http://schemas.microsoft.com/office/drawing/2014/main" id="{ABFD9A12-B7A7-A9CC-2B82-47386F1A8F1B}"/>
                  </a:ext>
                </a:extLst>
              </p:cNvPr>
              <p:cNvSpPr txBox="1"/>
              <p:nvPr/>
            </p:nvSpPr>
            <p:spPr>
              <a:xfrm>
                <a:off x="850392" y="3310128"/>
                <a:ext cx="4956048" cy="1462232"/>
              </a:xfrm>
              <a:prstGeom prst="rect">
                <a:avLst/>
              </a:prstGeom>
              <a:noFill/>
            </p:spPr>
            <p:txBody>
              <a:bodyPr wrap="square">
                <a:spAutoFit/>
              </a:bodyPr>
              <a:lstStyle/>
              <a:p>
                <a:pPr algn="l"/>
                <a:r>
                  <a:rPr sz="1000" b="0" i="0" dirty="0">
                    <a:solidFill>
                      <a:srgbClr val="94A3B8"/>
                    </a:solidFill>
                    <a:latin typeface="Times New Roman" panose="02020603050405020304" pitchFamily="18" charset="0"/>
                    <a:cs typeface="Times New Roman" panose="02020603050405020304" pitchFamily="18" charset="0"/>
                  </a:rPr>
                  <a:t>Evaluate 11 policy rules (R001–R011) covering PAT age, deploy key rotation, secret expiry, certificate lifecycle, admin scope, high-score thresholds, KV secret age, dormant SPs, and orphaned managed identities — mapped to SOC2 CC5/CC6/CC7 and ISO 27001 A.9/A.10/A.12 controls.</a:t>
                </a:r>
              </a:p>
            </p:txBody>
          </p:sp>
          <p:sp>
            <p:nvSpPr>
              <p:cNvPr id="60" name="Rectangle 59">
                <a:extLst>
                  <a:ext uri="{FF2B5EF4-FFF2-40B4-BE49-F238E27FC236}">
                    <a16:creationId xmlns:a16="http://schemas.microsoft.com/office/drawing/2014/main" id="{C0F6496D-34F4-950F-E3CA-B212F862007F}"/>
                  </a:ext>
                </a:extLst>
              </p:cNvPr>
              <p:cNvSpPr/>
              <p:nvPr/>
            </p:nvSpPr>
            <p:spPr>
              <a:xfrm>
                <a:off x="6062472" y="2852928"/>
                <a:ext cx="5669280" cy="162763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latin typeface="Times New Roman" panose="02020603050405020304" pitchFamily="18" charset="0"/>
                  <a:cs typeface="Times New Roman" panose="02020603050405020304" pitchFamily="18" charset="0"/>
                </a:endParaRPr>
              </a:p>
            </p:txBody>
          </p:sp>
          <p:sp>
            <p:nvSpPr>
              <p:cNvPr id="61" name="Rectangle 60">
                <a:extLst>
                  <a:ext uri="{FF2B5EF4-FFF2-40B4-BE49-F238E27FC236}">
                    <a16:creationId xmlns:a16="http://schemas.microsoft.com/office/drawing/2014/main" id="{9C14C14D-A13C-C11F-329B-CE621347D190}"/>
                  </a:ext>
                </a:extLst>
              </p:cNvPr>
              <p:cNvSpPr/>
              <p:nvPr/>
            </p:nvSpPr>
            <p:spPr>
              <a:xfrm>
                <a:off x="6062472" y="2852928"/>
                <a:ext cx="502920" cy="1627632"/>
              </a:xfrm>
              <a:prstGeom prst="rect">
                <a:avLst/>
              </a:prstGeom>
              <a:solidFill>
                <a:srgbClr val="1F4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latin typeface="Times New Roman" panose="02020603050405020304" pitchFamily="18" charset="0"/>
                  <a:cs typeface="Times New Roman" panose="02020603050405020304" pitchFamily="18" charset="0"/>
                </a:endParaRPr>
              </a:p>
            </p:txBody>
          </p:sp>
          <p:sp>
            <p:nvSpPr>
              <p:cNvPr id="62" name="Rectangle 61">
                <a:extLst>
                  <a:ext uri="{FF2B5EF4-FFF2-40B4-BE49-F238E27FC236}">
                    <a16:creationId xmlns:a16="http://schemas.microsoft.com/office/drawing/2014/main" id="{543F0019-6FE4-CB0F-3E3E-16E19B32C8DD}"/>
                  </a:ext>
                </a:extLst>
              </p:cNvPr>
              <p:cNvSpPr/>
              <p:nvPr/>
            </p:nvSpPr>
            <p:spPr>
              <a:xfrm>
                <a:off x="6062472" y="2852928"/>
                <a:ext cx="54864" cy="1627632"/>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latin typeface="Times New Roman" panose="02020603050405020304" pitchFamily="18" charset="0"/>
                  <a:cs typeface="Times New Roman" panose="02020603050405020304" pitchFamily="18" charset="0"/>
                </a:endParaRPr>
              </a:p>
            </p:txBody>
          </p:sp>
          <p:sp>
            <p:nvSpPr>
              <p:cNvPr id="63" name="TextBox 62">
                <a:extLst>
                  <a:ext uri="{FF2B5EF4-FFF2-40B4-BE49-F238E27FC236}">
                    <a16:creationId xmlns:a16="http://schemas.microsoft.com/office/drawing/2014/main" id="{2B4FD79B-DC74-D66F-789E-77D2AD5E041E}"/>
                  </a:ext>
                </a:extLst>
              </p:cNvPr>
              <p:cNvSpPr txBox="1"/>
              <p:nvPr/>
            </p:nvSpPr>
            <p:spPr>
              <a:xfrm>
                <a:off x="6135624" y="2907792"/>
                <a:ext cx="411480" cy="417780"/>
              </a:xfrm>
              <a:prstGeom prst="rect">
                <a:avLst/>
              </a:prstGeom>
              <a:noFill/>
            </p:spPr>
            <p:txBody>
              <a:bodyPr wrap="square">
                <a:spAutoFit/>
              </a:bodyPr>
              <a:lstStyle/>
              <a:p>
                <a:pPr algn="ctr"/>
                <a:r>
                  <a:rPr sz="1000" b="1" i="0" dirty="0">
                    <a:solidFill>
                      <a:srgbClr val="A855F7"/>
                    </a:solidFill>
                    <a:latin typeface="Times New Roman" panose="02020603050405020304" pitchFamily="18" charset="0"/>
                    <a:cs typeface="Times New Roman" panose="02020603050405020304" pitchFamily="18" charset="0"/>
                  </a:rPr>
                  <a:t>4</a:t>
                </a:r>
              </a:p>
            </p:txBody>
          </p:sp>
          <p:sp>
            <p:nvSpPr>
              <p:cNvPr id="64" name="TextBox 63">
                <a:extLst>
                  <a:ext uri="{FF2B5EF4-FFF2-40B4-BE49-F238E27FC236}">
                    <a16:creationId xmlns:a16="http://schemas.microsoft.com/office/drawing/2014/main" id="{683171F1-5EAD-0FF0-B2A0-767135358B20}"/>
                  </a:ext>
                </a:extLst>
              </p:cNvPr>
              <p:cNvSpPr txBox="1"/>
              <p:nvPr/>
            </p:nvSpPr>
            <p:spPr>
              <a:xfrm>
                <a:off x="6656832" y="2926080"/>
                <a:ext cx="4956048" cy="417780"/>
              </a:xfrm>
              <a:prstGeom prst="rect">
                <a:avLst/>
              </a:prstGeom>
              <a:noFill/>
            </p:spPr>
            <p:txBody>
              <a:bodyPr wrap="square">
                <a:spAutoFit/>
              </a:bodyPr>
              <a:lstStyle/>
              <a:p>
                <a:pPr algn="l"/>
                <a:r>
                  <a:rPr sz="1000" b="1" i="0">
                    <a:solidFill>
                      <a:srgbClr val="FFFFFF"/>
                    </a:solidFill>
                    <a:latin typeface="Times New Roman" panose="02020603050405020304" pitchFamily="18" charset="0"/>
                    <a:cs typeface="Times New Roman" panose="02020603050405020304" pitchFamily="18" charset="0"/>
                  </a:rPr>
                  <a:t>One-Click Credential Rotation via REST API</a:t>
                </a:r>
              </a:p>
            </p:txBody>
          </p:sp>
          <p:sp>
            <p:nvSpPr>
              <p:cNvPr id="65" name="TextBox 64">
                <a:extLst>
                  <a:ext uri="{FF2B5EF4-FFF2-40B4-BE49-F238E27FC236}">
                    <a16:creationId xmlns:a16="http://schemas.microsoft.com/office/drawing/2014/main" id="{B5EE6ACA-84CA-941C-BB56-685825B8F777}"/>
                  </a:ext>
                </a:extLst>
              </p:cNvPr>
              <p:cNvSpPr txBox="1"/>
              <p:nvPr/>
            </p:nvSpPr>
            <p:spPr>
              <a:xfrm>
                <a:off x="6656832" y="3310128"/>
                <a:ext cx="4956048" cy="1201119"/>
              </a:xfrm>
              <a:prstGeom prst="rect">
                <a:avLst/>
              </a:prstGeom>
              <a:noFill/>
            </p:spPr>
            <p:txBody>
              <a:bodyPr wrap="square">
                <a:spAutoFit/>
              </a:bodyPr>
              <a:lstStyle/>
              <a:p>
                <a:pPr algn="l"/>
                <a:r>
                  <a:rPr sz="1000" b="0" i="0">
                    <a:solidFill>
                      <a:srgbClr val="94A3B8"/>
                    </a:solidFill>
                    <a:latin typeface="Times New Roman" panose="02020603050405020304" pitchFamily="18" charset="0"/>
                    <a:cs typeface="Times New Roman" panose="02020603050405020304" pitchFamily="18" charset="0"/>
                  </a:rPr>
                  <a:t>Provide a Flask REST API (POST /api/rotate) consumed by the React dashboard to rotate GitHub deploy keys (Ed25519 keypair regeneration) and Actions secrets (NaCl SealedBox encryption) in &lt; 1 minute, with dry-run mode and audit logging.</a:t>
                </a:r>
              </a:p>
            </p:txBody>
          </p:sp>
          <p:sp>
            <p:nvSpPr>
              <p:cNvPr id="66" name="TextBox 65">
                <a:extLst>
                  <a:ext uri="{FF2B5EF4-FFF2-40B4-BE49-F238E27FC236}">
                    <a16:creationId xmlns:a16="http://schemas.microsoft.com/office/drawing/2014/main" id="{1C2C5984-E808-6894-646F-5B541F7CB830}"/>
                  </a:ext>
                </a:extLst>
              </p:cNvPr>
              <p:cNvSpPr txBox="1"/>
              <p:nvPr/>
            </p:nvSpPr>
            <p:spPr>
              <a:xfrm>
                <a:off x="329184" y="4645152"/>
                <a:ext cx="411480" cy="417780"/>
              </a:xfrm>
              <a:prstGeom prst="rect">
                <a:avLst/>
              </a:prstGeom>
              <a:noFill/>
            </p:spPr>
            <p:txBody>
              <a:bodyPr wrap="square">
                <a:spAutoFit/>
              </a:bodyPr>
              <a:lstStyle/>
              <a:p>
                <a:pPr algn="ctr"/>
                <a:r>
                  <a:rPr sz="1000" b="1" i="0" dirty="0">
                    <a:solidFill>
                      <a:srgbClr val="3B82F6"/>
                    </a:solidFill>
                    <a:latin typeface="Times New Roman" panose="02020603050405020304" pitchFamily="18" charset="0"/>
                    <a:cs typeface="Times New Roman" panose="02020603050405020304" pitchFamily="18" charset="0"/>
                  </a:rPr>
                  <a:t>5</a:t>
                </a:r>
              </a:p>
            </p:txBody>
          </p:sp>
          <p:sp>
            <p:nvSpPr>
              <p:cNvPr id="67" name="TextBox 66">
                <a:extLst>
                  <a:ext uri="{FF2B5EF4-FFF2-40B4-BE49-F238E27FC236}">
                    <a16:creationId xmlns:a16="http://schemas.microsoft.com/office/drawing/2014/main" id="{66DEA33D-F9C8-3843-93D7-14212AD991DC}"/>
                  </a:ext>
                </a:extLst>
              </p:cNvPr>
              <p:cNvSpPr txBox="1"/>
              <p:nvPr/>
            </p:nvSpPr>
            <p:spPr>
              <a:xfrm>
                <a:off x="850392" y="4663438"/>
                <a:ext cx="4956048" cy="417780"/>
              </a:xfrm>
              <a:prstGeom prst="rect">
                <a:avLst/>
              </a:prstGeom>
              <a:noFill/>
            </p:spPr>
            <p:txBody>
              <a:bodyPr wrap="square">
                <a:spAutoFit/>
              </a:bodyPr>
              <a:lstStyle/>
              <a:p>
                <a:pPr algn="l"/>
                <a:r>
                  <a:rPr sz="1000" b="1" i="0">
                    <a:solidFill>
                      <a:srgbClr val="FFFFFF"/>
                    </a:solidFill>
                    <a:latin typeface="Times New Roman" panose="02020603050405020304" pitchFamily="18" charset="0"/>
                    <a:cs typeface="Times New Roman" panose="02020603050405020304" pitchFamily="18" charset="0"/>
                  </a:rPr>
                  <a:t>ML-Based Anomaly Detection &amp; Trend Forecasting</a:t>
                </a:r>
              </a:p>
            </p:txBody>
          </p:sp>
          <p:sp>
            <p:nvSpPr>
              <p:cNvPr id="68" name="TextBox 67">
                <a:extLst>
                  <a:ext uri="{FF2B5EF4-FFF2-40B4-BE49-F238E27FC236}">
                    <a16:creationId xmlns:a16="http://schemas.microsoft.com/office/drawing/2014/main" id="{7A4CC872-8CA9-4167-5FBC-09ABFC468869}"/>
                  </a:ext>
                </a:extLst>
              </p:cNvPr>
              <p:cNvSpPr txBox="1"/>
              <p:nvPr/>
            </p:nvSpPr>
            <p:spPr>
              <a:xfrm>
                <a:off x="850392" y="5047488"/>
                <a:ext cx="4956048" cy="1201119"/>
              </a:xfrm>
              <a:prstGeom prst="rect">
                <a:avLst/>
              </a:prstGeom>
              <a:noFill/>
            </p:spPr>
            <p:txBody>
              <a:bodyPr wrap="square">
                <a:spAutoFit/>
              </a:bodyPr>
              <a:lstStyle/>
              <a:p>
                <a:pPr algn="l"/>
                <a:r>
                  <a:rPr sz="1000" b="0" i="0">
                    <a:solidFill>
                      <a:srgbClr val="94A3B8"/>
                    </a:solidFill>
                    <a:latin typeface="Times New Roman" panose="02020603050405020304" pitchFamily="18" charset="0"/>
                    <a:cs typeface="Times New Roman" panose="02020603050405020304" pitchFamily="18" charset="0"/>
                  </a:rPr>
                  <a:t>Apply scikit-learn Isolation Forest to detect anomalous NHI patterns and Linear Regression to forecast 30-day risk score trends, with deterministic fallback when scikit-learn is unavailable. Radar chart models security posture across 5 dimensions.</a:t>
                </a:r>
              </a:p>
            </p:txBody>
          </p:sp>
          <p:sp>
            <p:nvSpPr>
              <p:cNvPr id="69" name="TextBox 68">
                <a:extLst>
                  <a:ext uri="{FF2B5EF4-FFF2-40B4-BE49-F238E27FC236}">
                    <a16:creationId xmlns:a16="http://schemas.microsoft.com/office/drawing/2014/main" id="{0742B42A-AE9A-0E20-FA5D-21A1D31D1F02}"/>
                  </a:ext>
                </a:extLst>
              </p:cNvPr>
              <p:cNvSpPr txBox="1"/>
              <p:nvPr/>
            </p:nvSpPr>
            <p:spPr>
              <a:xfrm>
                <a:off x="6135624" y="4645150"/>
                <a:ext cx="411480" cy="417780"/>
              </a:xfrm>
              <a:prstGeom prst="rect">
                <a:avLst/>
              </a:prstGeom>
              <a:noFill/>
            </p:spPr>
            <p:txBody>
              <a:bodyPr wrap="square">
                <a:spAutoFit/>
              </a:bodyPr>
              <a:lstStyle/>
              <a:p>
                <a:pPr algn="ctr"/>
                <a:r>
                  <a:rPr sz="1000" b="1" i="0" dirty="0">
                    <a:solidFill>
                      <a:srgbClr val="22C55E"/>
                    </a:solidFill>
                    <a:latin typeface="Times New Roman" panose="02020603050405020304" pitchFamily="18" charset="0"/>
                    <a:cs typeface="Times New Roman" panose="02020603050405020304" pitchFamily="18" charset="0"/>
                  </a:rPr>
                  <a:t>6</a:t>
                </a:r>
              </a:p>
            </p:txBody>
          </p:sp>
          <p:sp>
            <p:nvSpPr>
              <p:cNvPr id="70" name="TextBox 69">
                <a:extLst>
                  <a:ext uri="{FF2B5EF4-FFF2-40B4-BE49-F238E27FC236}">
                    <a16:creationId xmlns:a16="http://schemas.microsoft.com/office/drawing/2014/main" id="{44BDF146-B693-AAF2-C8E9-FA05994FC291}"/>
                  </a:ext>
                </a:extLst>
              </p:cNvPr>
              <p:cNvSpPr txBox="1"/>
              <p:nvPr/>
            </p:nvSpPr>
            <p:spPr>
              <a:xfrm>
                <a:off x="6656832" y="4663440"/>
                <a:ext cx="4956048" cy="417780"/>
              </a:xfrm>
              <a:prstGeom prst="rect">
                <a:avLst/>
              </a:prstGeom>
              <a:noFill/>
            </p:spPr>
            <p:txBody>
              <a:bodyPr wrap="square">
                <a:spAutoFit/>
              </a:bodyPr>
              <a:lstStyle/>
              <a:p>
                <a:pPr algn="l"/>
                <a:r>
                  <a:rPr sz="1000" b="1" i="0">
                    <a:solidFill>
                      <a:srgbClr val="FFFFFF"/>
                    </a:solidFill>
                    <a:latin typeface="Times New Roman" panose="02020603050405020304" pitchFamily="18" charset="0"/>
                    <a:cs typeface="Times New Roman" panose="02020603050405020304" pitchFamily="18" charset="0"/>
                  </a:rPr>
                  <a:t>Real-Time React Dashboard with Audit Trail</a:t>
                </a:r>
              </a:p>
            </p:txBody>
          </p:sp>
          <p:sp>
            <p:nvSpPr>
              <p:cNvPr id="71" name="TextBox 70">
                <a:extLst>
                  <a:ext uri="{FF2B5EF4-FFF2-40B4-BE49-F238E27FC236}">
                    <a16:creationId xmlns:a16="http://schemas.microsoft.com/office/drawing/2014/main" id="{764E6D11-2383-C49C-1C73-497C68F9B1DC}"/>
                  </a:ext>
                </a:extLst>
              </p:cNvPr>
              <p:cNvSpPr txBox="1"/>
              <p:nvPr/>
            </p:nvSpPr>
            <p:spPr>
              <a:xfrm>
                <a:off x="6656832" y="5047488"/>
                <a:ext cx="4956048" cy="1201119"/>
              </a:xfrm>
              <a:prstGeom prst="rect">
                <a:avLst/>
              </a:prstGeom>
              <a:noFill/>
            </p:spPr>
            <p:txBody>
              <a:bodyPr wrap="square">
                <a:spAutoFit/>
              </a:bodyPr>
              <a:lstStyle/>
              <a:p>
                <a:pPr algn="l"/>
                <a:r>
                  <a:rPr sz="1000" b="0" i="0" dirty="0">
                    <a:solidFill>
                      <a:srgbClr val="94A3B8"/>
                    </a:solidFill>
                    <a:latin typeface="Times New Roman" panose="02020603050405020304" pitchFamily="18" charset="0"/>
                    <a:cs typeface="Times New Roman" panose="02020603050405020304" pitchFamily="18" charset="0"/>
                  </a:rPr>
                  <a:t>Deliver a TypeScript / React dashboard (7 pages: Overview, NHI Inventory, Certificates, Azure, Policy Engine, Insights, ML Analytics) that </a:t>
                </a:r>
                <a:r>
                  <a:rPr sz="1000" b="0" i="0" dirty="0" err="1">
                    <a:solidFill>
                      <a:srgbClr val="94A3B8"/>
                    </a:solidFill>
                    <a:latin typeface="Times New Roman" panose="02020603050405020304" pitchFamily="18" charset="0"/>
                    <a:cs typeface="Times New Roman" panose="02020603050405020304" pitchFamily="18" charset="0"/>
                  </a:rPr>
                  <a:t>visualises</a:t>
                </a:r>
                <a:r>
                  <a:rPr sz="1000" b="0" i="0" dirty="0">
                    <a:solidFill>
                      <a:srgbClr val="94A3B8"/>
                    </a:solidFill>
                    <a:latin typeface="Times New Roman" panose="02020603050405020304" pitchFamily="18" charset="0"/>
                    <a:cs typeface="Times New Roman" panose="02020603050405020304" pitchFamily="18" charset="0"/>
                  </a:rPr>
                  <a:t> all findings, violations, trend charts, and exposes credential rotation UX — with full dark/light mode support.</a:t>
                </a:r>
              </a:p>
            </p:txBody>
          </p:sp>
        </p:gr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21"/>
        <p:cNvGrpSpPr/>
        <p:nvPr/>
      </p:nvGrpSpPr>
      <p:grpSpPr>
        <a:xfrm>
          <a:off x="0" y="0"/>
          <a:ext cx="0" cy="0"/>
          <a:chOff x="0" y="0"/>
          <a:chExt cx="0" cy="0"/>
        </a:xfrm>
      </p:grpSpPr>
      <p:sp>
        <p:nvSpPr>
          <p:cNvPr id="122" name="Google Shape;122;p19"/>
          <p:cNvSpPr txBox="1">
            <a:spLocks noGrp="1"/>
          </p:cNvSpPr>
          <p:nvPr>
            <p:ph type="sldNum" idx="12"/>
          </p:nvPr>
        </p:nvSpPr>
        <p:spPr>
          <a:xfrm>
            <a:off x="8480963" y="4663217"/>
            <a:ext cx="517758" cy="41216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sz="900">
                <a:latin typeface="Times New Roman" panose="02020603050405020304" pitchFamily="18" charset="0"/>
                <a:cs typeface="Times New Roman" panose="02020603050405020304" pitchFamily="18" charset="0"/>
              </a:rPr>
              <a:t>11</a:t>
            </a:fld>
            <a:endParaRPr sz="900">
              <a:latin typeface="Times New Roman" panose="02020603050405020304" pitchFamily="18" charset="0"/>
              <a:cs typeface="Times New Roman" panose="02020603050405020304" pitchFamily="18" charset="0"/>
            </a:endParaRPr>
          </a:p>
        </p:txBody>
      </p:sp>
      <p:sp>
        <p:nvSpPr>
          <p:cNvPr id="125" name="Google Shape;125;p19"/>
          <p:cNvSpPr txBox="1">
            <a:spLocks noGrp="1"/>
          </p:cNvSpPr>
          <p:nvPr>
            <p:ph type="title"/>
          </p:nvPr>
        </p:nvSpPr>
        <p:spPr>
          <a:xfrm>
            <a:off x="1948909" y="172463"/>
            <a:ext cx="4751612" cy="540337"/>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US" sz="2000" b="1" dirty="0">
                <a:solidFill>
                  <a:srgbClr val="083C92"/>
                </a:solidFill>
                <a:latin typeface="Bookman Old Style"/>
                <a:ea typeface="Bookman Old Style"/>
                <a:cs typeface="Bookman Old Style"/>
                <a:sym typeface="Bookman Old Style"/>
              </a:rPr>
              <a:t>Specifications</a:t>
            </a:r>
            <a:endParaRPr dirty="0"/>
          </a:p>
        </p:txBody>
      </p:sp>
      <p:grpSp>
        <p:nvGrpSpPr>
          <p:cNvPr id="35" name="Group 34">
            <a:extLst>
              <a:ext uri="{FF2B5EF4-FFF2-40B4-BE49-F238E27FC236}">
                <a16:creationId xmlns:a16="http://schemas.microsoft.com/office/drawing/2014/main" id="{B593BFD1-D5F0-A472-C7B3-CFB3DF6D97C2}"/>
              </a:ext>
            </a:extLst>
          </p:cNvPr>
          <p:cNvGrpSpPr/>
          <p:nvPr/>
        </p:nvGrpSpPr>
        <p:grpSpPr>
          <a:xfrm>
            <a:off x="436574" y="940815"/>
            <a:ext cx="8270851" cy="3928482"/>
            <a:chOff x="256032" y="1097280"/>
            <a:chExt cx="8765126" cy="3751580"/>
          </a:xfrm>
        </p:grpSpPr>
        <p:sp>
          <p:nvSpPr>
            <p:cNvPr id="123" name="Google Shape;123;p19"/>
            <p:cNvSpPr/>
            <p:nvPr/>
          </p:nvSpPr>
          <p:spPr>
            <a:xfrm>
              <a:off x="311785" y="4483735"/>
              <a:ext cx="212598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900" b="0" i="0" u="none" strike="noStrike" cap="none">
                  <a:solidFill>
                    <a:srgbClr val="888888"/>
                  </a:solidFill>
                  <a:latin typeface="Times New Roman" panose="02020603050405020304" pitchFamily="18" charset="0"/>
                  <a:cs typeface="Times New Roman" panose="02020603050405020304" pitchFamily="18" charset="0"/>
                  <a:sym typeface="Arial"/>
                </a:rPr>
                <a:t>Date</a:t>
              </a:r>
              <a:endParaRPr sz="900">
                <a:latin typeface="Times New Roman" panose="02020603050405020304" pitchFamily="18" charset="0"/>
                <a:cs typeface="Times New Roman" panose="02020603050405020304" pitchFamily="18" charset="0"/>
              </a:endParaRPr>
            </a:p>
          </p:txBody>
        </p:sp>
        <p:sp>
          <p:nvSpPr>
            <p:cNvPr id="124" name="Google Shape;124;p19"/>
            <p:cNvSpPr/>
            <p:nvPr/>
          </p:nvSpPr>
          <p:spPr>
            <a:xfrm>
              <a:off x="3512185" y="4483735"/>
              <a:ext cx="3188335"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900" b="0" i="0" u="none" strike="noStrike" cap="none">
                  <a:solidFill>
                    <a:srgbClr val="888888"/>
                  </a:solidFill>
                  <a:latin typeface="Times New Roman" panose="02020603050405020304" pitchFamily="18" charset="0"/>
                  <a:cs typeface="Times New Roman" panose="02020603050405020304" pitchFamily="18" charset="0"/>
                  <a:sym typeface="Arial"/>
                </a:rPr>
                <a:t>RV COLLEGE OF ENGINEERING</a:t>
              </a:r>
              <a:endParaRPr sz="900">
                <a:latin typeface="Times New Roman" panose="02020603050405020304" pitchFamily="18" charset="0"/>
                <a:cs typeface="Times New Roman" panose="02020603050405020304" pitchFamily="18" charset="0"/>
              </a:endParaRPr>
            </a:p>
          </p:txBody>
        </p:sp>
        <p:grpSp>
          <p:nvGrpSpPr>
            <p:cNvPr id="2" name="Group 1">
              <a:extLst>
                <a:ext uri="{FF2B5EF4-FFF2-40B4-BE49-F238E27FC236}">
                  <a16:creationId xmlns:a16="http://schemas.microsoft.com/office/drawing/2014/main" id="{D5BF6BAF-08C2-3FEF-94CF-F05E6ECC96F2}"/>
                </a:ext>
              </a:extLst>
            </p:cNvPr>
            <p:cNvGrpSpPr/>
            <p:nvPr/>
          </p:nvGrpSpPr>
          <p:grpSpPr>
            <a:xfrm>
              <a:off x="256032" y="1097280"/>
              <a:ext cx="8765126" cy="3751580"/>
              <a:chOff x="256032" y="1097280"/>
              <a:chExt cx="11475720" cy="5257800"/>
            </a:xfrm>
          </p:grpSpPr>
          <p:sp>
            <p:nvSpPr>
              <p:cNvPr id="3" name="Rectangle 2">
                <a:extLst>
                  <a:ext uri="{FF2B5EF4-FFF2-40B4-BE49-F238E27FC236}">
                    <a16:creationId xmlns:a16="http://schemas.microsoft.com/office/drawing/2014/main" id="{6885DF67-6759-B8E3-E4E8-C3CCE81362C4}"/>
                  </a:ext>
                </a:extLst>
              </p:cNvPr>
              <p:cNvSpPr/>
              <p:nvPr/>
            </p:nvSpPr>
            <p:spPr>
              <a:xfrm>
                <a:off x="256032" y="1097280"/>
                <a:ext cx="5669280" cy="25603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35202A70-9AFF-1603-24AA-568C76DEECDE}"/>
                  </a:ext>
                </a:extLst>
              </p:cNvPr>
              <p:cNvSpPr/>
              <p:nvPr/>
            </p:nvSpPr>
            <p:spPr>
              <a:xfrm>
                <a:off x="256032" y="1097280"/>
                <a:ext cx="566928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57327727-CC0D-D6EC-2B25-F2322924CABA}"/>
                  </a:ext>
                </a:extLst>
              </p:cNvPr>
              <p:cNvSpPr txBox="1"/>
              <p:nvPr/>
            </p:nvSpPr>
            <p:spPr>
              <a:xfrm>
                <a:off x="420624" y="1188720"/>
                <a:ext cx="5394960" cy="323509"/>
              </a:xfrm>
              <a:prstGeom prst="rect">
                <a:avLst/>
              </a:prstGeom>
              <a:noFill/>
            </p:spPr>
            <p:txBody>
              <a:bodyPr wrap="square">
                <a:spAutoFit/>
              </a:bodyPr>
              <a:lstStyle/>
              <a:p>
                <a:pPr algn="l"/>
                <a:r>
                  <a:rPr sz="900" b="1" i="0">
                    <a:solidFill>
                      <a:srgbClr val="3B82F6"/>
                    </a:solidFill>
                    <a:latin typeface="Times New Roman" panose="02020603050405020304" pitchFamily="18" charset="0"/>
                    <a:cs typeface="Times New Roman" panose="02020603050405020304" pitchFamily="18" charset="0"/>
                  </a:rPr>
                  <a:t>Hardware Requirements</a:t>
                </a:r>
              </a:p>
            </p:txBody>
          </p:sp>
          <p:sp>
            <p:nvSpPr>
              <p:cNvPr id="6" name="TextBox 5">
                <a:extLst>
                  <a:ext uri="{FF2B5EF4-FFF2-40B4-BE49-F238E27FC236}">
                    <a16:creationId xmlns:a16="http://schemas.microsoft.com/office/drawing/2014/main" id="{9F0C6A56-30D0-1C59-7EB5-03E0D63CB894}"/>
                  </a:ext>
                </a:extLst>
              </p:cNvPr>
              <p:cNvSpPr txBox="1"/>
              <p:nvPr/>
            </p:nvSpPr>
            <p:spPr>
              <a:xfrm>
                <a:off x="420624" y="1600200"/>
                <a:ext cx="5394960" cy="323509"/>
              </a:xfrm>
              <a:prstGeom prst="rect">
                <a:avLst/>
              </a:prstGeom>
              <a:noFill/>
            </p:spPr>
            <p:txBody>
              <a:bodyPr wrap="square">
                <a:spAutoFit/>
              </a:bodyPr>
              <a:lstStyle/>
              <a:p>
                <a:pPr algn="l"/>
                <a:r>
                  <a:rPr sz="900" b="0" i="0" dirty="0">
                    <a:solidFill>
                      <a:srgbClr val="FFFFFF"/>
                    </a:solidFill>
                    <a:latin typeface="Times New Roman" panose="02020603050405020304" pitchFamily="18" charset="0"/>
                    <a:cs typeface="Times New Roman" panose="02020603050405020304" pitchFamily="18" charset="0"/>
                  </a:rPr>
                  <a:t>▸  CPU        :  4-core Intel / AMD x86-64 (8-core recommended for ML workloads)</a:t>
                </a:r>
              </a:p>
            </p:txBody>
          </p:sp>
          <p:sp>
            <p:nvSpPr>
              <p:cNvPr id="7" name="TextBox 6">
                <a:extLst>
                  <a:ext uri="{FF2B5EF4-FFF2-40B4-BE49-F238E27FC236}">
                    <a16:creationId xmlns:a16="http://schemas.microsoft.com/office/drawing/2014/main" id="{AED8914C-A961-0A05-5448-570582C2DF22}"/>
                  </a:ext>
                </a:extLst>
              </p:cNvPr>
              <p:cNvSpPr txBox="1"/>
              <p:nvPr/>
            </p:nvSpPr>
            <p:spPr>
              <a:xfrm>
                <a:off x="420624" y="2026114"/>
                <a:ext cx="5394961" cy="517616"/>
              </a:xfrm>
              <a:prstGeom prst="rect">
                <a:avLst/>
              </a:prstGeom>
              <a:noFill/>
            </p:spPr>
            <p:txBody>
              <a:bodyPr wrap="square">
                <a:spAutoFit/>
              </a:bodyPr>
              <a:lstStyle/>
              <a:p>
                <a:pPr algn="l"/>
                <a:r>
                  <a:rPr sz="900" b="0" i="0" dirty="0">
                    <a:solidFill>
                      <a:srgbClr val="FFFFFF"/>
                    </a:solidFill>
                    <a:latin typeface="Times New Roman" panose="02020603050405020304" pitchFamily="18" charset="0"/>
                    <a:cs typeface="Times New Roman" panose="02020603050405020304" pitchFamily="18" charset="0"/>
                  </a:rPr>
                  <a:t>▸  RAM        :  8 GB minimum (16 GB recommended for concurrent agents + dashboard)</a:t>
                </a:r>
              </a:p>
            </p:txBody>
          </p:sp>
          <p:sp>
            <p:nvSpPr>
              <p:cNvPr id="8" name="TextBox 7">
                <a:extLst>
                  <a:ext uri="{FF2B5EF4-FFF2-40B4-BE49-F238E27FC236}">
                    <a16:creationId xmlns:a16="http://schemas.microsoft.com/office/drawing/2014/main" id="{5FCD0172-E4D8-FAC6-5BA8-FE3C4EA225CC}"/>
                  </a:ext>
                </a:extLst>
              </p:cNvPr>
              <p:cNvSpPr txBox="1"/>
              <p:nvPr/>
            </p:nvSpPr>
            <p:spPr>
              <a:xfrm>
                <a:off x="420624" y="2401200"/>
                <a:ext cx="5394961" cy="323509"/>
              </a:xfrm>
              <a:prstGeom prst="rect">
                <a:avLst/>
              </a:prstGeom>
              <a:noFill/>
            </p:spPr>
            <p:txBody>
              <a:bodyPr wrap="square">
                <a:spAutoFit/>
              </a:bodyPr>
              <a:lstStyle/>
              <a:p>
                <a:pPr algn="l"/>
                <a:r>
                  <a:rPr sz="900" b="0" i="0" dirty="0">
                    <a:solidFill>
                      <a:srgbClr val="FFFFFF"/>
                    </a:solidFill>
                    <a:latin typeface="Times New Roman" panose="02020603050405020304" pitchFamily="18" charset="0"/>
                    <a:cs typeface="Times New Roman" panose="02020603050405020304" pitchFamily="18" charset="0"/>
                  </a:rPr>
                  <a:t>▸  Storage    :  10 GB free disk (reports, Docker images, Python </a:t>
                </a:r>
                <a:r>
                  <a:rPr sz="900" b="0" i="0" dirty="0" err="1">
                    <a:solidFill>
                      <a:srgbClr val="FFFFFF"/>
                    </a:solidFill>
                    <a:latin typeface="Times New Roman" panose="02020603050405020304" pitchFamily="18" charset="0"/>
                    <a:cs typeface="Times New Roman" panose="02020603050405020304" pitchFamily="18" charset="0"/>
                  </a:rPr>
                  <a:t>venvs</a:t>
                </a:r>
                <a:r>
                  <a:rPr sz="900" b="0" i="0" dirty="0">
                    <a:solidFill>
                      <a:srgbClr val="FFFFFF"/>
                    </a:solidFill>
                    <a:latin typeface="Times New Roman" panose="02020603050405020304" pitchFamily="18" charset="0"/>
                    <a:cs typeface="Times New Roman" panose="02020603050405020304" pitchFamily="18" charset="0"/>
                  </a:rPr>
                  <a:t>)</a:t>
                </a:r>
              </a:p>
            </p:txBody>
          </p:sp>
          <p:sp>
            <p:nvSpPr>
              <p:cNvPr id="9" name="TextBox 8">
                <a:extLst>
                  <a:ext uri="{FF2B5EF4-FFF2-40B4-BE49-F238E27FC236}">
                    <a16:creationId xmlns:a16="http://schemas.microsoft.com/office/drawing/2014/main" id="{8A0E69E9-0B0A-7403-342A-609AEBFAB2D3}"/>
                  </a:ext>
                </a:extLst>
              </p:cNvPr>
              <p:cNvSpPr txBox="1"/>
              <p:nvPr/>
            </p:nvSpPr>
            <p:spPr>
              <a:xfrm>
                <a:off x="420624" y="2697132"/>
                <a:ext cx="5394961" cy="517616"/>
              </a:xfrm>
              <a:prstGeom prst="rect">
                <a:avLst/>
              </a:prstGeom>
              <a:noFill/>
            </p:spPr>
            <p:txBody>
              <a:bodyPr wrap="square">
                <a:spAutoFit/>
              </a:bodyPr>
              <a:lstStyle/>
              <a:p>
                <a:pPr algn="l"/>
                <a:r>
                  <a:rPr sz="900" b="0" i="0" dirty="0">
                    <a:solidFill>
                      <a:srgbClr val="FFFFFF"/>
                    </a:solidFill>
                    <a:latin typeface="Times New Roman" panose="02020603050405020304" pitchFamily="18" charset="0"/>
                    <a:cs typeface="Times New Roman" panose="02020603050405020304" pitchFamily="18" charset="0"/>
                  </a:rPr>
                  <a:t>▸  Network    :  HTTPS access to GitHub API, Azure Graph API, Microsoft Graph API</a:t>
                </a:r>
              </a:p>
            </p:txBody>
          </p:sp>
          <p:sp>
            <p:nvSpPr>
              <p:cNvPr id="10" name="TextBox 9">
                <a:extLst>
                  <a:ext uri="{FF2B5EF4-FFF2-40B4-BE49-F238E27FC236}">
                    <a16:creationId xmlns:a16="http://schemas.microsoft.com/office/drawing/2014/main" id="{C598F76A-443D-A27D-F9E5-C4CC32A5B891}"/>
                  </a:ext>
                </a:extLst>
              </p:cNvPr>
              <p:cNvSpPr txBox="1"/>
              <p:nvPr/>
            </p:nvSpPr>
            <p:spPr>
              <a:xfrm>
                <a:off x="420624" y="3136391"/>
                <a:ext cx="5394960" cy="517615"/>
              </a:xfrm>
              <a:prstGeom prst="rect">
                <a:avLst/>
              </a:prstGeom>
              <a:noFill/>
            </p:spPr>
            <p:txBody>
              <a:bodyPr wrap="square">
                <a:spAutoFit/>
              </a:bodyPr>
              <a:lstStyle/>
              <a:p>
                <a:pPr algn="l"/>
                <a:r>
                  <a:rPr sz="900" b="0" i="0">
                    <a:solidFill>
                      <a:srgbClr val="FFFFFF"/>
                    </a:solidFill>
                    <a:latin typeface="Times New Roman" panose="02020603050405020304" pitchFamily="18" charset="0"/>
                    <a:cs typeface="Times New Roman" panose="02020603050405020304" pitchFamily="18" charset="0"/>
                  </a:rPr>
                  <a:t>▸  Container  :  Docker 24+ / Kubernetes 1.28+ for production deployment (k8s/ manifests provided)</a:t>
                </a:r>
              </a:p>
            </p:txBody>
          </p:sp>
          <p:sp>
            <p:nvSpPr>
              <p:cNvPr id="11" name="Rectangle 10">
                <a:extLst>
                  <a:ext uri="{FF2B5EF4-FFF2-40B4-BE49-F238E27FC236}">
                    <a16:creationId xmlns:a16="http://schemas.microsoft.com/office/drawing/2014/main" id="{C0D73370-D363-5BA5-E9A8-F70EF4716182}"/>
                  </a:ext>
                </a:extLst>
              </p:cNvPr>
              <p:cNvSpPr/>
              <p:nvPr/>
            </p:nvSpPr>
            <p:spPr>
              <a:xfrm>
                <a:off x="6062472" y="1097280"/>
                <a:ext cx="5669280" cy="25603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latin typeface="Times New Roman" panose="02020603050405020304" pitchFamily="18" charset="0"/>
                  <a:cs typeface="Times New Roman" panose="02020603050405020304" pitchFamily="18" charset="0"/>
                </a:endParaRPr>
              </a:p>
            </p:txBody>
          </p:sp>
          <p:sp>
            <p:nvSpPr>
              <p:cNvPr id="12" name="Rectangle 11">
                <a:extLst>
                  <a:ext uri="{FF2B5EF4-FFF2-40B4-BE49-F238E27FC236}">
                    <a16:creationId xmlns:a16="http://schemas.microsoft.com/office/drawing/2014/main" id="{7AA3562B-2D9F-9E46-DE52-E7722F6C0D36}"/>
                  </a:ext>
                </a:extLst>
              </p:cNvPr>
              <p:cNvSpPr/>
              <p:nvPr/>
            </p:nvSpPr>
            <p:spPr>
              <a:xfrm>
                <a:off x="6062472" y="1097280"/>
                <a:ext cx="5669280" cy="36576"/>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E794A434-11E1-03BC-DB37-88D7EEAA4FFD}"/>
                  </a:ext>
                </a:extLst>
              </p:cNvPr>
              <p:cNvSpPr txBox="1"/>
              <p:nvPr/>
            </p:nvSpPr>
            <p:spPr>
              <a:xfrm>
                <a:off x="6227064" y="1188720"/>
                <a:ext cx="5394960" cy="323509"/>
              </a:xfrm>
              <a:prstGeom prst="rect">
                <a:avLst/>
              </a:prstGeom>
              <a:noFill/>
            </p:spPr>
            <p:txBody>
              <a:bodyPr wrap="square">
                <a:spAutoFit/>
              </a:bodyPr>
              <a:lstStyle/>
              <a:p>
                <a:pPr algn="l"/>
                <a:r>
                  <a:rPr sz="900" b="1" i="0">
                    <a:solidFill>
                      <a:srgbClr val="22C55E"/>
                    </a:solidFill>
                    <a:latin typeface="Times New Roman" panose="02020603050405020304" pitchFamily="18" charset="0"/>
                    <a:cs typeface="Times New Roman" panose="02020603050405020304" pitchFamily="18" charset="0"/>
                  </a:rPr>
                  <a:t>Software Requirements</a:t>
                </a:r>
              </a:p>
            </p:txBody>
          </p:sp>
          <p:sp>
            <p:nvSpPr>
              <p:cNvPr id="14" name="TextBox 13">
                <a:extLst>
                  <a:ext uri="{FF2B5EF4-FFF2-40B4-BE49-F238E27FC236}">
                    <a16:creationId xmlns:a16="http://schemas.microsoft.com/office/drawing/2014/main" id="{34836DC2-9D4A-D459-A4CC-0AAB680CEFBE}"/>
                  </a:ext>
                </a:extLst>
              </p:cNvPr>
              <p:cNvSpPr txBox="1"/>
              <p:nvPr/>
            </p:nvSpPr>
            <p:spPr>
              <a:xfrm>
                <a:off x="6227064" y="1600200"/>
                <a:ext cx="5394960" cy="323509"/>
              </a:xfrm>
              <a:prstGeom prst="rect">
                <a:avLst/>
              </a:prstGeom>
              <a:noFill/>
            </p:spPr>
            <p:txBody>
              <a:bodyPr wrap="square">
                <a:spAutoFit/>
              </a:bodyPr>
              <a:lstStyle/>
              <a:p>
                <a:pPr algn="l"/>
                <a:r>
                  <a:rPr sz="900" b="0" i="0">
                    <a:solidFill>
                      <a:srgbClr val="FFFFFF"/>
                    </a:solidFill>
                    <a:latin typeface="Times New Roman" panose="02020603050405020304" pitchFamily="18" charset="0"/>
                    <a:cs typeface="Times New Roman" panose="02020603050405020304" pitchFamily="18" charset="0"/>
                  </a:rPr>
                  <a:t>▸  OS           :  Windows 10/11, Ubuntu 22.04 LTS, or macOS Ventura+</a:t>
                </a:r>
              </a:p>
            </p:txBody>
          </p:sp>
          <p:sp>
            <p:nvSpPr>
              <p:cNvPr id="15" name="TextBox 14">
                <a:extLst>
                  <a:ext uri="{FF2B5EF4-FFF2-40B4-BE49-F238E27FC236}">
                    <a16:creationId xmlns:a16="http://schemas.microsoft.com/office/drawing/2014/main" id="{4337B5C2-1571-3129-A394-692830432B76}"/>
                  </a:ext>
                </a:extLst>
              </p:cNvPr>
              <p:cNvSpPr txBox="1"/>
              <p:nvPr/>
            </p:nvSpPr>
            <p:spPr>
              <a:xfrm>
                <a:off x="6227064" y="1984248"/>
                <a:ext cx="5394960" cy="323509"/>
              </a:xfrm>
              <a:prstGeom prst="rect">
                <a:avLst/>
              </a:prstGeom>
              <a:noFill/>
            </p:spPr>
            <p:txBody>
              <a:bodyPr wrap="square">
                <a:spAutoFit/>
              </a:bodyPr>
              <a:lstStyle/>
              <a:p>
                <a:pPr algn="l"/>
                <a:r>
                  <a:rPr sz="900" b="0" i="0">
                    <a:solidFill>
                      <a:srgbClr val="FFFFFF"/>
                    </a:solidFill>
                    <a:latin typeface="Times New Roman" panose="02020603050405020304" pitchFamily="18" charset="0"/>
                    <a:cs typeface="Times New Roman" panose="02020603050405020304" pitchFamily="18" charset="0"/>
                  </a:rPr>
                  <a:t>▸  Python       :  3.11+  (venv recommended)</a:t>
                </a:r>
              </a:p>
            </p:txBody>
          </p:sp>
          <p:sp>
            <p:nvSpPr>
              <p:cNvPr id="16" name="TextBox 15">
                <a:extLst>
                  <a:ext uri="{FF2B5EF4-FFF2-40B4-BE49-F238E27FC236}">
                    <a16:creationId xmlns:a16="http://schemas.microsoft.com/office/drawing/2014/main" id="{4119CD92-C527-41A3-F9AC-DCE67675E6BC}"/>
                  </a:ext>
                </a:extLst>
              </p:cNvPr>
              <p:cNvSpPr txBox="1"/>
              <p:nvPr/>
            </p:nvSpPr>
            <p:spPr>
              <a:xfrm>
                <a:off x="6227064" y="2368296"/>
                <a:ext cx="5394960" cy="323509"/>
              </a:xfrm>
              <a:prstGeom prst="rect">
                <a:avLst/>
              </a:prstGeom>
              <a:noFill/>
            </p:spPr>
            <p:txBody>
              <a:bodyPr wrap="square">
                <a:spAutoFit/>
              </a:bodyPr>
              <a:lstStyle/>
              <a:p>
                <a:pPr algn="l"/>
                <a:r>
                  <a:rPr sz="900" b="0" i="0">
                    <a:solidFill>
                      <a:srgbClr val="FFFFFF"/>
                    </a:solidFill>
                    <a:latin typeface="Times New Roman" panose="02020603050405020304" pitchFamily="18" charset="0"/>
                    <a:cs typeface="Times New Roman" panose="02020603050405020304" pitchFamily="18" charset="0"/>
                  </a:rPr>
                  <a:t>▸  Node.js      :  18 LTS+  (for React dashboard build)</a:t>
                </a:r>
              </a:p>
            </p:txBody>
          </p:sp>
          <p:sp>
            <p:nvSpPr>
              <p:cNvPr id="17" name="TextBox 16">
                <a:extLst>
                  <a:ext uri="{FF2B5EF4-FFF2-40B4-BE49-F238E27FC236}">
                    <a16:creationId xmlns:a16="http://schemas.microsoft.com/office/drawing/2014/main" id="{966E3EA9-8096-8DA5-5426-7180DA1AB7DC}"/>
                  </a:ext>
                </a:extLst>
              </p:cNvPr>
              <p:cNvSpPr txBox="1"/>
              <p:nvPr/>
            </p:nvSpPr>
            <p:spPr>
              <a:xfrm>
                <a:off x="6227064" y="2752344"/>
                <a:ext cx="5394960" cy="323509"/>
              </a:xfrm>
              <a:prstGeom prst="rect">
                <a:avLst/>
              </a:prstGeom>
              <a:noFill/>
            </p:spPr>
            <p:txBody>
              <a:bodyPr wrap="square">
                <a:spAutoFit/>
              </a:bodyPr>
              <a:lstStyle/>
              <a:p>
                <a:pPr algn="l"/>
                <a:r>
                  <a:rPr sz="900" b="0" i="0">
                    <a:solidFill>
                      <a:srgbClr val="FFFFFF"/>
                    </a:solidFill>
                    <a:latin typeface="Times New Roman" panose="02020603050405020304" pitchFamily="18" charset="0"/>
                    <a:cs typeface="Times New Roman" panose="02020603050405020304" pitchFamily="18" charset="0"/>
                  </a:rPr>
                  <a:t>▸  Docker       :  24+  (Dockerfile.api + Dockerfile.dashboard)</a:t>
                </a:r>
              </a:p>
            </p:txBody>
          </p:sp>
          <p:sp>
            <p:nvSpPr>
              <p:cNvPr id="18" name="TextBox 17">
                <a:extLst>
                  <a:ext uri="{FF2B5EF4-FFF2-40B4-BE49-F238E27FC236}">
                    <a16:creationId xmlns:a16="http://schemas.microsoft.com/office/drawing/2014/main" id="{9827AB88-09CA-5135-CB2B-3122EE6806F8}"/>
                  </a:ext>
                </a:extLst>
              </p:cNvPr>
              <p:cNvSpPr txBox="1"/>
              <p:nvPr/>
            </p:nvSpPr>
            <p:spPr>
              <a:xfrm>
                <a:off x="6227064" y="3136391"/>
                <a:ext cx="5394960" cy="323509"/>
              </a:xfrm>
              <a:prstGeom prst="rect">
                <a:avLst/>
              </a:prstGeom>
              <a:noFill/>
            </p:spPr>
            <p:txBody>
              <a:bodyPr wrap="square">
                <a:spAutoFit/>
              </a:bodyPr>
              <a:lstStyle/>
              <a:p>
                <a:pPr algn="l"/>
                <a:r>
                  <a:rPr sz="900" b="0" i="0">
                    <a:solidFill>
                      <a:srgbClr val="FFFFFF"/>
                    </a:solidFill>
                    <a:latin typeface="Times New Roman" panose="02020603050405020304" pitchFamily="18" charset="0"/>
                    <a:cs typeface="Times New Roman" panose="02020603050405020304" pitchFamily="18" charset="0"/>
                  </a:rPr>
                  <a:t>▸  Azure CLI    :  2.58+  (optional — fallback for Azure discovery)</a:t>
                </a:r>
              </a:p>
            </p:txBody>
          </p:sp>
          <p:sp>
            <p:nvSpPr>
              <p:cNvPr id="19" name="Rectangle 18">
                <a:extLst>
                  <a:ext uri="{FF2B5EF4-FFF2-40B4-BE49-F238E27FC236}">
                    <a16:creationId xmlns:a16="http://schemas.microsoft.com/office/drawing/2014/main" id="{F2E9544F-4FA5-BECA-47C9-60983A646EF0}"/>
                  </a:ext>
                </a:extLst>
              </p:cNvPr>
              <p:cNvSpPr/>
              <p:nvPr/>
            </p:nvSpPr>
            <p:spPr>
              <a:xfrm>
                <a:off x="256032" y="3794760"/>
                <a:ext cx="5669280" cy="25603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latin typeface="Times New Roman" panose="02020603050405020304" pitchFamily="18" charset="0"/>
                  <a:cs typeface="Times New Roman" panose="02020603050405020304" pitchFamily="18" charset="0"/>
                </a:endParaRPr>
              </a:p>
            </p:txBody>
          </p:sp>
          <p:sp>
            <p:nvSpPr>
              <p:cNvPr id="20" name="Rectangle 19">
                <a:extLst>
                  <a:ext uri="{FF2B5EF4-FFF2-40B4-BE49-F238E27FC236}">
                    <a16:creationId xmlns:a16="http://schemas.microsoft.com/office/drawing/2014/main" id="{004D0EFF-CE05-051D-D86B-4CD0281CAE9A}"/>
                  </a:ext>
                </a:extLst>
              </p:cNvPr>
              <p:cNvSpPr/>
              <p:nvPr/>
            </p:nvSpPr>
            <p:spPr>
              <a:xfrm>
                <a:off x="256032" y="3794760"/>
                <a:ext cx="5669280" cy="36576"/>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A2AEB346-C4EA-D46E-D1CC-F665F08D5C35}"/>
                  </a:ext>
                </a:extLst>
              </p:cNvPr>
              <p:cNvSpPr txBox="1"/>
              <p:nvPr/>
            </p:nvSpPr>
            <p:spPr>
              <a:xfrm>
                <a:off x="420624" y="3886201"/>
                <a:ext cx="5394960" cy="323509"/>
              </a:xfrm>
              <a:prstGeom prst="rect">
                <a:avLst/>
              </a:prstGeom>
              <a:noFill/>
            </p:spPr>
            <p:txBody>
              <a:bodyPr wrap="square">
                <a:spAutoFit/>
              </a:bodyPr>
              <a:lstStyle/>
              <a:p>
                <a:pPr algn="l"/>
                <a:r>
                  <a:rPr sz="900" b="1" i="0">
                    <a:solidFill>
                      <a:srgbClr val="A855F7"/>
                    </a:solidFill>
                    <a:latin typeface="Times New Roman" panose="02020603050405020304" pitchFamily="18" charset="0"/>
                    <a:cs typeface="Times New Roman" panose="02020603050405020304" pitchFamily="18" charset="0"/>
                  </a:rPr>
                  <a:t>Programming Languages</a:t>
                </a:r>
              </a:p>
            </p:txBody>
          </p:sp>
          <p:sp>
            <p:nvSpPr>
              <p:cNvPr id="22" name="TextBox 21">
                <a:extLst>
                  <a:ext uri="{FF2B5EF4-FFF2-40B4-BE49-F238E27FC236}">
                    <a16:creationId xmlns:a16="http://schemas.microsoft.com/office/drawing/2014/main" id="{AAB86EE6-27EC-A872-2536-58B51DA2126B}"/>
                  </a:ext>
                </a:extLst>
              </p:cNvPr>
              <p:cNvSpPr txBox="1"/>
              <p:nvPr/>
            </p:nvSpPr>
            <p:spPr>
              <a:xfrm>
                <a:off x="420624" y="4297679"/>
                <a:ext cx="5394960" cy="323509"/>
              </a:xfrm>
              <a:prstGeom prst="rect">
                <a:avLst/>
              </a:prstGeom>
              <a:noFill/>
            </p:spPr>
            <p:txBody>
              <a:bodyPr wrap="square">
                <a:spAutoFit/>
              </a:bodyPr>
              <a:lstStyle/>
              <a:p>
                <a:pPr algn="l"/>
                <a:r>
                  <a:rPr sz="900" b="0" i="0">
                    <a:solidFill>
                      <a:srgbClr val="FFFFFF"/>
                    </a:solidFill>
                    <a:latin typeface="Times New Roman" panose="02020603050405020304" pitchFamily="18" charset="0"/>
                    <a:cs typeface="Times New Roman" panose="02020603050405020304" pitchFamily="18" charset="0"/>
                  </a:rPr>
                  <a:t>▸  Python 3.11    —  Backend: orchestrator, all 8 agents, Flask API, policy engine</a:t>
                </a:r>
              </a:p>
            </p:txBody>
          </p:sp>
          <p:sp>
            <p:nvSpPr>
              <p:cNvPr id="23" name="TextBox 22">
                <a:extLst>
                  <a:ext uri="{FF2B5EF4-FFF2-40B4-BE49-F238E27FC236}">
                    <a16:creationId xmlns:a16="http://schemas.microsoft.com/office/drawing/2014/main" id="{A84C9ED0-A309-E48B-4D51-43D71B28538D}"/>
                  </a:ext>
                </a:extLst>
              </p:cNvPr>
              <p:cNvSpPr txBox="1"/>
              <p:nvPr/>
            </p:nvSpPr>
            <p:spPr>
              <a:xfrm>
                <a:off x="420624" y="4724325"/>
                <a:ext cx="5394961" cy="323509"/>
              </a:xfrm>
              <a:prstGeom prst="rect">
                <a:avLst/>
              </a:prstGeom>
              <a:noFill/>
            </p:spPr>
            <p:txBody>
              <a:bodyPr wrap="square">
                <a:spAutoFit/>
              </a:bodyPr>
              <a:lstStyle/>
              <a:p>
                <a:pPr algn="l"/>
                <a:r>
                  <a:rPr sz="900" b="0" i="0" dirty="0">
                    <a:solidFill>
                      <a:srgbClr val="FFFFFF"/>
                    </a:solidFill>
                    <a:latin typeface="Times New Roman" panose="02020603050405020304" pitchFamily="18" charset="0"/>
                    <a:cs typeface="Times New Roman" panose="02020603050405020304" pitchFamily="18" charset="0"/>
                  </a:rPr>
                  <a:t>▸  TypeScript 5   —  Frontend: React dashboard (strict mode, path aliases)</a:t>
                </a:r>
              </a:p>
            </p:txBody>
          </p:sp>
          <p:sp>
            <p:nvSpPr>
              <p:cNvPr id="24" name="TextBox 23">
                <a:extLst>
                  <a:ext uri="{FF2B5EF4-FFF2-40B4-BE49-F238E27FC236}">
                    <a16:creationId xmlns:a16="http://schemas.microsoft.com/office/drawing/2014/main" id="{0ACB1521-378C-E3A0-F031-EB0907441FD9}"/>
                  </a:ext>
                </a:extLst>
              </p:cNvPr>
              <p:cNvSpPr txBox="1"/>
              <p:nvPr/>
            </p:nvSpPr>
            <p:spPr>
              <a:xfrm>
                <a:off x="420624" y="5065776"/>
                <a:ext cx="5394960" cy="323509"/>
              </a:xfrm>
              <a:prstGeom prst="rect">
                <a:avLst/>
              </a:prstGeom>
              <a:noFill/>
            </p:spPr>
            <p:txBody>
              <a:bodyPr wrap="square">
                <a:spAutoFit/>
              </a:bodyPr>
              <a:lstStyle/>
              <a:p>
                <a:pPr algn="l"/>
                <a:r>
                  <a:rPr sz="900" b="0" i="0">
                    <a:solidFill>
                      <a:srgbClr val="FFFFFF"/>
                    </a:solidFill>
                    <a:latin typeface="Times New Roman" panose="02020603050405020304" pitchFamily="18" charset="0"/>
                    <a:cs typeface="Times New Roman" panose="02020603050405020304" pitchFamily="18" charset="0"/>
                  </a:rPr>
                  <a:t>▸  Rego           —  OPA policy rules (policies/rego/nhi_governance.rego)</a:t>
                </a:r>
              </a:p>
            </p:txBody>
          </p:sp>
          <p:sp>
            <p:nvSpPr>
              <p:cNvPr id="25" name="TextBox 24">
                <a:extLst>
                  <a:ext uri="{FF2B5EF4-FFF2-40B4-BE49-F238E27FC236}">
                    <a16:creationId xmlns:a16="http://schemas.microsoft.com/office/drawing/2014/main" id="{8D208C08-4F03-AB96-213E-5FB140F7F81F}"/>
                  </a:ext>
                </a:extLst>
              </p:cNvPr>
              <p:cNvSpPr txBox="1"/>
              <p:nvPr/>
            </p:nvSpPr>
            <p:spPr>
              <a:xfrm>
                <a:off x="420624" y="5449824"/>
                <a:ext cx="5394960" cy="323509"/>
              </a:xfrm>
              <a:prstGeom prst="rect">
                <a:avLst/>
              </a:prstGeom>
              <a:noFill/>
            </p:spPr>
            <p:txBody>
              <a:bodyPr wrap="square">
                <a:spAutoFit/>
              </a:bodyPr>
              <a:lstStyle/>
              <a:p>
                <a:pPr algn="l"/>
                <a:r>
                  <a:rPr sz="900" b="0" i="0">
                    <a:solidFill>
                      <a:srgbClr val="FFFFFF"/>
                    </a:solidFill>
                    <a:latin typeface="Times New Roman" panose="02020603050405020304" pitchFamily="18" charset="0"/>
                    <a:cs typeface="Times New Roman" panose="02020603050405020304" pitchFamily="18" charset="0"/>
                  </a:rPr>
                  <a:t>▸  YAML           —  Configuration (config.yaml), Kubernetes manifests (k8s/)</a:t>
                </a:r>
              </a:p>
            </p:txBody>
          </p:sp>
          <p:sp>
            <p:nvSpPr>
              <p:cNvPr id="26" name="TextBox 25">
                <a:extLst>
                  <a:ext uri="{FF2B5EF4-FFF2-40B4-BE49-F238E27FC236}">
                    <a16:creationId xmlns:a16="http://schemas.microsoft.com/office/drawing/2014/main" id="{BB6FECA8-B749-5360-B04E-B056E3070A36}"/>
                  </a:ext>
                </a:extLst>
              </p:cNvPr>
              <p:cNvSpPr txBox="1"/>
              <p:nvPr/>
            </p:nvSpPr>
            <p:spPr>
              <a:xfrm>
                <a:off x="420624" y="5833872"/>
                <a:ext cx="5394960" cy="323509"/>
              </a:xfrm>
              <a:prstGeom prst="rect">
                <a:avLst/>
              </a:prstGeom>
              <a:noFill/>
            </p:spPr>
            <p:txBody>
              <a:bodyPr wrap="square">
                <a:spAutoFit/>
              </a:bodyPr>
              <a:lstStyle/>
              <a:p>
                <a:pPr algn="l"/>
                <a:r>
                  <a:rPr sz="900" b="0" i="0">
                    <a:solidFill>
                      <a:srgbClr val="FFFFFF"/>
                    </a:solidFill>
                    <a:latin typeface="Times New Roman" panose="02020603050405020304" pitchFamily="18" charset="0"/>
                    <a:cs typeface="Times New Roman" panose="02020603050405020304" pitchFamily="18" charset="0"/>
                  </a:rPr>
                  <a:t>▸  Bash / Shell   —  CI/CD scripts, Docker entrypoints</a:t>
                </a:r>
              </a:p>
            </p:txBody>
          </p:sp>
          <p:sp>
            <p:nvSpPr>
              <p:cNvPr id="27" name="Rectangle 26">
                <a:extLst>
                  <a:ext uri="{FF2B5EF4-FFF2-40B4-BE49-F238E27FC236}">
                    <a16:creationId xmlns:a16="http://schemas.microsoft.com/office/drawing/2014/main" id="{E62328D6-A7F0-EDE6-D096-58D3FA77E4B5}"/>
                  </a:ext>
                </a:extLst>
              </p:cNvPr>
              <p:cNvSpPr/>
              <p:nvPr/>
            </p:nvSpPr>
            <p:spPr>
              <a:xfrm>
                <a:off x="6062472" y="3794760"/>
                <a:ext cx="5669280" cy="25603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latin typeface="Times New Roman" panose="02020603050405020304" pitchFamily="18" charset="0"/>
                  <a:cs typeface="Times New Roman" panose="02020603050405020304" pitchFamily="18" charset="0"/>
                </a:endParaRPr>
              </a:p>
            </p:txBody>
          </p:sp>
          <p:sp>
            <p:nvSpPr>
              <p:cNvPr id="28" name="Rectangle 27">
                <a:extLst>
                  <a:ext uri="{FF2B5EF4-FFF2-40B4-BE49-F238E27FC236}">
                    <a16:creationId xmlns:a16="http://schemas.microsoft.com/office/drawing/2014/main" id="{9BDB988F-8E8C-0C21-BB99-909DFFCB0113}"/>
                  </a:ext>
                </a:extLst>
              </p:cNvPr>
              <p:cNvSpPr/>
              <p:nvPr/>
            </p:nvSpPr>
            <p:spPr>
              <a:xfrm>
                <a:off x="6062472" y="3794760"/>
                <a:ext cx="5669280" cy="365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latin typeface="Times New Roman" panose="02020603050405020304" pitchFamily="18" charset="0"/>
                  <a:cs typeface="Times New Roman" panose="02020603050405020304" pitchFamily="18" charset="0"/>
                </a:endParaRPr>
              </a:p>
            </p:txBody>
          </p:sp>
          <p:sp>
            <p:nvSpPr>
              <p:cNvPr id="29" name="TextBox 28">
                <a:extLst>
                  <a:ext uri="{FF2B5EF4-FFF2-40B4-BE49-F238E27FC236}">
                    <a16:creationId xmlns:a16="http://schemas.microsoft.com/office/drawing/2014/main" id="{DCD4EEAF-2940-2375-95CE-4B12B9603B9E}"/>
                  </a:ext>
                </a:extLst>
              </p:cNvPr>
              <p:cNvSpPr txBox="1"/>
              <p:nvPr/>
            </p:nvSpPr>
            <p:spPr>
              <a:xfrm>
                <a:off x="6227064" y="3886201"/>
                <a:ext cx="5394960" cy="323509"/>
              </a:xfrm>
              <a:prstGeom prst="rect">
                <a:avLst/>
              </a:prstGeom>
              <a:noFill/>
            </p:spPr>
            <p:txBody>
              <a:bodyPr wrap="square">
                <a:spAutoFit/>
              </a:bodyPr>
              <a:lstStyle/>
              <a:p>
                <a:pPr algn="l"/>
                <a:r>
                  <a:rPr sz="900" b="1" i="0">
                    <a:solidFill>
                      <a:srgbClr val="F59E0B"/>
                    </a:solidFill>
                    <a:latin typeface="Times New Roman" panose="02020603050405020304" pitchFamily="18" charset="0"/>
                    <a:cs typeface="Times New Roman" panose="02020603050405020304" pitchFamily="18" charset="0"/>
                  </a:rPr>
                  <a:t>Key Libraries &amp; Frameworks</a:t>
                </a:r>
              </a:p>
            </p:txBody>
          </p:sp>
          <p:sp>
            <p:nvSpPr>
              <p:cNvPr id="30" name="TextBox 29">
                <a:extLst>
                  <a:ext uri="{FF2B5EF4-FFF2-40B4-BE49-F238E27FC236}">
                    <a16:creationId xmlns:a16="http://schemas.microsoft.com/office/drawing/2014/main" id="{C24723FF-59C4-AB80-13E4-35B4EC3E2FA6}"/>
                  </a:ext>
                </a:extLst>
              </p:cNvPr>
              <p:cNvSpPr txBox="1"/>
              <p:nvPr/>
            </p:nvSpPr>
            <p:spPr>
              <a:xfrm>
                <a:off x="6227064" y="4297679"/>
                <a:ext cx="5394960" cy="323509"/>
              </a:xfrm>
              <a:prstGeom prst="rect">
                <a:avLst/>
              </a:prstGeom>
              <a:noFill/>
            </p:spPr>
            <p:txBody>
              <a:bodyPr wrap="square">
                <a:spAutoFit/>
              </a:bodyPr>
              <a:lstStyle/>
              <a:p>
                <a:pPr algn="l"/>
                <a:r>
                  <a:rPr sz="900" b="0" i="0">
                    <a:solidFill>
                      <a:srgbClr val="FFFFFF"/>
                    </a:solidFill>
                    <a:latin typeface="Times New Roman" panose="02020603050405020304" pitchFamily="18" charset="0"/>
                    <a:cs typeface="Times New Roman" panose="02020603050405020304" pitchFamily="18" charset="0"/>
                  </a:rPr>
                  <a:t>▸  langchain ≥ 0.2, langchain-openai ≥ 0.1, openai ≥ 1.0   —  Agentic pipeline</a:t>
                </a:r>
              </a:p>
            </p:txBody>
          </p:sp>
          <p:sp>
            <p:nvSpPr>
              <p:cNvPr id="31" name="TextBox 30">
                <a:extLst>
                  <a:ext uri="{FF2B5EF4-FFF2-40B4-BE49-F238E27FC236}">
                    <a16:creationId xmlns:a16="http://schemas.microsoft.com/office/drawing/2014/main" id="{3F8CB980-CD33-4C56-6359-6A6CC6B11A2B}"/>
                  </a:ext>
                </a:extLst>
              </p:cNvPr>
              <p:cNvSpPr txBox="1"/>
              <p:nvPr/>
            </p:nvSpPr>
            <p:spPr>
              <a:xfrm>
                <a:off x="6227064" y="4681728"/>
                <a:ext cx="5394960" cy="323509"/>
              </a:xfrm>
              <a:prstGeom prst="rect">
                <a:avLst/>
              </a:prstGeom>
              <a:noFill/>
            </p:spPr>
            <p:txBody>
              <a:bodyPr wrap="square">
                <a:spAutoFit/>
              </a:bodyPr>
              <a:lstStyle/>
              <a:p>
                <a:pPr algn="l"/>
                <a:r>
                  <a:rPr sz="900" b="0" i="0">
                    <a:solidFill>
                      <a:srgbClr val="FFFFFF"/>
                    </a:solidFill>
                    <a:latin typeface="Times New Roman" panose="02020603050405020304" pitchFamily="18" charset="0"/>
                    <a:cs typeface="Times New Roman" panose="02020603050405020304" pitchFamily="18" charset="0"/>
                  </a:rPr>
                  <a:t>▸  flask ≥ 3.0, flask-cors ≥ 4.0                            —  REST API server</a:t>
                </a:r>
              </a:p>
            </p:txBody>
          </p:sp>
          <p:sp>
            <p:nvSpPr>
              <p:cNvPr id="32" name="TextBox 31">
                <a:extLst>
                  <a:ext uri="{FF2B5EF4-FFF2-40B4-BE49-F238E27FC236}">
                    <a16:creationId xmlns:a16="http://schemas.microsoft.com/office/drawing/2014/main" id="{E87E6CA5-ACD2-3326-683D-A54DDD77B77C}"/>
                  </a:ext>
                </a:extLst>
              </p:cNvPr>
              <p:cNvSpPr txBox="1"/>
              <p:nvPr/>
            </p:nvSpPr>
            <p:spPr>
              <a:xfrm>
                <a:off x="6227064" y="5065776"/>
                <a:ext cx="5394960" cy="323509"/>
              </a:xfrm>
              <a:prstGeom prst="rect">
                <a:avLst/>
              </a:prstGeom>
              <a:noFill/>
            </p:spPr>
            <p:txBody>
              <a:bodyPr wrap="square">
                <a:spAutoFit/>
              </a:bodyPr>
              <a:lstStyle/>
              <a:p>
                <a:pPr algn="l"/>
                <a:r>
                  <a:rPr sz="900" b="0" i="0">
                    <a:solidFill>
                      <a:srgbClr val="FFFFFF"/>
                    </a:solidFill>
                    <a:latin typeface="Times New Roman" panose="02020603050405020304" pitchFamily="18" charset="0"/>
                    <a:cs typeface="Times New Roman" panose="02020603050405020304" pitchFamily="18" charset="0"/>
                  </a:rPr>
                  <a:t>▸  azure-identity ≥ 1.16, azure-keyvault-* ≥ 4.8            —  Azure integration</a:t>
                </a:r>
              </a:p>
            </p:txBody>
          </p:sp>
          <p:sp>
            <p:nvSpPr>
              <p:cNvPr id="33" name="TextBox 32">
                <a:extLst>
                  <a:ext uri="{FF2B5EF4-FFF2-40B4-BE49-F238E27FC236}">
                    <a16:creationId xmlns:a16="http://schemas.microsoft.com/office/drawing/2014/main" id="{CAD8700A-0C1F-C149-3997-441F1610FCCB}"/>
                  </a:ext>
                </a:extLst>
              </p:cNvPr>
              <p:cNvSpPr txBox="1"/>
              <p:nvPr/>
            </p:nvSpPr>
            <p:spPr>
              <a:xfrm>
                <a:off x="6227064" y="5449824"/>
                <a:ext cx="5394960" cy="323509"/>
              </a:xfrm>
              <a:prstGeom prst="rect">
                <a:avLst/>
              </a:prstGeom>
              <a:noFill/>
            </p:spPr>
            <p:txBody>
              <a:bodyPr wrap="square">
                <a:spAutoFit/>
              </a:bodyPr>
              <a:lstStyle/>
              <a:p>
                <a:pPr algn="l"/>
                <a:r>
                  <a:rPr sz="900" b="0" i="0">
                    <a:solidFill>
                      <a:srgbClr val="FFFFFF"/>
                    </a:solidFill>
                    <a:latin typeface="Times New Roman" panose="02020603050405020304" pitchFamily="18" charset="0"/>
                    <a:cs typeface="Times New Roman" panose="02020603050405020304" pitchFamily="18" charset="0"/>
                  </a:rPr>
                  <a:t>▸  PyGithub ≥ 2.0, PyNaCl ≥ 1.5, cryptography ≥ 41         —  GitHub NHI ops</a:t>
                </a:r>
              </a:p>
            </p:txBody>
          </p:sp>
          <p:sp>
            <p:nvSpPr>
              <p:cNvPr id="34" name="TextBox 33">
                <a:extLst>
                  <a:ext uri="{FF2B5EF4-FFF2-40B4-BE49-F238E27FC236}">
                    <a16:creationId xmlns:a16="http://schemas.microsoft.com/office/drawing/2014/main" id="{82371A4F-D36A-2F0E-8CA8-0415EBE1FF37}"/>
                  </a:ext>
                </a:extLst>
              </p:cNvPr>
              <p:cNvSpPr txBox="1"/>
              <p:nvPr/>
            </p:nvSpPr>
            <p:spPr>
              <a:xfrm>
                <a:off x="6227064" y="5833872"/>
                <a:ext cx="5394960" cy="323509"/>
              </a:xfrm>
              <a:prstGeom prst="rect">
                <a:avLst/>
              </a:prstGeom>
              <a:noFill/>
            </p:spPr>
            <p:txBody>
              <a:bodyPr wrap="square">
                <a:spAutoFit/>
              </a:bodyPr>
              <a:lstStyle/>
              <a:p>
                <a:pPr algn="l"/>
                <a:r>
                  <a:rPr sz="900" b="0" i="0">
                    <a:solidFill>
                      <a:srgbClr val="FFFFFF"/>
                    </a:solidFill>
                    <a:latin typeface="Times New Roman" panose="02020603050405020304" pitchFamily="18" charset="0"/>
                    <a:cs typeface="Times New Roman" panose="02020603050405020304" pitchFamily="18" charset="0"/>
                  </a:rPr>
                  <a:t>▸  scikit-learn ≥ 1.4, numpy ≥ 1.26                         —  ML engine</a:t>
                </a:r>
              </a:p>
            </p:txBody>
          </p:sp>
        </p:gr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3430" y="82246"/>
            <a:ext cx="9141714" cy="651510"/>
          </a:xfrm>
          <a:prstGeom prst="roundRect">
            <a:avLst/>
          </a:prstGeom>
          <a:noFill/>
          <a:ln>
            <a:noFill/>
          </a:ln>
        </p:spPr>
        <p:style>
          <a:lnRef idx="1">
            <a:schemeClr val="accent1"/>
          </a:lnRef>
          <a:fillRef idx="3">
            <a:schemeClr val="accent1"/>
          </a:fillRef>
          <a:effectRef idx="2">
            <a:schemeClr val="accent1"/>
          </a:effectRef>
          <a:fontRef idx="minor">
            <a:schemeClr val="lt1"/>
          </a:fontRef>
        </p:style>
        <p:txBody>
          <a:bodyPr wrap="square" lIns="342900" rtlCol="0" anchor="ctr"/>
          <a:lstStyle/>
          <a:p>
            <a:pPr algn="ctr">
              <a:spcBef>
                <a:spcPts val="750"/>
              </a:spcBef>
              <a:defRPr sz="2600" b="1">
                <a:solidFill>
                  <a:srgbClr val="FFFFFF"/>
                </a:solidFill>
              </a:defRPr>
            </a:pPr>
            <a:r>
              <a:rPr sz="2000" b="1" i="1" dirty="0">
                <a:solidFill>
                  <a:schemeClr val="accent1">
                    <a:lumMod val="50000"/>
                  </a:schemeClr>
                </a:solidFill>
                <a:latin typeface="Bookman Old Style" panose="02050604050505020204" pitchFamily="18" charset="0"/>
                <a:ea typeface="ＭＳ Ｐゴシック" panose="020B0600070205080204" pitchFamily="34" charset="-128"/>
                <a:cs typeface="Arial" panose="020B0604020202020204"/>
              </a:rPr>
              <a:t>High-Level System Architecture</a:t>
            </a:r>
          </a:p>
          <a:p>
            <a:pPr algn="ctr">
              <a:spcBef>
                <a:spcPts val="150"/>
              </a:spcBef>
              <a:defRPr sz="1300" b="0">
                <a:solidFill>
                  <a:srgbClr val="CCDDFF"/>
                </a:solidFill>
              </a:defRPr>
            </a:pPr>
            <a:r>
              <a:rPr sz="2000" b="1" i="1" dirty="0">
                <a:solidFill>
                  <a:schemeClr val="accent1">
                    <a:lumMod val="50000"/>
                  </a:schemeClr>
                </a:solidFill>
                <a:latin typeface="Bookman Old Style" panose="02050604050505020204" pitchFamily="18" charset="0"/>
                <a:ea typeface="ＭＳ Ｐゴシック" panose="020B0600070205080204" pitchFamily="34" charset="-128"/>
                <a:cs typeface="Arial" panose="020B0604020202020204"/>
              </a:rPr>
              <a:t>Block diagram — components and interactions</a:t>
            </a:r>
          </a:p>
        </p:txBody>
      </p:sp>
      <p:sp>
        <p:nvSpPr>
          <p:cNvPr id="4" name="Rounded Rectangle 3"/>
          <p:cNvSpPr/>
          <p:nvPr/>
        </p:nvSpPr>
        <p:spPr>
          <a:xfrm>
            <a:off x="402172" y="770124"/>
            <a:ext cx="8330511" cy="311412"/>
          </a:xfrm>
          <a:prstGeom prst="roundRect">
            <a:avLst/>
          </a:prstGeom>
          <a:solidFill>
            <a:srgbClr val="1A2340"/>
          </a:solidFill>
          <a:ln w="12700">
            <a:solidFill>
              <a:srgbClr val="FFFF00"/>
            </a:solidFill>
          </a:ln>
        </p:spPr>
        <p:style>
          <a:lnRef idx="1">
            <a:schemeClr val="accent1"/>
          </a:lnRef>
          <a:fillRef idx="3">
            <a:schemeClr val="accent1"/>
          </a:fillRef>
          <a:effectRef idx="2">
            <a:schemeClr val="accent1"/>
          </a:effectRef>
          <a:fontRef idx="minor">
            <a:schemeClr val="lt1"/>
          </a:fontRef>
        </p:style>
        <p:txBody>
          <a:bodyPr wrap="square" lIns="137160" rtlCol="0" anchor="ctr"/>
          <a:lstStyle/>
          <a:p>
            <a:pPr algn="l">
              <a:defRPr sz="1200" b="1">
                <a:solidFill>
                  <a:srgbClr val="00BCD4"/>
                </a:solidFill>
              </a:defRPr>
            </a:pPr>
            <a:r>
              <a:rPr sz="800" dirty="0">
                <a:solidFill>
                  <a:srgbClr val="FFFF00"/>
                </a:solidFill>
                <a:latin typeface="Times New Roman" panose="02020603050405020304" pitchFamily="18" charset="0"/>
                <a:cs typeface="Times New Roman" panose="02020603050405020304" pitchFamily="18" charset="0"/>
              </a:rPr>
              <a:t>INPUT SOURCES</a:t>
            </a:r>
          </a:p>
        </p:txBody>
      </p:sp>
      <p:sp>
        <p:nvSpPr>
          <p:cNvPr id="5" name="Rounded Rectangle 4"/>
          <p:cNvSpPr/>
          <p:nvPr/>
        </p:nvSpPr>
        <p:spPr>
          <a:xfrm>
            <a:off x="548640" y="1028700"/>
            <a:ext cx="2468880" cy="480060"/>
          </a:xfrm>
          <a:prstGeom prst="roundRect">
            <a:avLst/>
          </a:prstGeom>
          <a:solidFill>
            <a:srgbClr val="222E50"/>
          </a:solidFill>
          <a:ln w="6350">
            <a:solidFill>
              <a:srgbClr val="007AC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100" b="1">
                <a:solidFill>
                  <a:srgbClr val="FFEB3B"/>
                </a:solidFill>
              </a:defRPr>
            </a:pPr>
            <a:r>
              <a:rPr sz="800">
                <a:latin typeface="Times New Roman" panose="02020603050405020304" pitchFamily="18" charset="0"/>
                <a:cs typeface="Times New Roman" panose="02020603050405020304" pitchFamily="18" charset="0"/>
              </a:rPr>
              <a:t>GitHub API</a:t>
            </a:r>
          </a:p>
          <a:p>
            <a:pPr>
              <a:spcBef>
                <a:spcPts val="150"/>
              </a:spcBef>
              <a:defRPr sz="900" b="0">
                <a:solidFill>
                  <a:srgbClr val="BBBBBB"/>
                </a:solidFill>
              </a:defRPr>
            </a:pPr>
            <a:r>
              <a:rPr sz="800">
                <a:latin typeface="Times New Roman" panose="02020603050405020304" pitchFamily="18" charset="0"/>
                <a:cs typeface="Times New Roman" panose="02020603050405020304" pitchFamily="18" charset="0"/>
              </a:rPr>
              <a:t>PATs, Deploy Keys,</a:t>
            </a:r>
            <a:br>
              <a:rPr sz="800">
                <a:latin typeface="Times New Roman" panose="02020603050405020304" pitchFamily="18" charset="0"/>
                <a:cs typeface="Times New Roman" panose="02020603050405020304" pitchFamily="18" charset="0"/>
              </a:rPr>
            </a:br>
            <a:r>
              <a:rPr sz="800">
                <a:latin typeface="Times New Roman" panose="02020603050405020304" pitchFamily="18" charset="0"/>
                <a:cs typeface="Times New Roman" panose="02020603050405020304" pitchFamily="18" charset="0"/>
              </a:rPr>
              <a:t>Secrets, Workflows</a:t>
            </a:r>
          </a:p>
        </p:txBody>
      </p:sp>
      <p:sp>
        <p:nvSpPr>
          <p:cNvPr id="6" name="Rounded Rectangle 5"/>
          <p:cNvSpPr/>
          <p:nvPr/>
        </p:nvSpPr>
        <p:spPr>
          <a:xfrm>
            <a:off x="3360419" y="1028700"/>
            <a:ext cx="2468880" cy="480060"/>
          </a:xfrm>
          <a:prstGeom prst="roundRect">
            <a:avLst/>
          </a:prstGeom>
          <a:solidFill>
            <a:srgbClr val="222E50"/>
          </a:solidFill>
          <a:ln w="6350">
            <a:solidFill>
              <a:srgbClr val="007AC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100" b="1">
                <a:solidFill>
                  <a:srgbClr val="FFEB3B"/>
                </a:solidFill>
              </a:defRPr>
            </a:pPr>
            <a:r>
              <a:rPr sz="800">
                <a:latin typeface="Times New Roman" panose="02020603050405020304" pitchFamily="18" charset="0"/>
                <a:cs typeface="Times New Roman" panose="02020603050405020304" pitchFamily="18" charset="0"/>
              </a:rPr>
              <a:t>SSL/TLS Domains</a:t>
            </a:r>
          </a:p>
          <a:p>
            <a:pPr>
              <a:spcBef>
                <a:spcPts val="150"/>
              </a:spcBef>
              <a:defRPr sz="900" b="0">
                <a:solidFill>
                  <a:srgbClr val="BBBBBB"/>
                </a:solidFill>
              </a:defRPr>
            </a:pPr>
            <a:r>
              <a:rPr sz="800">
                <a:latin typeface="Times New Roman" panose="02020603050405020304" pitchFamily="18" charset="0"/>
                <a:cs typeface="Times New Roman" panose="02020603050405020304" pitchFamily="18" charset="0"/>
              </a:rPr>
              <a:t>Domain List, Ports,</a:t>
            </a:r>
            <a:br>
              <a:rPr sz="800">
                <a:latin typeface="Times New Roman" panose="02020603050405020304" pitchFamily="18" charset="0"/>
                <a:cs typeface="Times New Roman" panose="02020603050405020304" pitchFamily="18" charset="0"/>
              </a:rPr>
            </a:br>
            <a:r>
              <a:rPr sz="800">
                <a:latin typeface="Times New Roman" panose="02020603050405020304" pitchFamily="18" charset="0"/>
                <a:cs typeface="Times New Roman" panose="02020603050405020304" pitchFamily="18" charset="0"/>
              </a:rPr>
              <a:t>SNI Hostnames</a:t>
            </a:r>
          </a:p>
        </p:txBody>
      </p:sp>
      <p:sp>
        <p:nvSpPr>
          <p:cNvPr id="7" name="Rounded Rectangle 6"/>
          <p:cNvSpPr/>
          <p:nvPr/>
        </p:nvSpPr>
        <p:spPr>
          <a:xfrm>
            <a:off x="6172200" y="1028700"/>
            <a:ext cx="2468880" cy="480060"/>
          </a:xfrm>
          <a:prstGeom prst="roundRect">
            <a:avLst/>
          </a:prstGeom>
          <a:solidFill>
            <a:srgbClr val="222E50"/>
          </a:solidFill>
          <a:ln w="6350">
            <a:solidFill>
              <a:srgbClr val="007AC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100" b="1">
                <a:solidFill>
                  <a:srgbClr val="FFEB3B"/>
                </a:solidFill>
              </a:defRPr>
            </a:pPr>
            <a:r>
              <a:rPr sz="800">
                <a:latin typeface="Times New Roman" panose="02020603050405020304" pitchFamily="18" charset="0"/>
                <a:cs typeface="Times New Roman" panose="02020603050405020304" pitchFamily="18" charset="0"/>
              </a:rPr>
              <a:t>Configuration</a:t>
            </a:r>
          </a:p>
          <a:p>
            <a:pPr>
              <a:spcBef>
                <a:spcPts val="150"/>
              </a:spcBef>
              <a:defRPr sz="900" b="0">
                <a:solidFill>
                  <a:srgbClr val="BBBBBB"/>
                </a:solidFill>
              </a:defRPr>
            </a:pPr>
            <a:r>
              <a:rPr sz="800">
                <a:latin typeface="Times New Roman" panose="02020603050405020304" pitchFamily="18" charset="0"/>
                <a:cs typeface="Times New Roman" panose="02020603050405020304" pitchFamily="18" charset="0"/>
              </a:rPr>
              <a:t>Thresholds, Policy Rules,</a:t>
            </a:r>
            <a:br>
              <a:rPr sz="800">
                <a:latin typeface="Times New Roman" panose="02020603050405020304" pitchFamily="18" charset="0"/>
                <a:cs typeface="Times New Roman" panose="02020603050405020304" pitchFamily="18" charset="0"/>
              </a:rPr>
            </a:br>
            <a:r>
              <a:rPr sz="800">
                <a:latin typeface="Times New Roman" panose="02020603050405020304" pitchFamily="18" charset="0"/>
                <a:cs typeface="Times New Roman" panose="02020603050405020304" pitchFamily="18" charset="0"/>
              </a:rPr>
              <a:t>LLM Settings, Output Paths</a:t>
            </a:r>
          </a:p>
        </p:txBody>
      </p:sp>
      <p:sp>
        <p:nvSpPr>
          <p:cNvPr id="8" name="Down Arrow 7"/>
          <p:cNvSpPr/>
          <p:nvPr/>
        </p:nvSpPr>
        <p:spPr>
          <a:xfrm>
            <a:off x="4464558" y="1491615"/>
            <a:ext cx="205740" cy="342900"/>
          </a:xfrm>
          <a:prstGeom prst="downArrow">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800">
              <a:latin typeface="Times New Roman" panose="02020603050405020304" pitchFamily="18" charset="0"/>
              <a:cs typeface="Times New Roman" panose="02020603050405020304" pitchFamily="18" charset="0"/>
            </a:endParaRPr>
          </a:p>
        </p:txBody>
      </p:sp>
      <p:sp>
        <p:nvSpPr>
          <p:cNvPr id="9" name="Rounded Rectangle 8"/>
          <p:cNvSpPr/>
          <p:nvPr/>
        </p:nvSpPr>
        <p:spPr>
          <a:xfrm>
            <a:off x="442341" y="1821526"/>
            <a:ext cx="8455914" cy="342900"/>
          </a:xfrm>
          <a:prstGeom prst="roundRect">
            <a:avLst/>
          </a:prstGeom>
          <a:solidFill>
            <a:srgbClr val="1A2340"/>
          </a:solidFill>
          <a:ln w="12700">
            <a:solidFill>
              <a:srgbClr val="4CAF50"/>
            </a:solidFill>
          </a:ln>
        </p:spPr>
        <p:style>
          <a:lnRef idx="1">
            <a:schemeClr val="accent1"/>
          </a:lnRef>
          <a:fillRef idx="3">
            <a:schemeClr val="accent1"/>
          </a:fillRef>
          <a:effectRef idx="2">
            <a:schemeClr val="accent1"/>
          </a:effectRef>
          <a:fontRef idx="minor">
            <a:schemeClr val="lt1"/>
          </a:fontRef>
        </p:style>
        <p:txBody>
          <a:bodyPr wrap="square" lIns="137160" rtlCol="0" anchor="ctr"/>
          <a:lstStyle/>
          <a:p>
            <a:pPr algn="l">
              <a:defRPr sz="1200" b="1">
                <a:solidFill>
                  <a:srgbClr val="4CAF50"/>
                </a:solidFill>
              </a:defRPr>
            </a:pPr>
            <a:r>
              <a:rPr sz="800" dirty="0">
                <a:latin typeface="Times New Roman" panose="02020603050405020304" pitchFamily="18" charset="0"/>
                <a:cs typeface="Times New Roman" panose="02020603050405020304" pitchFamily="18" charset="0"/>
              </a:rPr>
              <a:t>DISCOVERY LAYER  (Parallelizable)</a:t>
            </a:r>
          </a:p>
        </p:txBody>
      </p:sp>
      <p:sp>
        <p:nvSpPr>
          <p:cNvPr id="10" name="Rounded Rectangle 9"/>
          <p:cNvSpPr/>
          <p:nvPr/>
        </p:nvSpPr>
        <p:spPr>
          <a:xfrm>
            <a:off x="1270660" y="2108835"/>
            <a:ext cx="2844140" cy="548640"/>
          </a:xfrm>
          <a:prstGeom prst="roundRect">
            <a:avLst/>
          </a:prstGeom>
          <a:solidFill>
            <a:srgbClr val="222E50"/>
          </a:solidFill>
          <a:ln w="6350">
            <a:solidFill>
              <a:srgbClr val="4CAF5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100" b="1">
                <a:solidFill>
                  <a:srgbClr val="4CAF50"/>
                </a:solidFill>
              </a:defRPr>
            </a:pPr>
            <a:r>
              <a:rPr sz="800">
                <a:latin typeface="Times New Roman" panose="02020603050405020304" pitchFamily="18" charset="0"/>
                <a:cs typeface="Times New Roman" panose="02020603050405020304" pitchFamily="18" charset="0"/>
              </a:rPr>
              <a:t>cert_agent.py</a:t>
            </a:r>
          </a:p>
          <a:p>
            <a:pPr>
              <a:spcBef>
                <a:spcPts val="150"/>
              </a:spcBef>
              <a:defRPr sz="900" b="0">
                <a:solidFill>
                  <a:srgbClr val="BBBBBB"/>
                </a:solidFill>
              </a:defRPr>
            </a:pPr>
            <a:r>
              <a:rPr sz="800">
                <a:latin typeface="Times New Roman" panose="02020603050405020304" pitchFamily="18" charset="0"/>
                <a:cs typeface="Times New Roman" panose="02020603050405020304" pitchFamily="18" charset="0"/>
              </a:rPr>
              <a:t>Connect TLS → Extract Certs → Parse Expiry → Status</a:t>
            </a:r>
          </a:p>
          <a:p>
            <a:pPr>
              <a:spcBef>
                <a:spcPts val="150"/>
              </a:spcBef>
              <a:defRPr sz="900" b="0">
                <a:solidFill>
                  <a:srgbClr val="888888"/>
                </a:solidFill>
              </a:defRPr>
            </a:pPr>
            <a:r>
              <a:rPr sz="800">
                <a:latin typeface="Times New Roman" panose="02020603050405020304" pitchFamily="18" charset="0"/>
                <a:cs typeface="Times New Roman" panose="02020603050405020304" pitchFamily="18" charset="0"/>
              </a:rPr>
              <a:t>Output: [{host, days_left, status, ...}]</a:t>
            </a:r>
          </a:p>
        </p:txBody>
      </p:sp>
      <p:sp>
        <p:nvSpPr>
          <p:cNvPr id="11" name="Rounded Rectangle 10"/>
          <p:cNvSpPr/>
          <p:nvPr/>
        </p:nvSpPr>
        <p:spPr>
          <a:xfrm>
            <a:off x="4913137" y="2100820"/>
            <a:ext cx="3066766" cy="548640"/>
          </a:xfrm>
          <a:prstGeom prst="roundRect">
            <a:avLst/>
          </a:prstGeom>
          <a:solidFill>
            <a:srgbClr val="222E50"/>
          </a:solidFill>
          <a:ln w="6350">
            <a:solidFill>
              <a:srgbClr val="4CAF5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100" b="1">
                <a:solidFill>
                  <a:srgbClr val="4CAF50"/>
                </a:solidFill>
              </a:defRPr>
            </a:pPr>
            <a:r>
              <a:rPr sz="800">
                <a:latin typeface="Times New Roman" panose="02020603050405020304" pitchFamily="18" charset="0"/>
                <a:cs typeface="Times New Roman" panose="02020603050405020304" pitchFamily="18" charset="0"/>
              </a:rPr>
              <a:t>github_nhi_agent.py</a:t>
            </a:r>
          </a:p>
          <a:p>
            <a:pPr>
              <a:spcBef>
                <a:spcPts val="150"/>
              </a:spcBef>
              <a:defRPr sz="900" b="0">
                <a:solidFill>
                  <a:srgbClr val="BBBBBB"/>
                </a:solidFill>
              </a:defRPr>
            </a:pPr>
            <a:r>
              <a:rPr sz="800">
                <a:latin typeface="Times New Roman" panose="02020603050405020304" pitchFamily="18" charset="0"/>
                <a:cs typeface="Times New Roman" panose="02020603050405020304" pitchFamily="18" charset="0"/>
              </a:rPr>
              <a:t>Query GitHub API → List Repos → Discover PATs/Keys/Secrets</a:t>
            </a:r>
          </a:p>
          <a:p>
            <a:pPr>
              <a:spcBef>
                <a:spcPts val="150"/>
              </a:spcBef>
              <a:defRPr sz="900" b="0">
                <a:solidFill>
                  <a:srgbClr val="888888"/>
                </a:solidFill>
              </a:defRPr>
            </a:pPr>
            <a:r>
              <a:rPr sz="800">
                <a:latin typeface="Times New Roman" panose="02020603050405020304" pitchFamily="18" charset="0"/>
                <a:cs typeface="Times New Roman" panose="02020603050405020304" pitchFamily="18" charset="0"/>
              </a:rPr>
              <a:t>Output: [{nhi_type, scopes, age_days, ...}]</a:t>
            </a:r>
          </a:p>
        </p:txBody>
      </p:sp>
      <p:sp>
        <p:nvSpPr>
          <p:cNvPr id="12" name="Down Arrow 11"/>
          <p:cNvSpPr/>
          <p:nvPr/>
        </p:nvSpPr>
        <p:spPr>
          <a:xfrm>
            <a:off x="4464558" y="2691328"/>
            <a:ext cx="205740" cy="342900"/>
          </a:xfrm>
          <a:prstGeom prst="downArrow">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800">
              <a:latin typeface="Times New Roman" panose="02020603050405020304" pitchFamily="18" charset="0"/>
              <a:cs typeface="Times New Roman" panose="02020603050405020304" pitchFamily="18" charset="0"/>
            </a:endParaRPr>
          </a:p>
        </p:txBody>
      </p:sp>
      <p:sp>
        <p:nvSpPr>
          <p:cNvPr id="13" name="Rounded Rectangle 12"/>
          <p:cNvSpPr/>
          <p:nvPr/>
        </p:nvSpPr>
        <p:spPr>
          <a:xfrm>
            <a:off x="342900" y="3019598"/>
            <a:ext cx="8455914" cy="342900"/>
          </a:xfrm>
          <a:prstGeom prst="roundRect">
            <a:avLst/>
          </a:prstGeom>
          <a:solidFill>
            <a:srgbClr val="1A2340"/>
          </a:solidFill>
          <a:ln w="12700">
            <a:solidFill>
              <a:srgbClr val="FF9800"/>
            </a:solidFill>
          </a:ln>
        </p:spPr>
        <p:style>
          <a:lnRef idx="1">
            <a:schemeClr val="accent1"/>
          </a:lnRef>
          <a:fillRef idx="3">
            <a:schemeClr val="accent1"/>
          </a:fillRef>
          <a:effectRef idx="2">
            <a:schemeClr val="accent1"/>
          </a:effectRef>
          <a:fontRef idx="minor">
            <a:schemeClr val="lt1"/>
          </a:fontRef>
        </p:style>
        <p:txBody>
          <a:bodyPr wrap="square" lIns="137160" rtlCol="0" anchor="ctr"/>
          <a:lstStyle/>
          <a:p>
            <a:pPr algn="l">
              <a:defRPr sz="1200" b="1">
                <a:solidFill>
                  <a:srgbClr val="FF9800"/>
                </a:solidFill>
              </a:defRPr>
            </a:pPr>
            <a:r>
              <a:rPr sz="800">
                <a:latin typeface="Times New Roman" panose="02020603050405020304" pitchFamily="18" charset="0"/>
                <a:cs typeface="Times New Roman" panose="02020603050405020304" pitchFamily="18" charset="0"/>
              </a:rPr>
              <a:t>ANALYSIS LAYER</a:t>
            </a:r>
          </a:p>
        </p:txBody>
      </p:sp>
      <p:sp>
        <p:nvSpPr>
          <p:cNvPr id="14" name="Rounded Rectangle 13"/>
          <p:cNvSpPr/>
          <p:nvPr/>
        </p:nvSpPr>
        <p:spPr>
          <a:xfrm>
            <a:off x="685800" y="3293918"/>
            <a:ext cx="2743200" cy="617220"/>
          </a:xfrm>
          <a:prstGeom prst="roundRect">
            <a:avLst/>
          </a:prstGeom>
          <a:solidFill>
            <a:srgbClr val="222E50"/>
          </a:solidFill>
          <a:ln w="6350">
            <a:solidFill>
              <a:srgbClr val="FF98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100" b="1">
                <a:solidFill>
                  <a:srgbClr val="FF9800"/>
                </a:solidFill>
              </a:defRPr>
            </a:pPr>
            <a:r>
              <a:rPr sz="800">
                <a:latin typeface="Times New Roman" panose="02020603050405020304" pitchFamily="18" charset="0"/>
                <a:cs typeface="Times New Roman" panose="02020603050405020304" pitchFamily="18" charset="0"/>
              </a:rPr>
              <a:t>risk_scorer.py</a:t>
            </a:r>
          </a:p>
          <a:p>
            <a:pPr>
              <a:spcBef>
                <a:spcPts val="150"/>
              </a:spcBef>
              <a:defRPr sz="900" b="0">
                <a:solidFill>
                  <a:srgbClr val="BBBBBB"/>
                </a:solidFill>
              </a:defRPr>
            </a:pPr>
            <a:r>
              <a:rPr sz="800">
                <a:latin typeface="Times New Roman" panose="02020603050405020304" pitchFamily="18" charset="0"/>
                <a:cs typeface="Times New Roman" panose="02020603050405020304" pitchFamily="18" charset="0"/>
              </a:rPr>
              <a:t>Age(40) + Type(30) + Privilege(20) + SSL(10)</a:t>
            </a:r>
          </a:p>
          <a:p>
            <a:pPr>
              <a:spcBef>
                <a:spcPts val="150"/>
              </a:spcBef>
              <a:defRPr sz="900" b="0">
                <a:solidFill>
                  <a:srgbClr val="888888"/>
                </a:solidFill>
              </a:defRPr>
            </a:pPr>
            <a:r>
              <a:rPr sz="800">
                <a:latin typeface="Times New Roman" panose="02020603050405020304" pitchFamily="18" charset="0"/>
                <a:cs typeface="Times New Roman" panose="02020603050405020304" pitchFamily="18" charset="0"/>
              </a:rPr>
              <a:t>→ Score 0-100, Severity Label</a:t>
            </a:r>
          </a:p>
        </p:txBody>
      </p:sp>
      <p:sp>
        <p:nvSpPr>
          <p:cNvPr id="15" name="Rounded Rectangle 14"/>
          <p:cNvSpPr/>
          <p:nvPr/>
        </p:nvSpPr>
        <p:spPr>
          <a:xfrm>
            <a:off x="3610117" y="3342838"/>
            <a:ext cx="2606040" cy="617220"/>
          </a:xfrm>
          <a:prstGeom prst="roundRect">
            <a:avLst/>
          </a:prstGeom>
          <a:solidFill>
            <a:srgbClr val="222E50"/>
          </a:solidFill>
          <a:ln w="6350">
            <a:solidFill>
              <a:srgbClr val="FF98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100" b="1">
                <a:solidFill>
                  <a:srgbClr val="FF9800"/>
                </a:solidFill>
              </a:defRPr>
            </a:pPr>
            <a:r>
              <a:rPr sz="800">
                <a:latin typeface="Times New Roman" panose="02020603050405020304" pitchFamily="18" charset="0"/>
                <a:cs typeface="Times New Roman" panose="02020603050405020304" pitchFamily="18" charset="0"/>
              </a:rPr>
              <a:t>nhi_policies.py</a:t>
            </a:r>
          </a:p>
          <a:p>
            <a:pPr>
              <a:spcBef>
                <a:spcPts val="150"/>
              </a:spcBef>
              <a:defRPr sz="900" b="0">
                <a:solidFill>
                  <a:srgbClr val="BBBBBB"/>
                </a:solidFill>
              </a:defRPr>
            </a:pPr>
            <a:r>
              <a:rPr sz="800">
                <a:latin typeface="Times New Roman" panose="02020603050405020304" pitchFamily="18" charset="0"/>
                <a:cs typeface="Times New Roman" panose="02020603050405020304" pitchFamily="18" charset="0"/>
              </a:rPr>
              <a:t>7 Rules: R001–R007</a:t>
            </a:r>
          </a:p>
          <a:p>
            <a:pPr>
              <a:spcBef>
                <a:spcPts val="150"/>
              </a:spcBef>
              <a:defRPr sz="900" b="0">
                <a:solidFill>
                  <a:srgbClr val="888888"/>
                </a:solidFill>
              </a:defRPr>
            </a:pPr>
            <a:r>
              <a:rPr sz="800">
                <a:latin typeface="Times New Roman" panose="02020603050405020304" pitchFamily="18" charset="0"/>
                <a:cs typeface="Times New Roman" panose="02020603050405020304" pitchFamily="18" charset="0"/>
              </a:rPr>
              <a:t>→ Violations[]</a:t>
            </a:r>
          </a:p>
        </p:txBody>
      </p:sp>
      <p:sp>
        <p:nvSpPr>
          <p:cNvPr id="16" name="Rounded Rectangle 15"/>
          <p:cNvSpPr/>
          <p:nvPr/>
        </p:nvSpPr>
        <p:spPr>
          <a:xfrm>
            <a:off x="6400800" y="3342838"/>
            <a:ext cx="2057400" cy="617220"/>
          </a:xfrm>
          <a:prstGeom prst="roundRect">
            <a:avLst/>
          </a:prstGeom>
          <a:solidFill>
            <a:srgbClr val="222E50"/>
          </a:solidFill>
          <a:ln w="6350">
            <a:solidFill>
              <a:srgbClr val="9C27B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100" b="1">
                <a:solidFill>
                  <a:srgbClr val="9C27B0"/>
                </a:solidFill>
              </a:defRPr>
            </a:pPr>
            <a:r>
              <a:rPr sz="800">
                <a:latin typeface="Times New Roman" panose="02020603050405020304" pitchFamily="18" charset="0"/>
                <a:cs typeface="Times New Roman" panose="02020603050405020304" pitchFamily="18" charset="0"/>
              </a:rPr>
              <a:t>LLM Enrichment (GPT-4o)</a:t>
            </a:r>
          </a:p>
          <a:p>
            <a:pPr>
              <a:spcBef>
                <a:spcPts val="150"/>
              </a:spcBef>
              <a:defRPr sz="900" b="0">
                <a:solidFill>
                  <a:srgbClr val="BBBBBB"/>
                </a:solidFill>
              </a:defRPr>
            </a:pPr>
            <a:r>
              <a:rPr sz="800">
                <a:latin typeface="Times New Roman" panose="02020603050405020304" pitchFamily="18" charset="0"/>
                <a:cs typeface="Times New Roman" panose="02020603050405020304" pitchFamily="18" charset="0"/>
              </a:rPr>
              <a:t>Optional: score ≥ 50</a:t>
            </a:r>
          </a:p>
          <a:p>
            <a:pPr>
              <a:spcBef>
                <a:spcPts val="150"/>
              </a:spcBef>
              <a:defRPr sz="900" b="0">
                <a:solidFill>
                  <a:srgbClr val="888888"/>
                </a:solidFill>
              </a:defRPr>
            </a:pPr>
            <a:r>
              <a:rPr sz="800">
                <a:latin typeface="Times New Roman" panose="02020603050405020304" pitchFamily="18" charset="0"/>
                <a:cs typeface="Times New Roman" panose="02020603050405020304" pitchFamily="18" charset="0"/>
              </a:rPr>
              <a:t>→ Natural language reasoning</a:t>
            </a:r>
          </a:p>
        </p:txBody>
      </p:sp>
      <p:sp>
        <p:nvSpPr>
          <p:cNvPr id="17" name="Down Arrow 16"/>
          <p:cNvSpPr/>
          <p:nvPr/>
        </p:nvSpPr>
        <p:spPr>
          <a:xfrm>
            <a:off x="4464558" y="3992270"/>
            <a:ext cx="205740" cy="342900"/>
          </a:xfrm>
          <a:prstGeom prst="downArrow">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800">
              <a:latin typeface="Times New Roman" panose="02020603050405020304" pitchFamily="18" charset="0"/>
              <a:cs typeface="Times New Roman" panose="02020603050405020304" pitchFamily="18" charset="0"/>
            </a:endParaRPr>
          </a:p>
        </p:txBody>
      </p:sp>
      <p:sp>
        <p:nvSpPr>
          <p:cNvPr id="18" name="Rounded Rectangle 17"/>
          <p:cNvSpPr/>
          <p:nvPr/>
        </p:nvSpPr>
        <p:spPr>
          <a:xfrm>
            <a:off x="339470" y="4218783"/>
            <a:ext cx="8455914" cy="424997"/>
          </a:xfrm>
          <a:prstGeom prst="roundRect">
            <a:avLst/>
          </a:prstGeom>
          <a:solidFill>
            <a:srgbClr val="1A2340"/>
          </a:solidFill>
          <a:ln w="12700">
            <a:solidFill>
              <a:srgbClr val="00BCD4"/>
            </a:solidFill>
          </a:ln>
        </p:spPr>
        <p:style>
          <a:lnRef idx="1">
            <a:schemeClr val="accent1"/>
          </a:lnRef>
          <a:fillRef idx="3">
            <a:schemeClr val="accent1"/>
          </a:fillRef>
          <a:effectRef idx="2">
            <a:schemeClr val="accent1"/>
          </a:effectRef>
          <a:fontRef idx="minor">
            <a:schemeClr val="lt1"/>
          </a:fontRef>
        </p:style>
        <p:txBody>
          <a:bodyPr wrap="square" lIns="137160" rtlCol="0" anchor="ctr"/>
          <a:lstStyle/>
          <a:p>
            <a:pPr algn="l">
              <a:defRPr sz="1200" b="1">
                <a:solidFill>
                  <a:srgbClr val="00BCD4"/>
                </a:solidFill>
              </a:defRPr>
            </a:pPr>
            <a:r>
              <a:rPr sz="800">
                <a:latin typeface="Times New Roman" panose="02020603050405020304" pitchFamily="18" charset="0"/>
                <a:cs typeface="Times New Roman" panose="02020603050405020304" pitchFamily="18" charset="0"/>
              </a:rPr>
              <a:t>REPORTING LAYER</a:t>
            </a:r>
          </a:p>
        </p:txBody>
      </p:sp>
      <p:sp>
        <p:nvSpPr>
          <p:cNvPr id="19" name="Rounded Rectangle 18"/>
          <p:cNvSpPr/>
          <p:nvPr/>
        </p:nvSpPr>
        <p:spPr>
          <a:xfrm>
            <a:off x="685800" y="4594860"/>
            <a:ext cx="3086100" cy="377190"/>
          </a:xfrm>
          <a:prstGeom prst="roundRect">
            <a:avLst/>
          </a:prstGeom>
          <a:solidFill>
            <a:srgbClr val="222E50"/>
          </a:solidFill>
          <a:ln w="6350">
            <a:solidFill>
              <a:srgbClr val="00BCD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000" b="1">
                <a:solidFill>
                  <a:srgbClr val="00BCD4"/>
                </a:solidFill>
              </a:defRPr>
            </a:pPr>
            <a:r>
              <a:rPr sz="800">
                <a:latin typeface="Times New Roman" panose="02020603050405020304" pitchFamily="18" charset="0"/>
                <a:cs typeface="Times New Roman" panose="02020603050405020304" pitchFamily="18" charset="0"/>
              </a:rPr>
              <a:t>report_generator.py  →  HTML + JSON</a:t>
            </a:r>
          </a:p>
        </p:txBody>
      </p:sp>
      <p:sp>
        <p:nvSpPr>
          <p:cNvPr id="20" name="Rounded Rectangle 19"/>
          <p:cNvSpPr/>
          <p:nvPr/>
        </p:nvSpPr>
        <p:spPr>
          <a:xfrm>
            <a:off x="3977640" y="4594860"/>
            <a:ext cx="3086100" cy="377190"/>
          </a:xfrm>
          <a:prstGeom prst="roundRect">
            <a:avLst/>
          </a:prstGeom>
          <a:solidFill>
            <a:srgbClr val="222E50"/>
          </a:solidFill>
          <a:ln w="6350">
            <a:solidFill>
              <a:srgbClr val="00BCD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000" b="1">
                <a:solidFill>
                  <a:srgbClr val="00BCD4"/>
                </a:solidFill>
              </a:defRPr>
            </a:pPr>
            <a:r>
              <a:rPr sz="800">
                <a:latin typeface="Times New Roman" panose="02020603050405020304" pitchFamily="18" charset="0"/>
                <a:cs typeface="Times New Roman" panose="02020603050405020304" pitchFamily="18" charset="0"/>
              </a:rPr>
              <a:t>React Dashboard  →  9 Interactive Pages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2286" y="102870"/>
            <a:ext cx="9141714" cy="651510"/>
          </a:xfrm>
          <a:prstGeom prst="roundRect">
            <a:avLst/>
          </a:prstGeom>
          <a:noFill/>
          <a:ln>
            <a:noFill/>
          </a:ln>
        </p:spPr>
        <p:style>
          <a:lnRef idx="1">
            <a:schemeClr val="accent1"/>
          </a:lnRef>
          <a:fillRef idx="3">
            <a:schemeClr val="accent1"/>
          </a:fillRef>
          <a:effectRef idx="2">
            <a:schemeClr val="accent1"/>
          </a:effectRef>
          <a:fontRef idx="minor">
            <a:schemeClr val="lt1"/>
          </a:fontRef>
        </p:style>
        <p:txBody>
          <a:bodyPr wrap="square" lIns="342900" rtlCol="0" anchor="ctr"/>
          <a:lstStyle/>
          <a:p>
            <a:pPr algn="ctr">
              <a:spcBef>
                <a:spcPts val="150"/>
              </a:spcBef>
              <a:defRPr sz="1300" b="0">
                <a:solidFill>
                  <a:srgbClr val="CCDDFF"/>
                </a:solidFill>
              </a:defRPr>
            </a:pPr>
            <a:r>
              <a:rPr sz="1950" dirty="0">
                <a:latin typeface="Bookman Old Style" panose="02050604050505020204" pitchFamily="18" charset="0"/>
              </a:rPr>
              <a:t> </a:t>
            </a:r>
            <a:r>
              <a:rPr sz="2000" b="1" i="1" dirty="0">
                <a:solidFill>
                  <a:schemeClr val="accent1">
                    <a:lumMod val="50000"/>
                  </a:schemeClr>
                </a:solidFill>
                <a:latin typeface="Bookman Old Style" panose="02050604050505020204" pitchFamily="18" charset="0"/>
                <a:ea typeface="ＭＳ Ｐゴシック" panose="020B0600070205080204" pitchFamily="34" charset="-128"/>
                <a:cs typeface="Arial" panose="020B0604020202020204"/>
              </a:rPr>
              <a:t>Risk Scoring Calculation Algorithm</a:t>
            </a:r>
          </a:p>
          <a:p>
            <a:pPr algn="ctr">
              <a:spcBef>
                <a:spcPts val="150"/>
              </a:spcBef>
              <a:defRPr sz="1300" b="0">
                <a:solidFill>
                  <a:srgbClr val="CCDDFF"/>
                </a:solidFill>
              </a:defRPr>
            </a:pPr>
            <a:r>
              <a:rPr sz="2000" b="1" i="1" dirty="0">
                <a:solidFill>
                  <a:schemeClr val="accent1">
                    <a:lumMod val="50000"/>
                  </a:schemeClr>
                </a:solidFill>
                <a:latin typeface="Bookman Old Style" panose="02050604050505020204" pitchFamily="18" charset="0"/>
                <a:ea typeface="ＭＳ Ｐゴシック" panose="020B0600070205080204" pitchFamily="34" charset="-128"/>
                <a:cs typeface="Arial" panose="020B0604020202020204"/>
              </a:rPr>
              <a:t>Deterministic scoring 0-100 with severity labeling</a:t>
            </a:r>
          </a:p>
        </p:txBody>
      </p:sp>
      <p:sp>
        <p:nvSpPr>
          <p:cNvPr id="4" name="Rounded Rectangle 3"/>
          <p:cNvSpPr/>
          <p:nvPr/>
        </p:nvSpPr>
        <p:spPr>
          <a:xfrm>
            <a:off x="342900" y="822960"/>
            <a:ext cx="891540" cy="514350"/>
          </a:xfrm>
          <a:prstGeom prst="roundRect">
            <a:avLst/>
          </a:prstGeom>
          <a:solidFill>
            <a:srgbClr val="F443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FFFFFF"/>
                </a:solidFill>
              </a:defRPr>
            </a:pPr>
            <a:r>
              <a:rPr sz="1350">
                <a:latin typeface="Times New Roman" panose="02020603050405020304" pitchFamily="18" charset="0"/>
                <a:cs typeface="Times New Roman" panose="02020603050405020304" pitchFamily="18" charset="0"/>
              </a:rPr>
              <a:t>40 pts</a:t>
            </a:r>
          </a:p>
        </p:txBody>
      </p:sp>
      <p:sp>
        <p:nvSpPr>
          <p:cNvPr id="5" name="Rounded Rectangle 4"/>
          <p:cNvSpPr/>
          <p:nvPr/>
        </p:nvSpPr>
        <p:spPr>
          <a:xfrm>
            <a:off x="1337310" y="822960"/>
            <a:ext cx="3977640" cy="514350"/>
          </a:xfrm>
          <a:prstGeom prst="roundRect">
            <a:avLst/>
          </a:prstGeom>
          <a:solidFill>
            <a:srgbClr val="1A2340"/>
          </a:solidFill>
          <a:ln w="6350">
            <a:solidFill>
              <a:srgbClr val="F44336"/>
            </a:solidFill>
          </a:ln>
        </p:spPr>
        <p:style>
          <a:lnRef idx="1">
            <a:schemeClr val="accent1"/>
          </a:lnRef>
          <a:fillRef idx="3">
            <a:schemeClr val="accent1"/>
          </a:fillRef>
          <a:effectRef idx="2">
            <a:schemeClr val="accent1"/>
          </a:effectRef>
          <a:fontRef idx="minor">
            <a:schemeClr val="lt1"/>
          </a:fontRef>
        </p:style>
        <p:txBody>
          <a:bodyPr wrap="square" lIns="102870" rtlCol="0" anchor="ctr"/>
          <a:lstStyle/>
          <a:p>
            <a:pPr algn="l">
              <a:defRPr sz="1200" b="1">
                <a:solidFill>
                  <a:srgbClr val="F44336"/>
                </a:solidFill>
              </a:defRPr>
            </a:pPr>
            <a:r>
              <a:rPr sz="900" dirty="0">
                <a:latin typeface="Times New Roman" panose="02020603050405020304" pitchFamily="18" charset="0"/>
                <a:cs typeface="Times New Roman" panose="02020603050405020304" pitchFamily="18" charset="0"/>
              </a:rPr>
              <a:t>Age Component</a:t>
            </a:r>
          </a:p>
          <a:p>
            <a:pPr>
              <a:spcBef>
                <a:spcPts val="150"/>
              </a:spcBef>
              <a:defRPr sz="900" b="0">
                <a:solidFill>
                  <a:srgbClr val="BBBBBB"/>
                </a:solidFill>
              </a:defRPr>
            </a:pPr>
            <a:r>
              <a:rPr sz="675" dirty="0" err="1">
                <a:latin typeface="Times New Roman" panose="02020603050405020304" pitchFamily="18" charset="0"/>
                <a:cs typeface="Times New Roman" panose="02020603050405020304" pitchFamily="18" charset="0"/>
              </a:rPr>
              <a:t>age_ratio</a:t>
            </a:r>
            <a:r>
              <a:rPr sz="675" dirty="0">
                <a:latin typeface="Times New Roman" panose="02020603050405020304" pitchFamily="18" charset="0"/>
                <a:cs typeface="Times New Roman" panose="02020603050405020304" pitchFamily="18" charset="0"/>
              </a:rPr>
              <a:t> = min(age / </a:t>
            </a:r>
            <a:r>
              <a:rPr sz="675" dirty="0" err="1">
                <a:latin typeface="Times New Roman" panose="02020603050405020304" pitchFamily="18" charset="0"/>
                <a:cs typeface="Times New Roman" panose="02020603050405020304" pitchFamily="18" charset="0"/>
              </a:rPr>
              <a:t>max_age</a:t>
            </a:r>
            <a:r>
              <a:rPr sz="675" dirty="0">
                <a:latin typeface="Times New Roman" panose="02020603050405020304" pitchFamily="18" charset="0"/>
                <a:cs typeface="Times New Roman" panose="02020603050405020304" pitchFamily="18" charset="0"/>
              </a:rPr>
              <a:t>, 1.0) × 40</a:t>
            </a:r>
          </a:p>
        </p:txBody>
      </p:sp>
      <p:sp>
        <p:nvSpPr>
          <p:cNvPr id="6" name="Rounded Rectangle 5"/>
          <p:cNvSpPr/>
          <p:nvPr/>
        </p:nvSpPr>
        <p:spPr>
          <a:xfrm>
            <a:off x="342900" y="1474470"/>
            <a:ext cx="891540" cy="514350"/>
          </a:xfrm>
          <a:prstGeom prst="round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FFFFFF"/>
                </a:solidFill>
              </a:defRPr>
            </a:pPr>
            <a:r>
              <a:rPr sz="1350">
                <a:latin typeface="Times New Roman" panose="02020603050405020304" pitchFamily="18" charset="0"/>
                <a:cs typeface="Times New Roman" panose="02020603050405020304" pitchFamily="18" charset="0"/>
              </a:rPr>
              <a:t>30 pts</a:t>
            </a:r>
          </a:p>
        </p:txBody>
      </p:sp>
      <p:sp>
        <p:nvSpPr>
          <p:cNvPr id="7" name="Rounded Rectangle 6"/>
          <p:cNvSpPr/>
          <p:nvPr/>
        </p:nvSpPr>
        <p:spPr>
          <a:xfrm>
            <a:off x="1337310" y="1474470"/>
            <a:ext cx="3977640" cy="514350"/>
          </a:xfrm>
          <a:prstGeom prst="roundRect">
            <a:avLst/>
          </a:prstGeom>
          <a:solidFill>
            <a:srgbClr val="1A2340"/>
          </a:solidFill>
          <a:ln w="6350">
            <a:solidFill>
              <a:srgbClr val="FF9800"/>
            </a:solidFill>
          </a:ln>
        </p:spPr>
        <p:style>
          <a:lnRef idx="1">
            <a:schemeClr val="accent1"/>
          </a:lnRef>
          <a:fillRef idx="3">
            <a:schemeClr val="accent1"/>
          </a:fillRef>
          <a:effectRef idx="2">
            <a:schemeClr val="accent1"/>
          </a:effectRef>
          <a:fontRef idx="minor">
            <a:schemeClr val="lt1"/>
          </a:fontRef>
        </p:style>
        <p:txBody>
          <a:bodyPr wrap="square" lIns="102870" rtlCol="0" anchor="ctr"/>
          <a:lstStyle/>
          <a:p>
            <a:pPr algn="l">
              <a:defRPr sz="1200" b="1">
                <a:solidFill>
                  <a:srgbClr val="FF9800"/>
                </a:solidFill>
              </a:defRPr>
            </a:pPr>
            <a:r>
              <a:rPr sz="900">
                <a:latin typeface="Times New Roman" panose="02020603050405020304" pitchFamily="18" charset="0"/>
                <a:cs typeface="Times New Roman" panose="02020603050405020304" pitchFamily="18" charset="0"/>
              </a:rPr>
              <a:t>Type Weight</a:t>
            </a:r>
          </a:p>
          <a:p>
            <a:pPr>
              <a:spcBef>
                <a:spcPts val="150"/>
              </a:spcBef>
              <a:defRPr sz="900" b="0">
                <a:solidFill>
                  <a:srgbClr val="BBBBBB"/>
                </a:solidFill>
              </a:defRPr>
            </a:pPr>
            <a:r>
              <a:rPr sz="675">
                <a:latin typeface="Times New Roman" panose="02020603050405020304" pitchFamily="18" charset="0"/>
                <a:cs typeface="Times New Roman" panose="02020603050405020304" pitchFamily="18" charset="0"/>
              </a:rPr>
              <a:t>PAT=30  DK_Write=30  DK_Read=18  Secret=14  SSL=10</a:t>
            </a:r>
          </a:p>
        </p:txBody>
      </p:sp>
      <p:sp>
        <p:nvSpPr>
          <p:cNvPr id="8" name="Rounded Rectangle 7"/>
          <p:cNvSpPr/>
          <p:nvPr/>
        </p:nvSpPr>
        <p:spPr>
          <a:xfrm>
            <a:off x="342900" y="2125980"/>
            <a:ext cx="891540" cy="514350"/>
          </a:xfrm>
          <a:prstGeom prst="roundRect">
            <a:avLst/>
          </a:prstGeom>
          <a:solidFill>
            <a:srgbClr val="9C27B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FFFFFF"/>
                </a:solidFill>
              </a:defRPr>
            </a:pPr>
            <a:r>
              <a:rPr sz="1350">
                <a:latin typeface="Times New Roman" panose="02020603050405020304" pitchFamily="18" charset="0"/>
                <a:cs typeface="Times New Roman" panose="02020603050405020304" pitchFamily="18" charset="0"/>
              </a:rPr>
              <a:t>20 pts</a:t>
            </a:r>
          </a:p>
        </p:txBody>
      </p:sp>
      <p:sp>
        <p:nvSpPr>
          <p:cNvPr id="9" name="Rounded Rectangle 8"/>
          <p:cNvSpPr/>
          <p:nvPr/>
        </p:nvSpPr>
        <p:spPr>
          <a:xfrm>
            <a:off x="1337310" y="2125980"/>
            <a:ext cx="3977640" cy="514350"/>
          </a:xfrm>
          <a:prstGeom prst="roundRect">
            <a:avLst/>
          </a:prstGeom>
          <a:solidFill>
            <a:srgbClr val="1A2340"/>
          </a:solidFill>
          <a:ln w="6350">
            <a:solidFill>
              <a:srgbClr val="9C27B0"/>
            </a:solidFill>
          </a:ln>
        </p:spPr>
        <p:style>
          <a:lnRef idx="1">
            <a:schemeClr val="accent1"/>
          </a:lnRef>
          <a:fillRef idx="3">
            <a:schemeClr val="accent1"/>
          </a:fillRef>
          <a:effectRef idx="2">
            <a:schemeClr val="accent1"/>
          </a:effectRef>
          <a:fontRef idx="minor">
            <a:schemeClr val="lt1"/>
          </a:fontRef>
        </p:style>
        <p:txBody>
          <a:bodyPr wrap="square" lIns="102870" rtlCol="0" anchor="ctr"/>
          <a:lstStyle/>
          <a:p>
            <a:pPr algn="l">
              <a:defRPr sz="1200" b="1">
                <a:solidFill>
                  <a:srgbClr val="9C27B0"/>
                </a:solidFill>
              </a:defRPr>
            </a:pPr>
            <a:r>
              <a:rPr sz="900">
                <a:latin typeface="Times New Roman" panose="02020603050405020304" pitchFamily="18" charset="0"/>
                <a:cs typeface="Times New Roman" panose="02020603050405020304" pitchFamily="18" charset="0"/>
              </a:rPr>
              <a:t>Privilege Scope</a:t>
            </a:r>
          </a:p>
          <a:p>
            <a:pPr>
              <a:spcBef>
                <a:spcPts val="150"/>
              </a:spcBef>
              <a:defRPr sz="900" b="0">
                <a:solidFill>
                  <a:srgbClr val="BBBBBB"/>
                </a:solidFill>
              </a:defRPr>
            </a:pPr>
            <a:r>
              <a:rPr sz="675">
                <a:latin typeface="Times New Roman" panose="02020603050405020304" pitchFamily="18" charset="0"/>
                <a:cs typeface="Times New Roman" panose="02020603050405020304" pitchFamily="18" charset="0"/>
              </a:rPr>
              <a:t>20 if write/admin scope, 10 if read-only</a:t>
            </a:r>
          </a:p>
        </p:txBody>
      </p:sp>
      <p:sp>
        <p:nvSpPr>
          <p:cNvPr id="10" name="Rounded Rectangle 9"/>
          <p:cNvSpPr/>
          <p:nvPr/>
        </p:nvSpPr>
        <p:spPr>
          <a:xfrm>
            <a:off x="342900" y="2777489"/>
            <a:ext cx="891540" cy="51435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FFFFFF"/>
                </a:solidFill>
              </a:defRPr>
            </a:pPr>
            <a:r>
              <a:rPr sz="1350">
                <a:latin typeface="Times New Roman" panose="02020603050405020304" pitchFamily="18" charset="0"/>
                <a:cs typeface="Times New Roman" panose="02020603050405020304" pitchFamily="18" charset="0"/>
              </a:rPr>
              <a:t>10 pts</a:t>
            </a:r>
          </a:p>
        </p:txBody>
      </p:sp>
      <p:sp>
        <p:nvSpPr>
          <p:cNvPr id="11" name="Rounded Rectangle 10"/>
          <p:cNvSpPr/>
          <p:nvPr/>
        </p:nvSpPr>
        <p:spPr>
          <a:xfrm>
            <a:off x="1337310" y="2777489"/>
            <a:ext cx="3977640" cy="514350"/>
          </a:xfrm>
          <a:prstGeom prst="roundRect">
            <a:avLst/>
          </a:prstGeom>
          <a:solidFill>
            <a:srgbClr val="1A2340"/>
          </a:solidFill>
          <a:ln w="6350">
            <a:solidFill>
              <a:srgbClr val="007ACC"/>
            </a:solidFill>
          </a:ln>
        </p:spPr>
        <p:style>
          <a:lnRef idx="1">
            <a:schemeClr val="accent1"/>
          </a:lnRef>
          <a:fillRef idx="3">
            <a:schemeClr val="accent1"/>
          </a:fillRef>
          <a:effectRef idx="2">
            <a:schemeClr val="accent1"/>
          </a:effectRef>
          <a:fontRef idx="minor">
            <a:schemeClr val="lt1"/>
          </a:fontRef>
        </p:style>
        <p:txBody>
          <a:bodyPr wrap="square" lIns="102870" rtlCol="0" anchor="ctr"/>
          <a:lstStyle/>
          <a:p>
            <a:pPr algn="l">
              <a:defRPr sz="1200" b="1">
                <a:solidFill>
                  <a:srgbClr val="007ACC"/>
                </a:solidFill>
              </a:defRPr>
            </a:pPr>
            <a:r>
              <a:rPr sz="900">
                <a:latin typeface="Times New Roman" panose="02020603050405020304" pitchFamily="18" charset="0"/>
                <a:cs typeface="Times New Roman" panose="02020603050405020304" pitchFamily="18" charset="0"/>
              </a:rPr>
              <a:t>SSL Bonus</a:t>
            </a:r>
          </a:p>
          <a:p>
            <a:pPr>
              <a:spcBef>
                <a:spcPts val="150"/>
              </a:spcBef>
              <a:defRPr sz="900" b="0">
                <a:solidFill>
                  <a:srgbClr val="BBBBBB"/>
                </a:solidFill>
              </a:defRPr>
            </a:pPr>
            <a:r>
              <a:rPr sz="675">
                <a:latin typeface="Times New Roman" panose="02020603050405020304" pitchFamily="18" charset="0"/>
                <a:cs typeface="Times New Roman" panose="02020603050405020304" pitchFamily="18" charset="0"/>
              </a:rPr>
              <a:t>10 if CRITICAL, 5 if WARNING, 0 otherwise</a:t>
            </a:r>
          </a:p>
        </p:txBody>
      </p:sp>
      <p:sp>
        <p:nvSpPr>
          <p:cNvPr id="12" name="Rounded Rectangle 11"/>
          <p:cNvSpPr/>
          <p:nvPr/>
        </p:nvSpPr>
        <p:spPr>
          <a:xfrm>
            <a:off x="365760" y="3600451"/>
            <a:ext cx="4972050" cy="411480"/>
          </a:xfrm>
          <a:prstGeom prst="round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defRPr>
            </a:pPr>
            <a:r>
              <a:rPr sz="1050">
                <a:latin typeface="Times New Roman" panose="02020603050405020304" pitchFamily="18" charset="0"/>
                <a:cs typeface="Times New Roman" panose="02020603050405020304" pitchFamily="18" charset="0"/>
              </a:rPr>
              <a:t>Total = Age + Type + Privilege + SSL  (capped at 100)</a:t>
            </a:r>
          </a:p>
        </p:txBody>
      </p:sp>
      <p:sp>
        <p:nvSpPr>
          <p:cNvPr id="13" name="Rounded Rectangle 12"/>
          <p:cNvSpPr/>
          <p:nvPr/>
        </p:nvSpPr>
        <p:spPr>
          <a:xfrm>
            <a:off x="5692140" y="822960"/>
            <a:ext cx="3086100" cy="342900"/>
          </a:xfrm>
          <a:prstGeom prst="roundRect">
            <a:avLst/>
          </a:prstGeom>
          <a:solidFill>
            <a:srgbClr val="1A23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400" b="1">
                <a:solidFill>
                  <a:srgbClr val="FFEB3B"/>
                </a:solidFill>
              </a:defRPr>
            </a:pPr>
            <a:r>
              <a:rPr sz="1050">
                <a:latin typeface="Times New Roman" panose="02020603050405020304" pitchFamily="18" charset="0"/>
                <a:cs typeface="Times New Roman" panose="02020603050405020304" pitchFamily="18" charset="0"/>
              </a:rPr>
              <a:t>Severity Classification</a:t>
            </a:r>
          </a:p>
        </p:txBody>
      </p:sp>
      <p:sp>
        <p:nvSpPr>
          <p:cNvPr id="14" name="Rounded Rectangle 13"/>
          <p:cNvSpPr/>
          <p:nvPr/>
        </p:nvSpPr>
        <p:spPr>
          <a:xfrm>
            <a:off x="5692140" y="1268730"/>
            <a:ext cx="3086100" cy="377190"/>
          </a:xfrm>
          <a:prstGeom prst="roundRect">
            <a:avLst/>
          </a:prstGeom>
          <a:solidFill>
            <a:srgbClr val="F443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FFFFFF"/>
                </a:solidFill>
              </a:defRPr>
            </a:pPr>
            <a:r>
              <a:rPr sz="975">
                <a:latin typeface="Times New Roman" panose="02020603050405020304" pitchFamily="18" charset="0"/>
                <a:cs typeface="Times New Roman" panose="02020603050405020304" pitchFamily="18" charset="0"/>
              </a:rPr>
              <a:t>CRITICAL  —  score ≥ 70</a:t>
            </a:r>
          </a:p>
        </p:txBody>
      </p:sp>
      <p:sp>
        <p:nvSpPr>
          <p:cNvPr id="15" name="Rounded Rectangle 14"/>
          <p:cNvSpPr/>
          <p:nvPr/>
        </p:nvSpPr>
        <p:spPr>
          <a:xfrm>
            <a:off x="5692140" y="1748790"/>
            <a:ext cx="3086100" cy="377190"/>
          </a:xfrm>
          <a:prstGeom prst="round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FFFFFF"/>
                </a:solidFill>
              </a:defRPr>
            </a:pPr>
            <a:r>
              <a:rPr sz="975">
                <a:latin typeface="Times New Roman" panose="02020603050405020304" pitchFamily="18" charset="0"/>
                <a:cs typeface="Times New Roman" panose="02020603050405020304" pitchFamily="18" charset="0"/>
              </a:rPr>
              <a:t>HIGH  —  score ≥ 50</a:t>
            </a:r>
          </a:p>
        </p:txBody>
      </p:sp>
      <p:sp>
        <p:nvSpPr>
          <p:cNvPr id="16" name="Rounded Rectangle 15"/>
          <p:cNvSpPr/>
          <p:nvPr/>
        </p:nvSpPr>
        <p:spPr>
          <a:xfrm>
            <a:off x="5692140" y="2228850"/>
            <a:ext cx="3086100" cy="377190"/>
          </a:xfrm>
          <a:prstGeom prst="roundRect">
            <a:avLst/>
          </a:prstGeom>
          <a:solidFill>
            <a:srgbClr val="FFEB3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333333"/>
                </a:solidFill>
              </a:defRPr>
            </a:pPr>
            <a:r>
              <a:rPr sz="975">
                <a:latin typeface="Times New Roman" panose="02020603050405020304" pitchFamily="18" charset="0"/>
                <a:cs typeface="Times New Roman" panose="02020603050405020304" pitchFamily="18" charset="0"/>
              </a:rPr>
              <a:t>MEDIUM  —  score ≥ 30</a:t>
            </a:r>
          </a:p>
        </p:txBody>
      </p:sp>
      <p:sp>
        <p:nvSpPr>
          <p:cNvPr id="17" name="Rounded Rectangle 16"/>
          <p:cNvSpPr/>
          <p:nvPr/>
        </p:nvSpPr>
        <p:spPr>
          <a:xfrm>
            <a:off x="5692140" y="2708909"/>
            <a:ext cx="3086100" cy="377190"/>
          </a:xfrm>
          <a:prstGeom prst="round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FFFFFF"/>
                </a:solidFill>
              </a:defRPr>
            </a:pPr>
            <a:r>
              <a:rPr sz="975">
                <a:latin typeface="Times New Roman" panose="02020603050405020304" pitchFamily="18" charset="0"/>
                <a:cs typeface="Times New Roman" panose="02020603050405020304" pitchFamily="18" charset="0"/>
              </a:rPr>
              <a:t>LOW  —  score &lt; 30</a:t>
            </a:r>
          </a:p>
        </p:txBody>
      </p:sp>
      <p:sp>
        <p:nvSpPr>
          <p:cNvPr id="18" name="Rounded Rectangle 17"/>
          <p:cNvSpPr/>
          <p:nvPr/>
        </p:nvSpPr>
        <p:spPr>
          <a:xfrm>
            <a:off x="5692140" y="3223260"/>
            <a:ext cx="3086100" cy="1714500"/>
          </a:xfrm>
          <a:prstGeom prst="roundRect">
            <a:avLst/>
          </a:prstGeom>
          <a:solidFill>
            <a:srgbClr val="1A2340"/>
          </a:solidFill>
          <a:ln w="9525">
            <a:solidFill>
              <a:srgbClr val="00BCD4"/>
            </a:solidFill>
          </a:ln>
        </p:spPr>
        <p:style>
          <a:lnRef idx="1">
            <a:schemeClr val="accent1"/>
          </a:lnRef>
          <a:fillRef idx="3">
            <a:schemeClr val="accent1"/>
          </a:fillRef>
          <a:effectRef idx="2">
            <a:schemeClr val="accent1"/>
          </a:effectRef>
          <a:fontRef idx="minor">
            <a:schemeClr val="lt1"/>
          </a:fontRef>
        </p:style>
        <p:txBody>
          <a:bodyPr wrap="square" lIns="102870" tIns="54864" rtlCol="0" anchor="ctr"/>
          <a:lstStyle/>
          <a:p>
            <a:pPr algn="l">
              <a:defRPr sz="1200" b="1">
                <a:solidFill>
                  <a:srgbClr val="00BCD4"/>
                </a:solidFill>
              </a:defRPr>
            </a:pPr>
            <a:r>
              <a:rPr sz="900">
                <a:latin typeface="Times New Roman" panose="02020603050405020304" pitchFamily="18" charset="0"/>
                <a:cs typeface="Times New Roman" panose="02020603050405020304" pitchFamily="18" charset="0"/>
              </a:rPr>
              <a:t>Worked Example</a:t>
            </a:r>
          </a:p>
          <a:p>
            <a:pPr>
              <a:spcBef>
                <a:spcPts val="150"/>
              </a:spcBef>
              <a:defRPr sz="1000" b="0">
                <a:solidFill>
                  <a:srgbClr val="BBBBBB"/>
                </a:solidFill>
              </a:defRPr>
            </a:pPr>
            <a:r>
              <a:rPr sz="750">
                <a:latin typeface="Times New Roman" panose="02020603050405020304" pitchFamily="18" charset="0"/>
                <a:cs typeface="Times New Roman" panose="02020603050405020304" pitchFamily="18" charset="0"/>
              </a:rPr>
              <a:t>PAT, 180 days old, admin:org scope</a:t>
            </a:r>
          </a:p>
          <a:p>
            <a:pPr>
              <a:spcBef>
                <a:spcPts val="150"/>
              </a:spcBef>
              <a:defRPr sz="1000" b="0">
                <a:solidFill>
                  <a:srgbClr val="BBBBBB"/>
                </a:solidFill>
              </a:defRPr>
            </a:pPr>
            <a:endParaRPr sz="750">
              <a:latin typeface="Times New Roman" panose="02020603050405020304" pitchFamily="18" charset="0"/>
              <a:cs typeface="Times New Roman" panose="02020603050405020304" pitchFamily="18" charset="0"/>
            </a:endParaRPr>
          </a:p>
          <a:p>
            <a:pPr>
              <a:spcBef>
                <a:spcPts val="150"/>
              </a:spcBef>
              <a:defRPr sz="1000" b="0">
                <a:solidFill>
                  <a:srgbClr val="BBBBBB"/>
                </a:solidFill>
              </a:defRPr>
            </a:pPr>
            <a:r>
              <a:rPr sz="750">
                <a:latin typeface="Times New Roman" panose="02020603050405020304" pitchFamily="18" charset="0"/>
                <a:cs typeface="Times New Roman" panose="02020603050405020304" pitchFamily="18" charset="0"/>
              </a:rPr>
              <a:t>Age:  min(180/30, 1) × 40 = 40</a:t>
            </a:r>
          </a:p>
          <a:p>
            <a:pPr>
              <a:spcBef>
                <a:spcPts val="150"/>
              </a:spcBef>
              <a:defRPr sz="1000" b="0">
                <a:solidFill>
                  <a:srgbClr val="BBBBBB"/>
                </a:solidFill>
              </a:defRPr>
            </a:pPr>
            <a:r>
              <a:rPr sz="750">
                <a:latin typeface="Times New Roman" panose="02020603050405020304" pitchFamily="18" charset="0"/>
                <a:cs typeface="Times New Roman" panose="02020603050405020304" pitchFamily="18" charset="0"/>
              </a:rPr>
              <a:t>Type: PAT = 30</a:t>
            </a:r>
          </a:p>
          <a:p>
            <a:pPr>
              <a:spcBef>
                <a:spcPts val="150"/>
              </a:spcBef>
              <a:defRPr sz="1000" b="0">
                <a:solidFill>
                  <a:srgbClr val="BBBBBB"/>
                </a:solidFill>
              </a:defRPr>
            </a:pPr>
            <a:r>
              <a:rPr sz="750">
                <a:latin typeface="Times New Roman" panose="02020603050405020304" pitchFamily="18" charset="0"/>
                <a:cs typeface="Times New Roman" panose="02020603050405020304" pitchFamily="18" charset="0"/>
              </a:rPr>
              <a:t>Priv: admin:org → 20</a:t>
            </a:r>
          </a:p>
          <a:p>
            <a:pPr>
              <a:spcBef>
                <a:spcPts val="150"/>
              </a:spcBef>
              <a:defRPr sz="1000" b="0">
                <a:solidFill>
                  <a:srgbClr val="BBBBBB"/>
                </a:solidFill>
              </a:defRPr>
            </a:pPr>
            <a:r>
              <a:rPr sz="750">
                <a:latin typeface="Times New Roman" panose="02020603050405020304" pitchFamily="18" charset="0"/>
                <a:cs typeface="Times New Roman" panose="02020603050405020304" pitchFamily="18" charset="0"/>
              </a:rPr>
              <a:t>SSL:  N/A → 0</a:t>
            </a:r>
          </a:p>
          <a:p>
            <a:pPr>
              <a:spcBef>
                <a:spcPts val="150"/>
              </a:spcBef>
              <a:defRPr sz="1000" b="0">
                <a:solidFill>
                  <a:srgbClr val="BBBBBB"/>
                </a:solidFill>
              </a:defRPr>
            </a:pPr>
            <a:r>
              <a:rPr sz="750">
                <a:latin typeface="Times New Roman" panose="02020603050405020304" pitchFamily="18" charset="0"/>
                <a:cs typeface="Times New Roman" panose="02020603050405020304" pitchFamily="18" charset="0"/>
              </a:rPr>
              <a:t>─────────────────────</a:t>
            </a:r>
          </a:p>
          <a:p>
            <a:pPr>
              <a:spcBef>
                <a:spcPts val="150"/>
              </a:spcBef>
              <a:defRPr sz="1000" b="1">
                <a:solidFill>
                  <a:srgbClr val="F44336"/>
                </a:solidFill>
              </a:defRPr>
            </a:pPr>
            <a:r>
              <a:rPr sz="750">
                <a:latin typeface="Times New Roman" panose="02020603050405020304" pitchFamily="18" charset="0"/>
                <a:cs typeface="Times New Roman" panose="02020603050405020304" pitchFamily="18" charset="0"/>
              </a:rPr>
              <a:t>Total = 90 → CRITICAL</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206B18D-3A48-337C-D14F-6B312BC2283E}"/>
              </a:ext>
            </a:extLst>
          </p:cNvPr>
          <p:cNvSpPr>
            <a:spLocks noGrp="1"/>
          </p:cNvSpPr>
          <p:nvPr>
            <p:ph type="sldNum" sz="quarter" idx="12"/>
          </p:nvPr>
        </p:nvSpPr>
        <p:spPr/>
        <p:txBody>
          <a:bodyPr/>
          <a:lstStyle/>
          <a:p>
            <a:fld id="{C1FF6DA9-008F-8B48-92A6-B652298478BF}" type="slidenum">
              <a:rPr lang="en-US" smtClean="0"/>
              <a:t>14</a:t>
            </a:fld>
            <a:endParaRPr lang="en-US"/>
          </a:p>
        </p:txBody>
      </p:sp>
      <p:pic>
        <p:nvPicPr>
          <p:cNvPr id="3" name="Picture 2">
            <a:extLst>
              <a:ext uri="{FF2B5EF4-FFF2-40B4-BE49-F238E27FC236}">
                <a16:creationId xmlns:a16="http://schemas.microsoft.com/office/drawing/2014/main" id="{D664F673-27AC-359D-AF92-BA272E404347}"/>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1417158" y="103042"/>
            <a:ext cx="6479933" cy="5009310"/>
          </a:xfrm>
          <a:prstGeom prst="rect">
            <a:avLst/>
          </a:prstGeom>
        </p:spPr>
      </p:pic>
      <p:cxnSp>
        <p:nvCxnSpPr>
          <p:cNvPr id="5" name="Straight Connector 4">
            <a:extLst>
              <a:ext uri="{FF2B5EF4-FFF2-40B4-BE49-F238E27FC236}">
                <a16:creationId xmlns:a16="http://schemas.microsoft.com/office/drawing/2014/main" id="{7519266A-B018-AE7D-2443-9FC2FB5E3C98}"/>
              </a:ext>
            </a:extLst>
          </p:cNvPr>
          <p:cNvCxnSpPr>
            <a:cxnSpLocks/>
          </p:cNvCxnSpPr>
          <p:nvPr/>
        </p:nvCxnSpPr>
        <p:spPr>
          <a:xfrm>
            <a:off x="2464594" y="721519"/>
            <a:ext cx="0" cy="3843337"/>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27058005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190004"/>
            <a:ext cx="9013371" cy="235609"/>
          </a:xfrm>
          <a:prstGeom prst="roundRect">
            <a:avLst/>
          </a:prstGeom>
          <a:noFill/>
          <a:ln>
            <a:noFill/>
          </a:ln>
        </p:spPr>
        <p:style>
          <a:lnRef idx="1">
            <a:schemeClr val="accent1"/>
          </a:lnRef>
          <a:fillRef idx="3">
            <a:schemeClr val="accent1"/>
          </a:fillRef>
          <a:effectRef idx="2">
            <a:schemeClr val="accent1"/>
          </a:effectRef>
          <a:fontRef idx="minor">
            <a:schemeClr val="lt1"/>
          </a:fontRef>
        </p:style>
        <p:txBody>
          <a:bodyPr wrap="square" lIns="342900" rtlCol="0" anchor="ctr"/>
          <a:lstStyle/>
          <a:p>
            <a:pPr algn="ctr">
              <a:spcBef>
                <a:spcPts val="750"/>
              </a:spcBef>
              <a:defRPr sz="2600" b="1">
                <a:solidFill>
                  <a:srgbClr val="FFFFFF"/>
                </a:solidFill>
              </a:defRPr>
            </a:pPr>
            <a:endParaRPr lang="en-US" sz="2000" b="1" i="1" dirty="0">
              <a:solidFill>
                <a:schemeClr val="accent1">
                  <a:lumMod val="50000"/>
                </a:schemeClr>
              </a:solidFill>
              <a:latin typeface="Playfair Display" panose="00000500000000000000" pitchFamily="2" charset="0"/>
              <a:ea typeface="ＭＳ Ｐゴシック" panose="020B0600070205080204" pitchFamily="34" charset="-128"/>
              <a:cs typeface="Arial" panose="020B0604020202020204"/>
            </a:endParaRPr>
          </a:p>
        </p:txBody>
      </p:sp>
      <p:pic>
        <p:nvPicPr>
          <p:cNvPr id="18" name="Picture 17">
            <a:extLst>
              <a:ext uri="{FF2B5EF4-FFF2-40B4-BE49-F238E27FC236}">
                <a16:creationId xmlns:a16="http://schemas.microsoft.com/office/drawing/2014/main" id="{0FD0BA40-4FF4-9197-E15D-5AC7B2BBD653}"/>
              </a:ext>
            </a:extLst>
          </p:cNvPr>
          <p:cNvPicPr>
            <a:picLocks noChangeAspect="1"/>
          </p:cNvPicPr>
          <p:nvPr/>
        </p:nvPicPr>
        <p:blipFill>
          <a:blip r:embed="rId2"/>
          <a:stretch>
            <a:fillRect/>
          </a:stretch>
        </p:blipFill>
        <p:spPr>
          <a:xfrm>
            <a:off x="0" y="661223"/>
            <a:ext cx="9144000" cy="4862286"/>
          </a:xfrm>
          <a:prstGeom prst="rect">
            <a:avLst/>
          </a:prstGeom>
        </p:spPr>
      </p:pic>
      <p:sp>
        <p:nvSpPr>
          <p:cNvPr id="4" name="TextBox 3">
            <a:extLst>
              <a:ext uri="{FF2B5EF4-FFF2-40B4-BE49-F238E27FC236}">
                <a16:creationId xmlns:a16="http://schemas.microsoft.com/office/drawing/2014/main" id="{6E1A0C9D-4BCB-4C77-2741-B6DDE8B4FDF9}"/>
              </a:ext>
            </a:extLst>
          </p:cNvPr>
          <p:cNvSpPr txBox="1"/>
          <p:nvPr/>
        </p:nvSpPr>
        <p:spPr>
          <a:xfrm>
            <a:off x="859397" y="0"/>
            <a:ext cx="7679587" cy="733534"/>
          </a:xfrm>
          <a:prstGeom prst="rect">
            <a:avLst/>
          </a:prstGeom>
          <a:noFill/>
        </p:spPr>
        <p:txBody>
          <a:bodyPr wrap="square">
            <a:spAutoFit/>
          </a:bodyPr>
          <a:lstStyle/>
          <a:p>
            <a:pPr algn="ctr">
              <a:spcBef>
                <a:spcPts val="750"/>
              </a:spcBef>
              <a:defRPr sz="2600" b="1">
                <a:solidFill>
                  <a:srgbClr val="FFFFFF"/>
                </a:solidFill>
              </a:defRPr>
            </a:pPr>
            <a:r>
              <a:rPr lang="en-US" sz="2000" b="1" i="1" dirty="0">
                <a:solidFill>
                  <a:schemeClr val="accent1">
                    <a:lumMod val="50000"/>
                  </a:schemeClr>
                </a:solidFill>
                <a:latin typeface="Bookman Old Style" panose="02050604050505020204" pitchFamily="18" charset="0"/>
                <a:ea typeface="ＭＳ Ｐゴシック" panose="020B0600070205080204" pitchFamily="34" charset="-128"/>
              </a:rPr>
              <a:t>UML Component Diagram</a:t>
            </a:r>
          </a:p>
          <a:p>
            <a:pPr algn="ctr">
              <a:spcBef>
                <a:spcPts val="150"/>
              </a:spcBef>
              <a:defRPr sz="1300" b="0">
                <a:solidFill>
                  <a:srgbClr val="CCDDFF"/>
                </a:solidFill>
              </a:defRPr>
            </a:pPr>
            <a:r>
              <a:rPr lang="en-US" sz="2000" b="1" i="1" dirty="0">
                <a:solidFill>
                  <a:schemeClr val="accent1">
                    <a:lumMod val="50000"/>
                  </a:schemeClr>
                </a:solidFill>
                <a:latin typeface="Bookman Old Style" panose="02050604050505020204" pitchFamily="18" charset="0"/>
                <a:ea typeface="ＭＳ Ｐゴシック" panose="020B0600070205080204" pitchFamily="34" charset="-128"/>
              </a:rPr>
              <a:t>System components, interfaces, and dependencies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1E8BADB-DD8E-6A28-B1EE-4D328BB79685}"/>
              </a:ext>
            </a:extLst>
          </p:cNvPr>
          <p:cNvSpPr>
            <a:spLocks noGrp="1"/>
          </p:cNvSpPr>
          <p:nvPr>
            <p:ph type="sldNum" sz="quarter" idx="12"/>
          </p:nvPr>
        </p:nvSpPr>
        <p:spPr/>
        <p:txBody>
          <a:bodyPr/>
          <a:lstStyle/>
          <a:p>
            <a:fld id="{C1FF6DA9-008F-8B48-92A6-B652298478BF}" type="slidenum">
              <a:rPr lang="en-US" smtClean="0"/>
              <a:t>16</a:t>
            </a:fld>
            <a:endParaRPr lang="en-US"/>
          </a:p>
        </p:txBody>
      </p:sp>
      <p:pic>
        <p:nvPicPr>
          <p:cNvPr id="4" name="Picture 3">
            <a:extLst>
              <a:ext uri="{FF2B5EF4-FFF2-40B4-BE49-F238E27FC236}">
                <a16:creationId xmlns:a16="http://schemas.microsoft.com/office/drawing/2014/main" id="{ACF3A760-EF9E-13B4-0C5E-9406146EB808}"/>
              </a:ext>
            </a:extLst>
          </p:cNvPr>
          <p:cNvPicPr>
            <a:picLocks noChangeAspect="1"/>
          </p:cNvPicPr>
          <p:nvPr/>
        </p:nvPicPr>
        <p:blipFill>
          <a:blip r:embed="rId2"/>
          <a:stretch>
            <a:fillRect/>
          </a:stretch>
        </p:blipFill>
        <p:spPr>
          <a:xfrm>
            <a:off x="122842" y="951209"/>
            <a:ext cx="9021158" cy="3433754"/>
          </a:xfrm>
          <a:prstGeom prst="rect">
            <a:avLst/>
          </a:prstGeom>
        </p:spPr>
      </p:pic>
      <p:sp>
        <p:nvSpPr>
          <p:cNvPr id="6" name="TextBox 5">
            <a:extLst>
              <a:ext uri="{FF2B5EF4-FFF2-40B4-BE49-F238E27FC236}">
                <a16:creationId xmlns:a16="http://schemas.microsoft.com/office/drawing/2014/main" id="{23B91B84-D41B-D463-A55B-5EB4FDD8F2EB}"/>
              </a:ext>
            </a:extLst>
          </p:cNvPr>
          <p:cNvSpPr txBox="1"/>
          <p:nvPr/>
        </p:nvSpPr>
        <p:spPr>
          <a:xfrm>
            <a:off x="1249324" y="-290580"/>
            <a:ext cx="6645351" cy="1477328"/>
          </a:xfrm>
          <a:prstGeom prst="rect">
            <a:avLst/>
          </a:prstGeom>
          <a:noFill/>
        </p:spPr>
        <p:txBody>
          <a:bodyPr wrap="square">
            <a:spAutoFit/>
          </a:bodyPr>
          <a:lstStyle/>
          <a:p>
            <a:pPr algn="ctr">
              <a:spcBef>
                <a:spcPts val="150"/>
              </a:spcBef>
              <a:defRPr sz="1300" b="0">
                <a:solidFill>
                  <a:srgbClr val="CCDDFF"/>
                </a:solidFill>
              </a:defRPr>
            </a:pPr>
            <a:endParaRPr lang="en-US" sz="2000" b="1" i="1" dirty="0">
              <a:solidFill>
                <a:schemeClr val="accent1">
                  <a:lumMod val="50000"/>
                </a:schemeClr>
              </a:solidFill>
              <a:latin typeface="Bookman Old Style" panose="02050604050505020204" pitchFamily="18" charset="0"/>
              <a:ea typeface="ＭＳ Ｐゴシック" panose="020B0600070205080204" pitchFamily="34" charset="-128"/>
            </a:endParaRPr>
          </a:p>
          <a:p>
            <a:pPr algn="ctr">
              <a:spcBef>
                <a:spcPts val="750"/>
              </a:spcBef>
              <a:defRPr sz="2600" b="1">
                <a:solidFill>
                  <a:srgbClr val="FFFFFF"/>
                </a:solidFill>
              </a:defRPr>
            </a:pPr>
            <a:r>
              <a:rPr lang="en-US" sz="2000" b="1" i="1" dirty="0">
                <a:solidFill>
                  <a:schemeClr val="accent1">
                    <a:lumMod val="50000"/>
                  </a:schemeClr>
                </a:solidFill>
                <a:latin typeface="Bookman Old Style" panose="02050604050505020204" pitchFamily="18" charset="0"/>
                <a:ea typeface="ＭＳ Ｐゴシック" panose="020B0600070205080204" pitchFamily="34" charset="-128"/>
              </a:rPr>
              <a:t>UML Class Diagram</a:t>
            </a:r>
          </a:p>
          <a:p>
            <a:pPr algn="ctr">
              <a:spcBef>
                <a:spcPts val="150"/>
              </a:spcBef>
              <a:defRPr sz="1300" b="0">
                <a:solidFill>
                  <a:srgbClr val="CCDDFF"/>
                </a:solidFill>
              </a:defRPr>
            </a:pPr>
            <a:r>
              <a:rPr lang="en-US" sz="2000" b="1" i="1" dirty="0">
                <a:solidFill>
                  <a:schemeClr val="accent1">
                    <a:lumMod val="50000"/>
                  </a:schemeClr>
                </a:solidFill>
                <a:latin typeface="Bookman Old Style" panose="02050604050505020204" pitchFamily="18" charset="0"/>
                <a:ea typeface="ＭＳ Ｐゴシック" panose="020B0600070205080204" pitchFamily="34" charset="-128"/>
              </a:rPr>
              <a:t>Key data models and their relationships</a:t>
            </a:r>
          </a:p>
          <a:p>
            <a:pPr algn="ctr">
              <a:spcBef>
                <a:spcPts val="150"/>
              </a:spcBef>
              <a:defRPr sz="1300" b="0">
                <a:solidFill>
                  <a:srgbClr val="CCDDFF"/>
                </a:solidFill>
              </a:defRPr>
            </a:pPr>
            <a:endParaRPr lang="en-US" sz="2000" b="1" i="1" dirty="0">
              <a:solidFill>
                <a:schemeClr val="accent1">
                  <a:lumMod val="50000"/>
                </a:schemeClr>
              </a:solidFill>
              <a:latin typeface="Bookman Old Style" panose="02050604050505020204" pitchFamily="18" charset="0"/>
              <a:ea typeface="ＭＳ Ｐゴシック" panose="020B0600070205080204" pitchFamily="34" charset="-128"/>
            </a:endParaRPr>
          </a:p>
        </p:txBody>
      </p:sp>
    </p:spTree>
    <p:extLst>
      <p:ext uri="{BB962C8B-B14F-4D97-AF65-F5344CB8AC3E}">
        <p14:creationId xmlns:p14="http://schemas.microsoft.com/office/powerpoint/2010/main" val="33375751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BA927-2B9D-3C7E-5982-6AFCCB9EF97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7F92823-B116-A7C0-722B-0AEA416FC472}"/>
              </a:ext>
            </a:extLst>
          </p:cNvPr>
          <p:cNvSpPr>
            <a:spLocks noGrp="1"/>
          </p:cNvSpPr>
          <p:nvPr>
            <p:ph type="sldNum" sz="quarter" idx="12"/>
          </p:nvPr>
        </p:nvSpPr>
        <p:spPr>
          <a:xfrm>
            <a:off x="8541210" y="4749900"/>
            <a:ext cx="548700" cy="393600"/>
          </a:xfrm>
        </p:spPr>
        <p:txBody>
          <a:bodyPr/>
          <a:lstStyle/>
          <a:p>
            <a:fld id="{C1FF6DA9-008F-8B48-92A6-B652298478BF}" type="slidenum">
              <a:rPr lang="en-US" smtClean="0"/>
              <a:t>17</a:t>
            </a:fld>
            <a:endParaRPr lang="en-US"/>
          </a:p>
        </p:txBody>
      </p:sp>
      <p:sp>
        <p:nvSpPr>
          <p:cNvPr id="6" name="TextBox 5">
            <a:extLst>
              <a:ext uri="{FF2B5EF4-FFF2-40B4-BE49-F238E27FC236}">
                <a16:creationId xmlns:a16="http://schemas.microsoft.com/office/drawing/2014/main" id="{F62AE3E8-0C1A-12D7-CEDF-A7B89A6943EF}"/>
              </a:ext>
            </a:extLst>
          </p:cNvPr>
          <p:cNvSpPr txBox="1"/>
          <p:nvPr/>
        </p:nvSpPr>
        <p:spPr>
          <a:xfrm>
            <a:off x="2244509" y="147643"/>
            <a:ext cx="4572000" cy="307777"/>
          </a:xfrm>
          <a:prstGeom prst="rect">
            <a:avLst/>
          </a:prstGeom>
          <a:noFill/>
        </p:spPr>
        <p:txBody>
          <a:bodyPr wrap="square">
            <a:spAutoFit/>
          </a:bodyPr>
          <a:lstStyle/>
          <a:p>
            <a:pPr algn="ctr">
              <a:spcBef>
                <a:spcPts val="750"/>
              </a:spcBef>
              <a:defRPr sz="2600" b="1">
                <a:solidFill>
                  <a:srgbClr val="FFFFFF"/>
                </a:solidFill>
              </a:defRPr>
            </a:pPr>
            <a:r>
              <a:rPr lang="en-US" sz="1400" b="1" i="1" dirty="0">
                <a:solidFill>
                  <a:schemeClr val="accent1">
                    <a:lumMod val="50000"/>
                  </a:schemeClr>
                </a:solidFill>
                <a:latin typeface="Playfair Display" panose="00000500000000000000" pitchFamily="2" charset="0"/>
                <a:ea typeface="ＭＳ Ｐゴシック" panose="020B0600070205080204" pitchFamily="34" charset="-128"/>
                <a:cs typeface="Arial" panose="020B0604020202020204"/>
              </a:rPr>
              <a:t>API Integration Diagram</a:t>
            </a:r>
          </a:p>
        </p:txBody>
      </p:sp>
      <p:pic>
        <p:nvPicPr>
          <p:cNvPr id="5" name="Picture 4">
            <a:extLst>
              <a:ext uri="{FF2B5EF4-FFF2-40B4-BE49-F238E27FC236}">
                <a16:creationId xmlns:a16="http://schemas.microsoft.com/office/drawing/2014/main" id="{AAFCDB92-0A1F-036A-DC59-1B89DAD8EF2B}"/>
              </a:ext>
            </a:extLst>
          </p:cNvPr>
          <p:cNvPicPr>
            <a:picLocks noChangeAspect="1"/>
          </p:cNvPicPr>
          <p:nvPr/>
        </p:nvPicPr>
        <p:blipFill>
          <a:blip r:embed="rId2"/>
          <a:srcRect t="-16362" b="1"/>
          <a:stretch>
            <a:fillRect/>
          </a:stretch>
        </p:blipFill>
        <p:spPr>
          <a:xfrm>
            <a:off x="68752" y="-287390"/>
            <a:ext cx="9144000" cy="5283059"/>
          </a:xfrm>
          <a:prstGeom prst="rect">
            <a:avLst/>
          </a:prstGeom>
        </p:spPr>
      </p:pic>
    </p:spTree>
    <p:extLst>
      <p:ext uri="{BB962C8B-B14F-4D97-AF65-F5344CB8AC3E}">
        <p14:creationId xmlns:p14="http://schemas.microsoft.com/office/powerpoint/2010/main" val="29042979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4">
          <a:extLst>
            <a:ext uri="{FF2B5EF4-FFF2-40B4-BE49-F238E27FC236}">
              <a16:creationId xmlns:a16="http://schemas.microsoft.com/office/drawing/2014/main" id="{1CAE446B-083E-4408-4E1A-C2B51928E716}"/>
            </a:ext>
          </a:extLst>
        </p:cNvPr>
        <p:cNvGrpSpPr/>
        <p:nvPr/>
      </p:nvGrpSpPr>
      <p:grpSpPr>
        <a:xfrm>
          <a:off x="0" y="0"/>
          <a:ext cx="0" cy="0"/>
          <a:chOff x="0" y="0"/>
          <a:chExt cx="0" cy="0"/>
        </a:xfrm>
      </p:grpSpPr>
      <p:sp>
        <p:nvSpPr>
          <p:cNvPr id="75" name="Google Shape;75;p14">
            <a:extLst>
              <a:ext uri="{FF2B5EF4-FFF2-40B4-BE49-F238E27FC236}">
                <a16:creationId xmlns:a16="http://schemas.microsoft.com/office/drawing/2014/main" id="{8444FB64-BD9E-7D4E-6A25-BEC28B6020BD}"/>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18</a:t>
            </a:fld>
            <a:endParaRPr/>
          </a:p>
        </p:txBody>
      </p:sp>
      <p:sp>
        <p:nvSpPr>
          <p:cNvPr id="77" name="Google Shape;77;p14">
            <a:extLst>
              <a:ext uri="{FF2B5EF4-FFF2-40B4-BE49-F238E27FC236}">
                <a16:creationId xmlns:a16="http://schemas.microsoft.com/office/drawing/2014/main" id="{4ADC02CD-228D-5348-CEF8-161F1264C1E6}"/>
              </a:ext>
            </a:extLst>
          </p:cNvPr>
          <p:cNvSpPr/>
          <p:nvPr/>
        </p:nvSpPr>
        <p:spPr>
          <a:xfrm>
            <a:off x="3512185" y="4483735"/>
            <a:ext cx="3188335"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200" b="0" i="0" u="none" strike="noStrike" cap="none">
                <a:solidFill>
                  <a:srgbClr val="888888"/>
                </a:solidFill>
                <a:latin typeface="Arial"/>
                <a:ea typeface="Arial"/>
                <a:cs typeface="Arial"/>
                <a:sym typeface="Arial"/>
              </a:rPr>
              <a:t>RV COLLEGE OF ENGINEERING</a:t>
            </a:r>
            <a:endParaRPr/>
          </a:p>
        </p:txBody>
      </p:sp>
      <p:sp>
        <p:nvSpPr>
          <p:cNvPr id="78" name="Google Shape;78;p14">
            <a:extLst>
              <a:ext uri="{FF2B5EF4-FFF2-40B4-BE49-F238E27FC236}">
                <a16:creationId xmlns:a16="http://schemas.microsoft.com/office/drawing/2014/main" id="{EDBA5A60-388C-DC35-1D36-B561E98B2EDA}"/>
              </a:ext>
            </a:extLst>
          </p:cNvPr>
          <p:cNvSpPr txBox="1">
            <a:spLocks noGrp="1"/>
          </p:cNvSpPr>
          <p:nvPr>
            <p:ph type="title"/>
          </p:nvPr>
        </p:nvSpPr>
        <p:spPr>
          <a:xfrm>
            <a:off x="2196194" y="107598"/>
            <a:ext cx="4751612" cy="540337"/>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US" sz="2000" b="1" i="1" dirty="0">
                <a:solidFill>
                  <a:srgbClr val="083C92"/>
                </a:solidFill>
                <a:latin typeface="Bookman Old Style" panose="02050604050505020204" pitchFamily="18" charset="0"/>
                <a:ea typeface="Playfair Display"/>
                <a:cs typeface="Playfair Display"/>
                <a:sym typeface="Playfair Display"/>
              </a:rPr>
              <a:t>Implementation and Testing- Modules</a:t>
            </a:r>
            <a:endParaRPr sz="2000" b="1" i="1" dirty="0">
              <a:solidFill>
                <a:srgbClr val="083C92"/>
              </a:solidFill>
              <a:latin typeface="Bookman Old Style" panose="02050604050505020204" pitchFamily="18" charset="0"/>
              <a:ea typeface="Playfair Display"/>
              <a:cs typeface="Playfair Display"/>
              <a:sym typeface="Playfair Display"/>
            </a:endParaRPr>
          </a:p>
        </p:txBody>
      </p:sp>
      <p:pic>
        <p:nvPicPr>
          <p:cNvPr id="5" name="Picture 4">
            <a:extLst>
              <a:ext uri="{FF2B5EF4-FFF2-40B4-BE49-F238E27FC236}">
                <a16:creationId xmlns:a16="http://schemas.microsoft.com/office/drawing/2014/main" id="{C2F02D84-B504-E8EF-EF0B-D5F1AE157983}"/>
              </a:ext>
            </a:extLst>
          </p:cNvPr>
          <p:cNvPicPr>
            <a:picLocks noChangeAspect="1"/>
          </p:cNvPicPr>
          <p:nvPr/>
        </p:nvPicPr>
        <p:blipFill>
          <a:blip r:embed="rId3"/>
          <a:srcRect l="11342" t="17778" r="7815" b="5729"/>
          <a:stretch>
            <a:fillRect/>
          </a:stretch>
        </p:blipFill>
        <p:spPr>
          <a:xfrm>
            <a:off x="1163780" y="831273"/>
            <a:ext cx="7077695" cy="3934460"/>
          </a:xfrm>
          <a:prstGeom prst="rect">
            <a:avLst/>
          </a:prstGeom>
        </p:spPr>
      </p:pic>
    </p:spTree>
    <p:extLst>
      <p:ext uri="{BB962C8B-B14F-4D97-AF65-F5344CB8AC3E}">
        <p14:creationId xmlns:p14="http://schemas.microsoft.com/office/powerpoint/2010/main" val="28346930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38351" y="226761"/>
            <a:ext cx="8435340" cy="400110"/>
          </a:xfrm>
          <a:prstGeom prst="rect">
            <a:avLst/>
          </a:prstGeom>
          <a:noFill/>
        </p:spPr>
        <p:txBody>
          <a:bodyPr wrap="square">
            <a:spAutoFit/>
          </a:bodyPr>
          <a:lstStyle/>
          <a:p>
            <a:pPr algn="ctr"/>
            <a:r>
              <a:rPr sz="2000" b="1" i="1" dirty="0">
                <a:solidFill>
                  <a:srgbClr val="083C92"/>
                </a:solidFill>
                <a:latin typeface="Bookman Old Style" panose="02050604050505020204" pitchFamily="18" charset="0"/>
              </a:rPr>
              <a:t>Module-wise Implementation</a:t>
            </a:r>
          </a:p>
        </p:txBody>
      </p:sp>
      <p:sp>
        <p:nvSpPr>
          <p:cNvPr id="6" name="TextBox 5"/>
          <p:cNvSpPr txBox="1"/>
          <p:nvPr/>
        </p:nvSpPr>
        <p:spPr>
          <a:xfrm>
            <a:off x="241221" y="835222"/>
            <a:ext cx="8435340" cy="242374"/>
          </a:xfrm>
          <a:prstGeom prst="rect">
            <a:avLst/>
          </a:prstGeom>
          <a:noFill/>
        </p:spPr>
        <p:txBody>
          <a:bodyPr wrap="square">
            <a:spAutoFit/>
          </a:bodyPr>
          <a:lstStyle/>
          <a:p>
            <a:pPr algn="l"/>
            <a:r>
              <a:rPr sz="975" i="1" dirty="0">
                <a:solidFill>
                  <a:srgbClr val="06B6D4"/>
                </a:solidFill>
              </a:rPr>
              <a:t>All 14 modules fully implemented</a:t>
            </a:r>
          </a:p>
        </p:txBody>
      </p:sp>
      <p:graphicFrame>
        <p:nvGraphicFramePr>
          <p:cNvPr id="7" name="Table 6"/>
          <p:cNvGraphicFramePr>
            <a:graphicFrameLocks noGrp="1"/>
          </p:cNvGraphicFramePr>
          <p:nvPr/>
        </p:nvGraphicFramePr>
        <p:xfrm>
          <a:off x="138351" y="1094189"/>
          <a:ext cx="8641080" cy="3086100"/>
        </p:xfrm>
        <a:graphic>
          <a:graphicData uri="http://schemas.openxmlformats.org/drawingml/2006/table">
            <a:tbl>
              <a:tblPr firstRow="1" bandRow="1">
                <a:tableStyleId>{5C22544A-7EE6-4342-B048-85BDC9FD1C3A}</a:tableStyleId>
              </a:tblPr>
              <a:tblGrid>
                <a:gridCol w="27432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4937760">
                  <a:extLst>
                    <a:ext uri="{9D8B030D-6E8A-4147-A177-3AD203B41FA5}">
                      <a16:colId xmlns:a16="http://schemas.microsoft.com/office/drawing/2014/main" val="20003"/>
                    </a:ext>
                  </a:extLst>
                </a:gridCol>
              </a:tblGrid>
              <a:tr h="205740">
                <a:tc>
                  <a:txBody>
                    <a:bodyPr/>
                    <a:lstStyle/>
                    <a:p>
                      <a:pPr algn="ctr"/>
                      <a:r>
                        <a:rPr sz="800" b="1">
                          <a:solidFill>
                            <a:srgbClr val="FFFFFF"/>
                          </a:solidFill>
                          <a:latin typeface="Times New Roman" panose="02020603050405020304" pitchFamily="18" charset="0"/>
                          <a:cs typeface="Times New Roman" panose="02020603050405020304" pitchFamily="18" charset="0"/>
                        </a:rPr>
                        <a:t>#</a:t>
                      </a:r>
                    </a:p>
                  </a:txBody>
                  <a:tcPr marL="68580" marR="68580" marT="34290" marB="34290">
                    <a:solidFill>
                      <a:srgbClr val="1F4B8F"/>
                    </a:solidFill>
                  </a:tcPr>
                </a:tc>
                <a:tc>
                  <a:txBody>
                    <a:bodyPr/>
                    <a:lstStyle/>
                    <a:p>
                      <a:pPr algn="ctr"/>
                      <a:r>
                        <a:rPr sz="800" b="1">
                          <a:solidFill>
                            <a:srgbClr val="FFFFFF"/>
                          </a:solidFill>
                          <a:latin typeface="Times New Roman" panose="02020603050405020304" pitchFamily="18" charset="0"/>
                          <a:cs typeface="Times New Roman" panose="02020603050405020304" pitchFamily="18" charset="0"/>
                        </a:rPr>
                        <a:t>Module</a:t>
                      </a:r>
                    </a:p>
                  </a:txBody>
                  <a:tcPr marL="68580" marR="68580" marT="34290" marB="34290">
                    <a:solidFill>
                      <a:srgbClr val="1F4B8F"/>
                    </a:solidFill>
                  </a:tcPr>
                </a:tc>
                <a:tc>
                  <a:txBody>
                    <a:bodyPr/>
                    <a:lstStyle/>
                    <a:p>
                      <a:pPr algn="ctr"/>
                      <a:r>
                        <a:rPr sz="800" b="1">
                          <a:solidFill>
                            <a:srgbClr val="FFFFFF"/>
                          </a:solidFill>
                          <a:latin typeface="Times New Roman" panose="02020603050405020304" pitchFamily="18" charset="0"/>
                          <a:cs typeface="Times New Roman" panose="02020603050405020304" pitchFamily="18" charset="0"/>
                        </a:rPr>
                        <a:t>File</a:t>
                      </a:r>
                    </a:p>
                  </a:txBody>
                  <a:tcPr marL="68580" marR="68580" marT="34290" marB="34290">
                    <a:solidFill>
                      <a:srgbClr val="1F4B8F"/>
                    </a:solidFill>
                  </a:tcPr>
                </a:tc>
                <a:tc>
                  <a:txBody>
                    <a:bodyPr/>
                    <a:lstStyle/>
                    <a:p>
                      <a:pPr algn="ctr"/>
                      <a:r>
                        <a:rPr sz="800" b="1">
                          <a:solidFill>
                            <a:srgbClr val="FFFFFF"/>
                          </a:solidFill>
                          <a:latin typeface="Times New Roman" panose="02020603050405020304" pitchFamily="18" charset="0"/>
                          <a:cs typeface="Times New Roman" panose="02020603050405020304" pitchFamily="18" charset="0"/>
                        </a:rPr>
                        <a:t>Key Functionality</a:t>
                      </a:r>
                    </a:p>
                  </a:txBody>
                  <a:tcPr marL="68580" marR="68580" marT="34290" marB="34290">
                    <a:solidFill>
                      <a:srgbClr val="1F4B8F"/>
                    </a:solidFill>
                  </a:tcPr>
                </a:tc>
                <a:extLst>
                  <a:ext uri="{0D108BD9-81ED-4DB2-BD59-A6C34878D82A}">
                    <a16:rowId xmlns:a16="http://schemas.microsoft.com/office/drawing/2014/main" val="10000"/>
                  </a:ext>
                </a:extLst>
              </a:tr>
              <a:tr h="205740">
                <a:tc>
                  <a:txBody>
                    <a:bodyPr/>
                    <a:lstStyle/>
                    <a:p>
                      <a:pPr algn="ctr"/>
                      <a:r>
                        <a:rPr sz="700">
                          <a:solidFill>
                            <a:srgbClr val="FFFFFF"/>
                          </a:solidFill>
                          <a:latin typeface="Times New Roman" panose="02020603050405020304" pitchFamily="18" charset="0"/>
                          <a:cs typeface="Times New Roman" panose="02020603050405020304" pitchFamily="18" charset="0"/>
                        </a:rPr>
                        <a:t>1</a:t>
                      </a:r>
                    </a:p>
                  </a:txBody>
                  <a:tcPr marL="68580" marR="68580" marT="34290" marB="34290">
                    <a:solidFill>
                      <a:srgbClr val="15223A"/>
                    </a:solidFill>
                  </a:tcPr>
                </a:tc>
                <a:tc>
                  <a:txBody>
                    <a:bodyPr/>
                    <a:lstStyle/>
                    <a:p>
                      <a:pPr algn="ctr"/>
                      <a:r>
                        <a:rPr sz="700">
                          <a:solidFill>
                            <a:srgbClr val="FFFFFF"/>
                          </a:solidFill>
                          <a:latin typeface="Times New Roman" panose="02020603050405020304" pitchFamily="18" charset="0"/>
                          <a:cs typeface="Times New Roman" panose="02020603050405020304" pitchFamily="18" charset="0"/>
                        </a:rPr>
                        <a:t>Orchestrator</a:t>
                      </a:r>
                    </a:p>
                  </a:txBody>
                  <a:tcPr marL="68580" marR="68580" marT="34290" marB="34290">
                    <a:solidFill>
                      <a:srgbClr val="15223A"/>
                    </a:solidFill>
                  </a:tcPr>
                </a:tc>
                <a:tc>
                  <a:txBody>
                    <a:bodyPr/>
                    <a:lstStyle/>
                    <a:p>
                      <a:pPr algn="ctr"/>
                      <a:r>
                        <a:rPr sz="700">
                          <a:solidFill>
                            <a:srgbClr val="FFFFFF"/>
                          </a:solidFill>
                          <a:latin typeface="Times New Roman" panose="02020603050405020304" pitchFamily="18" charset="0"/>
                          <a:cs typeface="Times New Roman" panose="02020603050405020304" pitchFamily="18" charset="0"/>
                        </a:rPr>
                        <a:t>nhi_orchestrator.py</a:t>
                      </a:r>
                    </a:p>
                  </a:txBody>
                  <a:tcPr marL="68580" marR="68580" marT="34290" marB="34290">
                    <a:solidFill>
                      <a:srgbClr val="15223A"/>
                    </a:solidFill>
                  </a:tcPr>
                </a:tc>
                <a:tc>
                  <a:txBody>
                    <a:bodyPr/>
                    <a:lstStyle/>
                    <a:p>
                      <a:pPr algn="ctr"/>
                      <a:r>
                        <a:rPr sz="700">
                          <a:solidFill>
                            <a:srgbClr val="FFFFFF"/>
                          </a:solidFill>
                          <a:latin typeface="Times New Roman" panose="02020603050405020304" pitchFamily="18" charset="0"/>
                          <a:cs typeface="Times New Roman" panose="02020603050405020304" pitchFamily="18" charset="0"/>
                        </a:rPr>
                        <a:t>LangChain GPT-4o agent; coordinates all 6 agents; --no-llm / --skip-github flags</a:t>
                      </a:r>
                    </a:p>
                  </a:txBody>
                  <a:tcPr marL="68580" marR="68580" marT="34290" marB="34290">
                    <a:solidFill>
                      <a:srgbClr val="15223A"/>
                    </a:solidFill>
                  </a:tcPr>
                </a:tc>
                <a:extLst>
                  <a:ext uri="{0D108BD9-81ED-4DB2-BD59-A6C34878D82A}">
                    <a16:rowId xmlns:a16="http://schemas.microsoft.com/office/drawing/2014/main" val="10001"/>
                  </a:ext>
                </a:extLst>
              </a:tr>
              <a:tr h="205740">
                <a:tc>
                  <a:txBody>
                    <a:bodyPr/>
                    <a:lstStyle/>
                    <a:p>
                      <a:pPr algn="ctr"/>
                      <a:r>
                        <a:rPr sz="700">
                          <a:solidFill>
                            <a:srgbClr val="FFFFFF"/>
                          </a:solidFill>
                          <a:latin typeface="Times New Roman" panose="02020603050405020304" pitchFamily="18" charset="0"/>
                          <a:cs typeface="Times New Roman" panose="02020603050405020304" pitchFamily="18" charset="0"/>
                        </a:rPr>
                        <a:t>2</a:t>
                      </a:r>
                    </a:p>
                  </a:txBody>
                  <a:tcPr marL="68580" marR="68580" marT="34290" marB="34290">
                    <a:solidFill>
                      <a:srgbClr val="0F2D52"/>
                    </a:solidFill>
                  </a:tcPr>
                </a:tc>
                <a:tc>
                  <a:txBody>
                    <a:bodyPr/>
                    <a:lstStyle/>
                    <a:p>
                      <a:pPr algn="ctr"/>
                      <a:r>
                        <a:rPr sz="700">
                          <a:solidFill>
                            <a:srgbClr val="FFFFFF"/>
                          </a:solidFill>
                          <a:latin typeface="Times New Roman" panose="02020603050405020304" pitchFamily="18" charset="0"/>
                          <a:cs typeface="Times New Roman" panose="02020603050405020304" pitchFamily="18" charset="0"/>
                        </a:rPr>
                        <a:t>SSL Cert Agent</a:t>
                      </a:r>
                    </a:p>
                  </a:txBody>
                  <a:tcPr marL="68580" marR="68580" marT="34290" marB="34290">
                    <a:solidFill>
                      <a:srgbClr val="0F2D52"/>
                    </a:solidFill>
                  </a:tcPr>
                </a:tc>
                <a:tc>
                  <a:txBody>
                    <a:bodyPr/>
                    <a:lstStyle/>
                    <a:p>
                      <a:pPr algn="ctr"/>
                      <a:r>
                        <a:rPr sz="700">
                          <a:solidFill>
                            <a:srgbClr val="FFFFFF"/>
                          </a:solidFill>
                          <a:latin typeface="Times New Roman" panose="02020603050405020304" pitchFamily="18" charset="0"/>
                          <a:cs typeface="Times New Roman" panose="02020603050405020304" pitchFamily="18" charset="0"/>
                        </a:rPr>
                        <a:t>cert_agent.py</a:t>
                      </a:r>
                    </a:p>
                  </a:txBody>
                  <a:tcPr marL="68580" marR="68580" marT="34290" marB="34290">
                    <a:solidFill>
                      <a:srgbClr val="0F2D52"/>
                    </a:solidFill>
                  </a:tcPr>
                </a:tc>
                <a:tc>
                  <a:txBody>
                    <a:bodyPr/>
                    <a:lstStyle/>
                    <a:p>
                      <a:pPr algn="ctr"/>
                      <a:r>
                        <a:rPr sz="700">
                          <a:solidFill>
                            <a:srgbClr val="FFFFFF"/>
                          </a:solidFill>
                          <a:latin typeface="Times New Roman" panose="02020603050405020304" pitchFamily="18" charset="0"/>
                          <a:cs typeface="Times New Roman" panose="02020603050405020304" pitchFamily="18" charset="0"/>
                        </a:rPr>
                        <a:t>Python-native TLS check; CRITICAL/WARNING/OK classification; no openssl binary</a:t>
                      </a:r>
                    </a:p>
                  </a:txBody>
                  <a:tcPr marL="68580" marR="68580" marT="34290" marB="34290">
                    <a:solidFill>
                      <a:srgbClr val="0F2D52"/>
                    </a:solidFill>
                  </a:tcPr>
                </a:tc>
                <a:extLst>
                  <a:ext uri="{0D108BD9-81ED-4DB2-BD59-A6C34878D82A}">
                    <a16:rowId xmlns:a16="http://schemas.microsoft.com/office/drawing/2014/main" val="10002"/>
                  </a:ext>
                </a:extLst>
              </a:tr>
              <a:tr h="205740">
                <a:tc>
                  <a:txBody>
                    <a:bodyPr/>
                    <a:lstStyle/>
                    <a:p>
                      <a:pPr algn="ctr"/>
                      <a:r>
                        <a:rPr sz="700">
                          <a:solidFill>
                            <a:srgbClr val="FFFFFF"/>
                          </a:solidFill>
                          <a:latin typeface="Times New Roman" panose="02020603050405020304" pitchFamily="18" charset="0"/>
                          <a:cs typeface="Times New Roman" panose="02020603050405020304" pitchFamily="18" charset="0"/>
                        </a:rPr>
                        <a:t>3</a:t>
                      </a:r>
                    </a:p>
                  </a:txBody>
                  <a:tcPr marL="68580" marR="68580" marT="34290" marB="34290">
                    <a:solidFill>
                      <a:srgbClr val="15223A"/>
                    </a:solidFill>
                  </a:tcPr>
                </a:tc>
                <a:tc>
                  <a:txBody>
                    <a:bodyPr/>
                    <a:lstStyle/>
                    <a:p>
                      <a:pPr algn="ctr"/>
                      <a:r>
                        <a:rPr sz="700">
                          <a:solidFill>
                            <a:srgbClr val="FFFFFF"/>
                          </a:solidFill>
                          <a:latin typeface="Times New Roman" panose="02020603050405020304" pitchFamily="18" charset="0"/>
                          <a:cs typeface="Times New Roman" panose="02020603050405020304" pitchFamily="18" charset="0"/>
                        </a:rPr>
                        <a:t>GitHub NHI Agent</a:t>
                      </a:r>
                    </a:p>
                  </a:txBody>
                  <a:tcPr marL="68580" marR="68580" marT="34290" marB="34290">
                    <a:solidFill>
                      <a:srgbClr val="15223A"/>
                    </a:solidFill>
                  </a:tcPr>
                </a:tc>
                <a:tc>
                  <a:txBody>
                    <a:bodyPr/>
                    <a:lstStyle/>
                    <a:p>
                      <a:pPr algn="ctr"/>
                      <a:r>
                        <a:rPr sz="700">
                          <a:solidFill>
                            <a:srgbClr val="FFFFFF"/>
                          </a:solidFill>
                          <a:latin typeface="Times New Roman" panose="02020603050405020304" pitchFamily="18" charset="0"/>
                          <a:cs typeface="Times New Roman" panose="02020603050405020304" pitchFamily="18" charset="0"/>
                        </a:rPr>
                        <a:t>github_nhi_agent.py</a:t>
                      </a:r>
                    </a:p>
                  </a:txBody>
                  <a:tcPr marL="68580" marR="68580" marT="34290" marB="34290">
                    <a:solidFill>
                      <a:srgbClr val="15223A"/>
                    </a:solidFill>
                  </a:tcPr>
                </a:tc>
                <a:tc>
                  <a:txBody>
                    <a:bodyPr/>
                    <a:lstStyle/>
                    <a:p>
                      <a:pPr algn="ctr"/>
                      <a:r>
                        <a:rPr sz="700">
                          <a:solidFill>
                            <a:srgbClr val="FFFFFF"/>
                          </a:solidFill>
                          <a:latin typeface="Times New Roman" panose="02020603050405020304" pitchFamily="18" charset="0"/>
                          <a:cs typeface="Times New Roman" panose="02020603050405020304" pitchFamily="18" charset="0"/>
                        </a:rPr>
                        <a:t>PATs, Deploy Keys, Actions Secrets, workflow refs; rotation helpers</a:t>
                      </a:r>
                    </a:p>
                  </a:txBody>
                  <a:tcPr marL="68580" marR="68580" marT="34290" marB="34290">
                    <a:solidFill>
                      <a:srgbClr val="15223A"/>
                    </a:solidFill>
                  </a:tcPr>
                </a:tc>
                <a:extLst>
                  <a:ext uri="{0D108BD9-81ED-4DB2-BD59-A6C34878D82A}">
                    <a16:rowId xmlns:a16="http://schemas.microsoft.com/office/drawing/2014/main" val="10003"/>
                  </a:ext>
                </a:extLst>
              </a:tr>
              <a:tr h="205740">
                <a:tc>
                  <a:txBody>
                    <a:bodyPr/>
                    <a:lstStyle/>
                    <a:p>
                      <a:pPr algn="ctr"/>
                      <a:r>
                        <a:rPr sz="700">
                          <a:solidFill>
                            <a:srgbClr val="FFFFFF"/>
                          </a:solidFill>
                          <a:latin typeface="Times New Roman" panose="02020603050405020304" pitchFamily="18" charset="0"/>
                          <a:cs typeface="Times New Roman" panose="02020603050405020304" pitchFamily="18" charset="0"/>
                        </a:rPr>
                        <a:t>4</a:t>
                      </a:r>
                    </a:p>
                  </a:txBody>
                  <a:tcPr marL="68580" marR="68580" marT="34290" marB="34290">
                    <a:solidFill>
                      <a:srgbClr val="0F2D52"/>
                    </a:solidFill>
                  </a:tcPr>
                </a:tc>
                <a:tc>
                  <a:txBody>
                    <a:bodyPr/>
                    <a:lstStyle/>
                    <a:p>
                      <a:pPr algn="ctr"/>
                      <a:r>
                        <a:rPr sz="700">
                          <a:solidFill>
                            <a:srgbClr val="FFFFFF"/>
                          </a:solidFill>
                          <a:latin typeface="Times New Roman" panose="02020603050405020304" pitchFamily="18" charset="0"/>
                          <a:cs typeface="Times New Roman" panose="02020603050405020304" pitchFamily="18" charset="0"/>
                        </a:rPr>
                        <a:t>Azure SP Agent</a:t>
                      </a:r>
                    </a:p>
                  </a:txBody>
                  <a:tcPr marL="68580" marR="68580" marT="34290" marB="34290">
                    <a:solidFill>
                      <a:srgbClr val="0F2D52"/>
                    </a:solidFill>
                  </a:tcPr>
                </a:tc>
                <a:tc>
                  <a:txBody>
                    <a:bodyPr/>
                    <a:lstStyle/>
                    <a:p>
                      <a:pPr algn="ctr"/>
                      <a:r>
                        <a:rPr sz="700">
                          <a:solidFill>
                            <a:srgbClr val="FFFFFF"/>
                          </a:solidFill>
                          <a:latin typeface="Times New Roman" panose="02020603050405020304" pitchFamily="18" charset="0"/>
                          <a:cs typeface="Times New Roman" panose="02020603050405020304" pitchFamily="18" charset="0"/>
                        </a:rPr>
                        <a:t>azure_sp_agent.py</a:t>
                      </a:r>
                    </a:p>
                  </a:txBody>
                  <a:tcPr marL="68580" marR="68580" marT="34290" marB="34290">
                    <a:solidFill>
                      <a:srgbClr val="0F2D52"/>
                    </a:solidFill>
                  </a:tcPr>
                </a:tc>
                <a:tc>
                  <a:txBody>
                    <a:bodyPr/>
                    <a:lstStyle/>
                    <a:p>
                      <a:pPr algn="ctr"/>
                      <a:r>
                        <a:rPr sz="700">
                          <a:solidFill>
                            <a:srgbClr val="FFFFFF"/>
                          </a:solidFill>
                          <a:latin typeface="Times New Roman" panose="02020603050405020304" pitchFamily="18" charset="0"/>
                          <a:cs typeface="Times New Roman" panose="02020603050405020304" pitchFamily="18" charset="0"/>
                        </a:rPr>
                        <a:t>Service Principals, client secrets, certs via Graph API; graceful fallback</a:t>
                      </a:r>
                    </a:p>
                  </a:txBody>
                  <a:tcPr marL="68580" marR="68580" marT="34290" marB="34290">
                    <a:solidFill>
                      <a:srgbClr val="0F2D52"/>
                    </a:solidFill>
                  </a:tcPr>
                </a:tc>
                <a:extLst>
                  <a:ext uri="{0D108BD9-81ED-4DB2-BD59-A6C34878D82A}">
                    <a16:rowId xmlns:a16="http://schemas.microsoft.com/office/drawing/2014/main" val="10004"/>
                  </a:ext>
                </a:extLst>
              </a:tr>
              <a:tr h="205740">
                <a:tc>
                  <a:txBody>
                    <a:bodyPr/>
                    <a:lstStyle/>
                    <a:p>
                      <a:pPr algn="ctr"/>
                      <a:r>
                        <a:rPr sz="700">
                          <a:solidFill>
                            <a:srgbClr val="FFFFFF"/>
                          </a:solidFill>
                          <a:latin typeface="Times New Roman" panose="02020603050405020304" pitchFamily="18" charset="0"/>
                          <a:cs typeface="Times New Roman" panose="02020603050405020304" pitchFamily="18" charset="0"/>
                        </a:rPr>
                        <a:t>5</a:t>
                      </a:r>
                    </a:p>
                  </a:txBody>
                  <a:tcPr marL="68580" marR="68580" marT="34290" marB="34290">
                    <a:solidFill>
                      <a:srgbClr val="15223A"/>
                    </a:solidFill>
                  </a:tcPr>
                </a:tc>
                <a:tc>
                  <a:txBody>
                    <a:bodyPr/>
                    <a:lstStyle/>
                    <a:p>
                      <a:pPr algn="ctr"/>
                      <a:r>
                        <a:rPr sz="700">
                          <a:solidFill>
                            <a:srgbClr val="FFFFFF"/>
                          </a:solidFill>
                          <a:latin typeface="Times New Roman" panose="02020603050405020304" pitchFamily="18" charset="0"/>
                          <a:cs typeface="Times New Roman" panose="02020603050405020304" pitchFamily="18" charset="0"/>
                        </a:rPr>
                        <a:t>Azure KV Agent</a:t>
                      </a:r>
                    </a:p>
                  </a:txBody>
                  <a:tcPr marL="68580" marR="68580" marT="34290" marB="34290">
                    <a:solidFill>
                      <a:srgbClr val="15223A"/>
                    </a:solidFill>
                  </a:tcPr>
                </a:tc>
                <a:tc>
                  <a:txBody>
                    <a:bodyPr/>
                    <a:lstStyle/>
                    <a:p>
                      <a:pPr algn="ctr"/>
                      <a:r>
                        <a:rPr sz="700">
                          <a:solidFill>
                            <a:srgbClr val="FFFFFF"/>
                          </a:solidFill>
                          <a:latin typeface="Times New Roman" panose="02020603050405020304" pitchFamily="18" charset="0"/>
                          <a:cs typeface="Times New Roman" panose="02020603050405020304" pitchFamily="18" charset="0"/>
                        </a:rPr>
                        <a:t>azure_keyvault_agent.py</a:t>
                      </a:r>
                    </a:p>
                  </a:txBody>
                  <a:tcPr marL="68580" marR="68580" marT="34290" marB="34290">
                    <a:solidFill>
                      <a:srgbClr val="15223A"/>
                    </a:solidFill>
                  </a:tcPr>
                </a:tc>
                <a:tc>
                  <a:txBody>
                    <a:bodyPr/>
                    <a:lstStyle/>
                    <a:p>
                      <a:pPr algn="ctr"/>
                      <a:r>
                        <a:rPr sz="700">
                          <a:solidFill>
                            <a:srgbClr val="FFFFFF"/>
                          </a:solidFill>
                          <a:latin typeface="Times New Roman" panose="02020603050405020304" pitchFamily="18" charset="0"/>
                          <a:cs typeface="Times New Roman" panose="02020603050405020304" pitchFamily="18" charset="0"/>
                        </a:rPr>
                        <a:t>Key Vault secrets/certs/keys; expiry scoring; per-vault error isolation</a:t>
                      </a:r>
                    </a:p>
                  </a:txBody>
                  <a:tcPr marL="68580" marR="68580" marT="34290" marB="34290">
                    <a:solidFill>
                      <a:srgbClr val="15223A"/>
                    </a:solidFill>
                  </a:tcPr>
                </a:tc>
                <a:extLst>
                  <a:ext uri="{0D108BD9-81ED-4DB2-BD59-A6C34878D82A}">
                    <a16:rowId xmlns:a16="http://schemas.microsoft.com/office/drawing/2014/main" val="10005"/>
                  </a:ext>
                </a:extLst>
              </a:tr>
              <a:tr h="205740">
                <a:tc>
                  <a:txBody>
                    <a:bodyPr/>
                    <a:lstStyle/>
                    <a:p>
                      <a:pPr algn="ctr"/>
                      <a:r>
                        <a:rPr sz="700">
                          <a:solidFill>
                            <a:srgbClr val="FFFFFF"/>
                          </a:solidFill>
                          <a:latin typeface="Times New Roman" panose="02020603050405020304" pitchFamily="18" charset="0"/>
                          <a:cs typeface="Times New Roman" panose="02020603050405020304" pitchFamily="18" charset="0"/>
                        </a:rPr>
                        <a:t>6</a:t>
                      </a:r>
                    </a:p>
                  </a:txBody>
                  <a:tcPr marL="68580" marR="68580" marT="34290" marB="34290">
                    <a:solidFill>
                      <a:srgbClr val="0F2D52"/>
                    </a:solidFill>
                  </a:tcPr>
                </a:tc>
                <a:tc>
                  <a:txBody>
                    <a:bodyPr/>
                    <a:lstStyle/>
                    <a:p>
                      <a:pPr algn="ctr"/>
                      <a:r>
                        <a:rPr sz="700">
                          <a:solidFill>
                            <a:srgbClr val="FFFFFF"/>
                          </a:solidFill>
                          <a:latin typeface="Times New Roman" panose="02020603050405020304" pitchFamily="18" charset="0"/>
                          <a:cs typeface="Times New Roman" panose="02020603050405020304" pitchFamily="18" charset="0"/>
                        </a:rPr>
                        <a:t>Azure Monitor</a:t>
                      </a:r>
                    </a:p>
                  </a:txBody>
                  <a:tcPr marL="68580" marR="68580" marT="34290" marB="34290">
                    <a:solidFill>
                      <a:srgbClr val="0F2D52"/>
                    </a:solidFill>
                  </a:tcPr>
                </a:tc>
                <a:tc>
                  <a:txBody>
                    <a:bodyPr/>
                    <a:lstStyle/>
                    <a:p>
                      <a:pPr algn="ctr"/>
                      <a:r>
                        <a:rPr sz="700">
                          <a:solidFill>
                            <a:srgbClr val="FFFFFF"/>
                          </a:solidFill>
                          <a:latin typeface="Times New Roman" panose="02020603050405020304" pitchFamily="18" charset="0"/>
                          <a:cs typeface="Times New Roman" panose="02020603050405020304" pitchFamily="18" charset="0"/>
                        </a:rPr>
                        <a:t>azure_monitor_agent.py</a:t>
                      </a:r>
                    </a:p>
                  </a:txBody>
                  <a:tcPr marL="68580" marR="68580" marT="34290" marB="34290">
                    <a:solidFill>
                      <a:srgbClr val="0F2D52"/>
                    </a:solidFill>
                  </a:tcPr>
                </a:tc>
                <a:tc>
                  <a:txBody>
                    <a:bodyPr/>
                    <a:lstStyle/>
                    <a:p>
                      <a:pPr algn="ctr"/>
                      <a:r>
                        <a:rPr sz="700">
                          <a:solidFill>
                            <a:srgbClr val="FFFFFF"/>
                          </a:solidFill>
                          <a:latin typeface="Times New Roman" panose="02020603050405020304" pitchFamily="18" charset="0"/>
                          <a:cs typeface="Times New Roman" panose="02020603050405020304" pitchFamily="18" charset="0"/>
                        </a:rPr>
                        <a:t>Sign-in activity; dormancy detection beyond unused_identity_days</a:t>
                      </a:r>
                    </a:p>
                  </a:txBody>
                  <a:tcPr marL="68580" marR="68580" marT="34290" marB="34290">
                    <a:solidFill>
                      <a:srgbClr val="0F2D52"/>
                    </a:solidFill>
                  </a:tcPr>
                </a:tc>
                <a:extLst>
                  <a:ext uri="{0D108BD9-81ED-4DB2-BD59-A6C34878D82A}">
                    <a16:rowId xmlns:a16="http://schemas.microsoft.com/office/drawing/2014/main" val="10006"/>
                  </a:ext>
                </a:extLst>
              </a:tr>
              <a:tr h="205740">
                <a:tc>
                  <a:txBody>
                    <a:bodyPr/>
                    <a:lstStyle/>
                    <a:p>
                      <a:pPr algn="ctr"/>
                      <a:r>
                        <a:rPr sz="700">
                          <a:solidFill>
                            <a:srgbClr val="FFFFFF"/>
                          </a:solidFill>
                          <a:latin typeface="Times New Roman" panose="02020603050405020304" pitchFamily="18" charset="0"/>
                          <a:cs typeface="Times New Roman" panose="02020603050405020304" pitchFamily="18" charset="0"/>
                        </a:rPr>
                        <a:t>7</a:t>
                      </a:r>
                    </a:p>
                  </a:txBody>
                  <a:tcPr marL="68580" marR="68580" marT="34290" marB="34290">
                    <a:solidFill>
                      <a:srgbClr val="15223A"/>
                    </a:solidFill>
                  </a:tcPr>
                </a:tc>
                <a:tc>
                  <a:txBody>
                    <a:bodyPr/>
                    <a:lstStyle/>
                    <a:p>
                      <a:pPr algn="ctr"/>
                      <a:r>
                        <a:rPr sz="700" dirty="0">
                          <a:solidFill>
                            <a:srgbClr val="FFFFFF"/>
                          </a:solidFill>
                          <a:latin typeface="Times New Roman" panose="02020603050405020304" pitchFamily="18" charset="0"/>
                          <a:cs typeface="Times New Roman" panose="02020603050405020304" pitchFamily="18" charset="0"/>
                        </a:rPr>
                        <a:t>Risk Scorer</a:t>
                      </a:r>
                    </a:p>
                  </a:txBody>
                  <a:tcPr marL="68580" marR="68580" marT="34290" marB="34290">
                    <a:solidFill>
                      <a:srgbClr val="15223A"/>
                    </a:solidFill>
                  </a:tcPr>
                </a:tc>
                <a:tc>
                  <a:txBody>
                    <a:bodyPr/>
                    <a:lstStyle/>
                    <a:p>
                      <a:pPr algn="ctr"/>
                      <a:r>
                        <a:rPr sz="700">
                          <a:solidFill>
                            <a:srgbClr val="FFFFFF"/>
                          </a:solidFill>
                          <a:latin typeface="Times New Roman" panose="02020603050405020304" pitchFamily="18" charset="0"/>
                          <a:cs typeface="Times New Roman" panose="02020603050405020304" pitchFamily="18" charset="0"/>
                        </a:rPr>
                        <a:t>risk_scorer.py</a:t>
                      </a:r>
                    </a:p>
                  </a:txBody>
                  <a:tcPr marL="68580" marR="68580" marT="34290" marB="34290">
                    <a:solidFill>
                      <a:srgbClr val="15223A"/>
                    </a:solidFill>
                  </a:tcPr>
                </a:tc>
                <a:tc>
                  <a:txBody>
                    <a:bodyPr/>
                    <a:lstStyle/>
                    <a:p>
                      <a:pPr algn="ctr"/>
                      <a:r>
                        <a:rPr sz="700" dirty="0">
                          <a:solidFill>
                            <a:srgbClr val="FFFFFF"/>
                          </a:solidFill>
                          <a:latin typeface="Times New Roman" panose="02020603050405020304" pitchFamily="18" charset="0"/>
                          <a:cs typeface="Times New Roman" panose="02020603050405020304" pitchFamily="18" charset="0"/>
                        </a:rPr>
                        <a:t>Deterministic 0–100: age(40) + type(30) + privilege(20) + SSL(10)</a:t>
                      </a:r>
                    </a:p>
                  </a:txBody>
                  <a:tcPr marL="68580" marR="68580" marT="34290" marB="34290">
                    <a:solidFill>
                      <a:srgbClr val="15223A"/>
                    </a:solidFill>
                  </a:tcPr>
                </a:tc>
                <a:extLst>
                  <a:ext uri="{0D108BD9-81ED-4DB2-BD59-A6C34878D82A}">
                    <a16:rowId xmlns:a16="http://schemas.microsoft.com/office/drawing/2014/main" val="10007"/>
                  </a:ext>
                </a:extLst>
              </a:tr>
              <a:tr h="205740">
                <a:tc>
                  <a:txBody>
                    <a:bodyPr/>
                    <a:lstStyle/>
                    <a:p>
                      <a:pPr algn="ctr"/>
                      <a:r>
                        <a:rPr sz="700">
                          <a:solidFill>
                            <a:srgbClr val="FFFFFF"/>
                          </a:solidFill>
                          <a:latin typeface="Times New Roman" panose="02020603050405020304" pitchFamily="18" charset="0"/>
                          <a:cs typeface="Times New Roman" panose="02020603050405020304" pitchFamily="18" charset="0"/>
                        </a:rPr>
                        <a:t>8</a:t>
                      </a:r>
                    </a:p>
                  </a:txBody>
                  <a:tcPr marL="68580" marR="68580" marT="34290" marB="34290">
                    <a:solidFill>
                      <a:srgbClr val="0F2D52"/>
                    </a:solidFill>
                  </a:tcPr>
                </a:tc>
                <a:tc>
                  <a:txBody>
                    <a:bodyPr/>
                    <a:lstStyle/>
                    <a:p>
                      <a:pPr algn="ctr"/>
                      <a:r>
                        <a:rPr sz="700">
                          <a:solidFill>
                            <a:srgbClr val="FFFFFF"/>
                          </a:solidFill>
                          <a:latin typeface="Times New Roman" panose="02020603050405020304" pitchFamily="18" charset="0"/>
                          <a:cs typeface="Times New Roman" panose="02020603050405020304" pitchFamily="18" charset="0"/>
                        </a:rPr>
                        <a:t>Policy Engine</a:t>
                      </a:r>
                    </a:p>
                  </a:txBody>
                  <a:tcPr marL="68580" marR="68580" marT="34290" marB="34290">
                    <a:solidFill>
                      <a:srgbClr val="0F2D52"/>
                    </a:solidFill>
                  </a:tcPr>
                </a:tc>
                <a:tc>
                  <a:txBody>
                    <a:bodyPr/>
                    <a:lstStyle/>
                    <a:p>
                      <a:pPr algn="ctr"/>
                      <a:r>
                        <a:rPr sz="700">
                          <a:solidFill>
                            <a:srgbClr val="FFFFFF"/>
                          </a:solidFill>
                          <a:latin typeface="Times New Roman" panose="02020603050405020304" pitchFamily="18" charset="0"/>
                          <a:cs typeface="Times New Roman" panose="02020603050405020304" pitchFamily="18" charset="0"/>
                        </a:rPr>
                        <a:t>nhi_policies.py</a:t>
                      </a:r>
                    </a:p>
                  </a:txBody>
                  <a:tcPr marL="68580" marR="68580" marT="34290" marB="34290">
                    <a:solidFill>
                      <a:srgbClr val="0F2D52"/>
                    </a:solidFill>
                  </a:tcPr>
                </a:tc>
                <a:tc>
                  <a:txBody>
                    <a:bodyPr/>
                    <a:lstStyle/>
                    <a:p>
                      <a:pPr algn="ctr"/>
                      <a:r>
                        <a:rPr sz="700">
                          <a:solidFill>
                            <a:srgbClr val="FFFFFF"/>
                          </a:solidFill>
                          <a:latin typeface="Times New Roman" panose="02020603050405020304" pitchFamily="18" charset="0"/>
                          <a:cs typeface="Times New Roman" panose="02020603050405020304" pitchFamily="18" charset="0"/>
                        </a:rPr>
                        <a:t>11 rules R001–R011: PAT/key/secret/cert/KV/dormant/orphaned identities</a:t>
                      </a:r>
                    </a:p>
                  </a:txBody>
                  <a:tcPr marL="68580" marR="68580" marT="34290" marB="34290">
                    <a:solidFill>
                      <a:srgbClr val="0F2D52"/>
                    </a:solidFill>
                  </a:tcPr>
                </a:tc>
                <a:extLst>
                  <a:ext uri="{0D108BD9-81ED-4DB2-BD59-A6C34878D82A}">
                    <a16:rowId xmlns:a16="http://schemas.microsoft.com/office/drawing/2014/main" val="10008"/>
                  </a:ext>
                </a:extLst>
              </a:tr>
              <a:tr h="205740">
                <a:tc>
                  <a:txBody>
                    <a:bodyPr/>
                    <a:lstStyle/>
                    <a:p>
                      <a:pPr algn="ctr"/>
                      <a:r>
                        <a:rPr sz="700">
                          <a:solidFill>
                            <a:srgbClr val="FFFFFF"/>
                          </a:solidFill>
                          <a:latin typeface="Times New Roman" panose="02020603050405020304" pitchFamily="18" charset="0"/>
                          <a:cs typeface="Times New Roman" panose="02020603050405020304" pitchFamily="18" charset="0"/>
                        </a:rPr>
                        <a:t>9</a:t>
                      </a:r>
                    </a:p>
                  </a:txBody>
                  <a:tcPr marL="68580" marR="68580" marT="34290" marB="34290">
                    <a:solidFill>
                      <a:srgbClr val="15223A"/>
                    </a:solidFill>
                  </a:tcPr>
                </a:tc>
                <a:tc>
                  <a:txBody>
                    <a:bodyPr/>
                    <a:lstStyle/>
                    <a:p>
                      <a:pPr algn="ctr"/>
                      <a:r>
                        <a:rPr sz="700">
                          <a:solidFill>
                            <a:srgbClr val="FFFFFF"/>
                          </a:solidFill>
                          <a:latin typeface="Times New Roman" panose="02020603050405020304" pitchFamily="18" charset="0"/>
                          <a:cs typeface="Times New Roman" panose="02020603050405020304" pitchFamily="18" charset="0"/>
                        </a:rPr>
                        <a:t>OPA Rego</a:t>
                      </a:r>
                    </a:p>
                  </a:txBody>
                  <a:tcPr marL="68580" marR="68580" marT="34290" marB="34290">
                    <a:solidFill>
                      <a:srgbClr val="15223A"/>
                    </a:solidFill>
                  </a:tcPr>
                </a:tc>
                <a:tc>
                  <a:txBody>
                    <a:bodyPr/>
                    <a:lstStyle/>
                    <a:p>
                      <a:pPr algn="ctr"/>
                      <a:r>
                        <a:rPr sz="700">
                          <a:solidFill>
                            <a:srgbClr val="FFFFFF"/>
                          </a:solidFill>
                          <a:latin typeface="Times New Roman" panose="02020603050405020304" pitchFamily="18" charset="0"/>
                          <a:cs typeface="Times New Roman" panose="02020603050405020304" pitchFamily="18" charset="0"/>
                        </a:rPr>
                        <a:t>nhi_governance.rego</a:t>
                      </a:r>
                    </a:p>
                  </a:txBody>
                  <a:tcPr marL="68580" marR="68580" marT="34290" marB="34290">
                    <a:solidFill>
                      <a:srgbClr val="15223A"/>
                    </a:solidFill>
                  </a:tcPr>
                </a:tc>
                <a:tc>
                  <a:txBody>
                    <a:bodyPr/>
                    <a:lstStyle/>
                    <a:p>
                      <a:pPr algn="ctr"/>
                      <a:r>
                        <a:rPr sz="700">
                          <a:solidFill>
                            <a:srgbClr val="FFFFFF"/>
                          </a:solidFill>
                          <a:latin typeface="Times New Roman" panose="02020603050405020304" pitchFamily="18" charset="0"/>
                          <a:cs typeface="Times New Roman" panose="02020603050405020304" pitchFamily="18" charset="0"/>
                        </a:rPr>
                        <a:t>Same 11 rules in Open Policy Agent Rego; auditable declarative governance</a:t>
                      </a:r>
                    </a:p>
                  </a:txBody>
                  <a:tcPr marL="68580" marR="68580" marT="34290" marB="34290">
                    <a:solidFill>
                      <a:srgbClr val="15223A"/>
                    </a:solidFill>
                  </a:tcPr>
                </a:tc>
                <a:extLst>
                  <a:ext uri="{0D108BD9-81ED-4DB2-BD59-A6C34878D82A}">
                    <a16:rowId xmlns:a16="http://schemas.microsoft.com/office/drawing/2014/main" val="10009"/>
                  </a:ext>
                </a:extLst>
              </a:tr>
              <a:tr h="205740">
                <a:tc>
                  <a:txBody>
                    <a:bodyPr/>
                    <a:lstStyle/>
                    <a:p>
                      <a:pPr algn="ctr"/>
                      <a:r>
                        <a:rPr sz="700">
                          <a:solidFill>
                            <a:srgbClr val="FFFFFF"/>
                          </a:solidFill>
                          <a:latin typeface="Times New Roman" panose="02020603050405020304" pitchFamily="18" charset="0"/>
                          <a:cs typeface="Times New Roman" panose="02020603050405020304" pitchFamily="18" charset="0"/>
                        </a:rPr>
                        <a:t>10</a:t>
                      </a:r>
                    </a:p>
                  </a:txBody>
                  <a:tcPr marL="68580" marR="68580" marT="34290" marB="34290">
                    <a:solidFill>
                      <a:srgbClr val="0F2D52"/>
                    </a:solidFill>
                  </a:tcPr>
                </a:tc>
                <a:tc>
                  <a:txBody>
                    <a:bodyPr/>
                    <a:lstStyle/>
                    <a:p>
                      <a:pPr algn="ctr"/>
                      <a:r>
                        <a:rPr sz="700">
                          <a:solidFill>
                            <a:srgbClr val="FFFFFF"/>
                          </a:solidFill>
                          <a:latin typeface="Times New Roman" panose="02020603050405020304" pitchFamily="18" charset="0"/>
                          <a:cs typeface="Times New Roman" panose="02020603050405020304" pitchFamily="18" charset="0"/>
                        </a:rPr>
                        <a:t>ML Engine</a:t>
                      </a:r>
                    </a:p>
                  </a:txBody>
                  <a:tcPr marL="68580" marR="68580" marT="34290" marB="34290">
                    <a:solidFill>
                      <a:srgbClr val="0F2D52"/>
                    </a:solidFill>
                  </a:tcPr>
                </a:tc>
                <a:tc>
                  <a:txBody>
                    <a:bodyPr/>
                    <a:lstStyle/>
                    <a:p>
                      <a:pPr algn="ctr"/>
                      <a:r>
                        <a:rPr sz="700">
                          <a:solidFill>
                            <a:srgbClr val="FFFFFF"/>
                          </a:solidFill>
                          <a:latin typeface="Times New Roman" panose="02020603050405020304" pitchFamily="18" charset="0"/>
                          <a:cs typeface="Times New Roman" panose="02020603050405020304" pitchFamily="18" charset="0"/>
                        </a:rPr>
                        <a:t>ml_engine.py</a:t>
                      </a:r>
                    </a:p>
                  </a:txBody>
                  <a:tcPr marL="68580" marR="68580" marT="34290" marB="34290">
                    <a:solidFill>
                      <a:srgbClr val="0F2D52"/>
                    </a:solidFill>
                  </a:tcPr>
                </a:tc>
                <a:tc>
                  <a:txBody>
                    <a:bodyPr/>
                    <a:lstStyle/>
                    <a:p>
                      <a:pPr algn="ctr"/>
                      <a:r>
                        <a:rPr sz="700">
                          <a:solidFill>
                            <a:srgbClr val="FFFFFF"/>
                          </a:solidFill>
                          <a:latin typeface="Times New Roman" panose="02020603050405020304" pitchFamily="18" charset="0"/>
                          <a:cs typeface="Times New Roman" panose="02020603050405020304" pitchFamily="18" charset="0"/>
                        </a:rPr>
                        <a:t>Isolation Forest anomaly (9-dim); Linear Regression 30d forecast; SOC2 compliance</a:t>
                      </a:r>
                    </a:p>
                  </a:txBody>
                  <a:tcPr marL="68580" marR="68580" marT="34290" marB="34290">
                    <a:solidFill>
                      <a:srgbClr val="0F2D52"/>
                    </a:solidFill>
                  </a:tcPr>
                </a:tc>
                <a:extLst>
                  <a:ext uri="{0D108BD9-81ED-4DB2-BD59-A6C34878D82A}">
                    <a16:rowId xmlns:a16="http://schemas.microsoft.com/office/drawing/2014/main" val="10010"/>
                  </a:ext>
                </a:extLst>
              </a:tr>
              <a:tr h="205740">
                <a:tc>
                  <a:txBody>
                    <a:bodyPr/>
                    <a:lstStyle/>
                    <a:p>
                      <a:pPr algn="ctr"/>
                      <a:r>
                        <a:rPr sz="700">
                          <a:solidFill>
                            <a:srgbClr val="FFFFFF"/>
                          </a:solidFill>
                          <a:latin typeface="Times New Roman" panose="02020603050405020304" pitchFamily="18" charset="0"/>
                          <a:cs typeface="Times New Roman" panose="02020603050405020304" pitchFamily="18" charset="0"/>
                        </a:rPr>
                        <a:t>11</a:t>
                      </a:r>
                    </a:p>
                  </a:txBody>
                  <a:tcPr marL="68580" marR="68580" marT="34290" marB="34290">
                    <a:solidFill>
                      <a:srgbClr val="15223A"/>
                    </a:solidFill>
                  </a:tcPr>
                </a:tc>
                <a:tc>
                  <a:txBody>
                    <a:bodyPr/>
                    <a:lstStyle/>
                    <a:p>
                      <a:pPr algn="ctr"/>
                      <a:r>
                        <a:rPr sz="700">
                          <a:solidFill>
                            <a:srgbClr val="FFFFFF"/>
                          </a:solidFill>
                          <a:latin typeface="Times New Roman" panose="02020603050405020304" pitchFamily="18" charset="0"/>
                          <a:cs typeface="Times New Roman" panose="02020603050405020304" pitchFamily="18" charset="0"/>
                        </a:rPr>
                        <a:t>Report Generator</a:t>
                      </a:r>
                    </a:p>
                  </a:txBody>
                  <a:tcPr marL="68580" marR="68580" marT="34290" marB="34290">
                    <a:solidFill>
                      <a:srgbClr val="15223A"/>
                    </a:solidFill>
                  </a:tcPr>
                </a:tc>
                <a:tc>
                  <a:txBody>
                    <a:bodyPr/>
                    <a:lstStyle/>
                    <a:p>
                      <a:pPr algn="ctr"/>
                      <a:r>
                        <a:rPr sz="700">
                          <a:solidFill>
                            <a:srgbClr val="FFFFFF"/>
                          </a:solidFill>
                          <a:latin typeface="Times New Roman" panose="02020603050405020304" pitchFamily="18" charset="0"/>
                          <a:cs typeface="Times New Roman" panose="02020603050405020304" pitchFamily="18" charset="0"/>
                        </a:rPr>
                        <a:t>report_generator.py</a:t>
                      </a:r>
                    </a:p>
                  </a:txBody>
                  <a:tcPr marL="68580" marR="68580" marT="34290" marB="34290">
                    <a:solidFill>
                      <a:srgbClr val="15223A"/>
                    </a:solidFill>
                  </a:tcPr>
                </a:tc>
                <a:tc>
                  <a:txBody>
                    <a:bodyPr/>
                    <a:lstStyle/>
                    <a:p>
                      <a:pPr algn="ctr"/>
                      <a:r>
                        <a:rPr sz="700">
                          <a:solidFill>
                            <a:srgbClr val="FFFFFF"/>
                          </a:solidFill>
                          <a:latin typeface="Times New Roman" panose="02020603050405020304" pitchFamily="18" charset="0"/>
                          <a:cs typeface="Times New Roman" panose="02020603050405020304" pitchFamily="18" charset="0"/>
                        </a:rPr>
                        <a:t>Styled HTML: banner, summary cards, violations + SSL + GitHub tables; XSS-safe</a:t>
                      </a:r>
                    </a:p>
                  </a:txBody>
                  <a:tcPr marL="68580" marR="68580" marT="34290" marB="34290">
                    <a:solidFill>
                      <a:srgbClr val="15223A"/>
                    </a:solidFill>
                  </a:tcPr>
                </a:tc>
                <a:extLst>
                  <a:ext uri="{0D108BD9-81ED-4DB2-BD59-A6C34878D82A}">
                    <a16:rowId xmlns:a16="http://schemas.microsoft.com/office/drawing/2014/main" val="10011"/>
                  </a:ext>
                </a:extLst>
              </a:tr>
              <a:tr h="205740">
                <a:tc>
                  <a:txBody>
                    <a:bodyPr/>
                    <a:lstStyle/>
                    <a:p>
                      <a:pPr algn="ctr"/>
                      <a:r>
                        <a:rPr sz="700">
                          <a:solidFill>
                            <a:srgbClr val="FFFFFF"/>
                          </a:solidFill>
                          <a:latin typeface="Times New Roman" panose="02020603050405020304" pitchFamily="18" charset="0"/>
                          <a:cs typeface="Times New Roman" panose="02020603050405020304" pitchFamily="18" charset="0"/>
                        </a:rPr>
                        <a:t>12</a:t>
                      </a:r>
                    </a:p>
                  </a:txBody>
                  <a:tcPr marL="68580" marR="68580" marT="34290" marB="34290">
                    <a:solidFill>
                      <a:srgbClr val="0F2D52"/>
                    </a:solidFill>
                  </a:tcPr>
                </a:tc>
                <a:tc>
                  <a:txBody>
                    <a:bodyPr/>
                    <a:lstStyle/>
                    <a:p>
                      <a:pPr algn="ctr"/>
                      <a:r>
                        <a:rPr sz="700">
                          <a:solidFill>
                            <a:srgbClr val="FFFFFF"/>
                          </a:solidFill>
                          <a:latin typeface="Times New Roman" panose="02020603050405020304" pitchFamily="18" charset="0"/>
                          <a:cs typeface="Times New Roman" panose="02020603050405020304" pitchFamily="18" charset="0"/>
                        </a:rPr>
                        <a:t>Email Notifier</a:t>
                      </a:r>
                    </a:p>
                  </a:txBody>
                  <a:tcPr marL="68580" marR="68580" marT="34290" marB="34290">
                    <a:solidFill>
                      <a:srgbClr val="0F2D52"/>
                    </a:solidFill>
                  </a:tcPr>
                </a:tc>
                <a:tc>
                  <a:txBody>
                    <a:bodyPr/>
                    <a:lstStyle/>
                    <a:p>
                      <a:pPr algn="ctr"/>
                      <a:r>
                        <a:rPr sz="700">
                          <a:solidFill>
                            <a:srgbClr val="FFFFFF"/>
                          </a:solidFill>
                          <a:latin typeface="Times New Roman" panose="02020603050405020304" pitchFamily="18" charset="0"/>
                          <a:cs typeface="Times New Roman" panose="02020603050405020304" pitchFamily="18" charset="0"/>
                        </a:rPr>
                        <a:t>email_notifier.py</a:t>
                      </a:r>
                    </a:p>
                  </a:txBody>
                  <a:tcPr marL="68580" marR="68580" marT="34290" marB="34290">
                    <a:solidFill>
                      <a:srgbClr val="0F2D52"/>
                    </a:solidFill>
                  </a:tcPr>
                </a:tc>
                <a:tc>
                  <a:txBody>
                    <a:bodyPr/>
                    <a:lstStyle/>
                    <a:p>
                      <a:pPr algn="ctr"/>
                      <a:r>
                        <a:rPr sz="700">
                          <a:solidFill>
                            <a:srgbClr val="FFFFFF"/>
                          </a:solidFill>
                          <a:latin typeface="Times New Roman" panose="02020603050405020304" pitchFamily="18" charset="0"/>
                          <a:cs typeface="Times New Roman" panose="02020603050405020304" pitchFamily="18" charset="0"/>
                        </a:rPr>
                        <a:t>SMTP TLS; HTML+plaintext multipart; report attachment; skips if env vars absent</a:t>
                      </a:r>
                    </a:p>
                  </a:txBody>
                  <a:tcPr marL="68580" marR="68580" marT="34290" marB="34290">
                    <a:solidFill>
                      <a:srgbClr val="0F2D52"/>
                    </a:solidFill>
                  </a:tcPr>
                </a:tc>
                <a:extLst>
                  <a:ext uri="{0D108BD9-81ED-4DB2-BD59-A6C34878D82A}">
                    <a16:rowId xmlns:a16="http://schemas.microsoft.com/office/drawing/2014/main" val="10012"/>
                  </a:ext>
                </a:extLst>
              </a:tr>
              <a:tr h="205740">
                <a:tc>
                  <a:txBody>
                    <a:bodyPr/>
                    <a:lstStyle/>
                    <a:p>
                      <a:pPr algn="ctr"/>
                      <a:r>
                        <a:rPr sz="700">
                          <a:solidFill>
                            <a:srgbClr val="FFFFFF"/>
                          </a:solidFill>
                          <a:latin typeface="Times New Roman" panose="02020603050405020304" pitchFamily="18" charset="0"/>
                          <a:cs typeface="Times New Roman" panose="02020603050405020304" pitchFamily="18" charset="0"/>
                        </a:rPr>
                        <a:t>13</a:t>
                      </a:r>
                    </a:p>
                  </a:txBody>
                  <a:tcPr marL="68580" marR="68580" marT="34290" marB="34290">
                    <a:solidFill>
                      <a:srgbClr val="15223A"/>
                    </a:solidFill>
                  </a:tcPr>
                </a:tc>
                <a:tc>
                  <a:txBody>
                    <a:bodyPr/>
                    <a:lstStyle/>
                    <a:p>
                      <a:pPr algn="ctr"/>
                      <a:r>
                        <a:rPr sz="700">
                          <a:solidFill>
                            <a:srgbClr val="FFFFFF"/>
                          </a:solidFill>
                          <a:latin typeface="Times New Roman" panose="02020603050405020304" pitchFamily="18" charset="0"/>
                          <a:cs typeface="Times New Roman" panose="02020603050405020304" pitchFamily="18" charset="0"/>
                        </a:rPr>
                        <a:t>REST API</a:t>
                      </a:r>
                    </a:p>
                  </a:txBody>
                  <a:tcPr marL="68580" marR="68580" marT="34290" marB="34290">
                    <a:solidFill>
                      <a:srgbClr val="15223A"/>
                    </a:solidFill>
                  </a:tcPr>
                </a:tc>
                <a:tc>
                  <a:txBody>
                    <a:bodyPr/>
                    <a:lstStyle/>
                    <a:p>
                      <a:pPr algn="ctr"/>
                      <a:r>
                        <a:rPr sz="700">
                          <a:solidFill>
                            <a:srgbClr val="FFFFFF"/>
                          </a:solidFill>
                          <a:latin typeface="Times New Roman" panose="02020603050405020304" pitchFamily="18" charset="0"/>
                          <a:cs typeface="Times New Roman" panose="02020603050405020304" pitchFamily="18" charset="0"/>
                        </a:rPr>
                        <a:t>api_server.py</a:t>
                      </a:r>
                    </a:p>
                  </a:txBody>
                  <a:tcPr marL="68580" marR="68580" marT="34290" marB="34290">
                    <a:solidFill>
                      <a:srgbClr val="15223A"/>
                    </a:solidFill>
                  </a:tcPr>
                </a:tc>
                <a:tc>
                  <a:txBody>
                    <a:bodyPr/>
                    <a:lstStyle/>
                    <a:p>
                      <a:pPr algn="ctr"/>
                      <a:r>
                        <a:rPr sz="700">
                          <a:solidFill>
                            <a:srgbClr val="FFFFFF"/>
                          </a:solidFill>
                          <a:latin typeface="Times New Roman" panose="02020603050405020304" pitchFamily="18" charset="0"/>
                          <a:cs typeface="Times New Roman" panose="02020603050405020304" pitchFamily="18" charset="0"/>
                        </a:rPr>
                        <a:t>Flask: GET /api/health, POST /api/rotate; CORS; input validation; dry-run</a:t>
                      </a:r>
                    </a:p>
                  </a:txBody>
                  <a:tcPr marL="68580" marR="68580" marT="34290" marB="34290">
                    <a:solidFill>
                      <a:srgbClr val="15223A"/>
                    </a:solidFill>
                  </a:tcPr>
                </a:tc>
                <a:extLst>
                  <a:ext uri="{0D108BD9-81ED-4DB2-BD59-A6C34878D82A}">
                    <a16:rowId xmlns:a16="http://schemas.microsoft.com/office/drawing/2014/main" val="10013"/>
                  </a:ext>
                </a:extLst>
              </a:tr>
              <a:tr h="205740">
                <a:tc>
                  <a:txBody>
                    <a:bodyPr/>
                    <a:lstStyle/>
                    <a:p>
                      <a:pPr algn="ctr"/>
                      <a:r>
                        <a:rPr sz="700">
                          <a:solidFill>
                            <a:srgbClr val="FFFFFF"/>
                          </a:solidFill>
                          <a:latin typeface="Times New Roman" panose="02020603050405020304" pitchFamily="18" charset="0"/>
                          <a:cs typeface="Times New Roman" panose="02020603050405020304" pitchFamily="18" charset="0"/>
                        </a:rPr>
                        <a:t>14</a:t>
                      </a:r>
                    </a:p>
                  </a:txBody>
                  <a:tcPr marL="68580" marR="68580" marT="34290" marB="34290">
                    <a:solidFill>
                      <a:srgbClr val="0F2D52"/>
                    </a:solidFill>
                  </a:tcPr>
                </a:tc>
                <a:tc>
                  <a:txBody>
                    <a:bodyPr/>
                    <a:lstStyle/>
                    <a:p>
                      <a:pPr algn="ctr"/>
                      <a:r>
                        <a:rPr sz="700">
                          <a:solidFill>
                            <a:srgbClr val="FFFFFF"/>
                          </a:solidFill>
                          <a:latin typeface="Times New Roman" panose="02020603050405020304" pitchFamily="18" charset="0"/>
                          <a:cs typeface="Times New Roman" panose="02020603050405020304" pitchFamily="18" charset="0"/>
                        </a:rPr>
                        <a:t>React Dashboard</a:t>
                      </a:r>
                    </a:p>
                  </a:txBody>
                  <a:tcPr marL="68580" marR="68580" marT="34290" marB="34290">
                    <a:solidFill>
                      <a:srgbClr val="0F2D52"/>
                    </a:solidFill>
                  </a:tcPr>
                </a:tc>
                <a:tc>
                  <a:txBody>
                    <a:bodyPr/>
                    <a:lstStyle/>
                    <a:p>
                      <a:pPr algn="ctr"/>
                      <a:r>
                        <a:rPr sz="700">
                          <a:solidFill>
                            <a:srgbClr val="FFFFFF"/>
                          </a:solidFill>
                          <a:latin typeface="Times New Roman" panose="02020603050405020304" pitchFamily="18" charset="0"/>
                          <a:cs typeface="Times New Roman" panose="02020603050405020304" pitchFamily="18" charset="0"/>
                        </a:rPr>
                        <a:t>dashboard/src/</a:t>
                      </a:r>
                    </a:p>
                  </a:txBody>
                  <a:tcPr marL="68580" marR="68580" marT="34290" marB="34290">
                    <a:solidFill>
                      <a:srgbClr val="0F2D52"/>
                    </a:solidFill>
                  </a:tcPr>
                </a:tc>
                <a:tc>
                  <a:txBody>
                    <a:bodyPr/>
                    <a:lstStyle/>
                    <a:p>
                      <a:pPr algn="ctr"/>
                      <a:r>
                        <a:rPr sz="700" dirty="0">
                          <a:solidFill>
                            <a:srgbClr val="FFFFFF"/>
                          </a:solidFill>
                          <a:latin typeface="Times New Roman" panose="02020603050405020304" pitchFamily="18" charset="0"/>
                          <a:cs typeface="Times New Roman" panose="02020603050405020304" pitchFamily="18" charset="0"/>
                        </a:rPr>
                        <a:t>11 TypeScript pages; Recharts; </a:t>
                      </a:r>
                      <a:r>
                        <a:rPr sz="700" dirty="0" err="1">
                          <a:solidFill>
                            <a:srgbClr val="FFFFFF"/>
                          </a:solidFill>
                          <a:latin typeface="Times New Roman" panose="02020603050405020304" pitchFamily="18" charset="0"/>
                          <a:cs typeface="Times New Roman" panose="02020603050405020304" pitchFamily="18" charset="0"/>
                        </a:rPr>
                        <a:t>DataContext</a:t>
                      </a:r>
                      <a:r>
                        <a:rPr sz="700" dirty="0">
                          <a:solidFill>
                            <a:srgbClr val="FFFFFF"/>
                          </a:solidFill>
                          <a:latin typeface="Times New Roman" panose="02020603050405020304" pitchFamily="18" charset="0"/>
                          <a:cs typeface="Times New Roman" panose="02020603050405020304" pitchFamily="18" charset="0"/>
                        </a:rPr>
                        <a:t> polling </a:t>
                      </a:r>
                      <a:r>
                        <a:rPr sz="700" dirty="0" err="1">
                          <a:solidFill>
                            <a:srgbClr val="FFFFFF"/>
                          </a:solidFill>
                          <a:latin typeface="Times New Roman" panose="02020603050405020304" pitchFamily="18" charset="0"/>
                          <a:cs typeface="Times New Roman" panose="02020603050405020304" pitchFamily="18" charset="0"/>
                        </a:rPr>
                        <a:t>nhi_inventory.json</a:t>
                      </a:r>
                      <a:endParaRPr sz="700" dirty="0">
                        <a:solidFill>
                          <a:srgbClr val="FFFFFF"/>
                        </a:solidFill>
                        <a:latin typeface="Times New Roman" panose="02020603050405020304" pitchFamily="18" charset="0"/>
                        <a:cs typeface="Times New Roman" panose="02020603050405020304" pitchFamily="18" charset="0"/>
                      </a:endParaRPr>
                    </a:p>
                  </a:txBody>
                  <a:tcPr marL="68580" marR="68580" marT="34290" marB="34290">
                    <a:solidFill>
                      <a:srgbClr val="0F2D52"/>
                    </a:solidFill>
                  </a:tcPr>
                </a:tc>
                <a:extLst>
                  <a:ext uri="{0D108BD9-81ED-4DB2-BD59-A6C34878D82A}">
                    <a16:rowId xmlns:a16="http://schemas.microsoft.com/office/drawing/2014/main" val="10014"/>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97702" y="111895"/>
            <a:ext cx="8435340" cy="400110"/>
          </a:xfrm>
          <a:prstGeom prst="rect">
            <a:avLst/>
          </a:prstGeom>
          <a:noFill/>
        </p:spPr>
        <p:txBody>
          <a:bodyPr wrap="square">
            <a:spAutoFit/>
          </a:bodyPr>
          <a:lstStyle/>
          <a:p>
            <a:pPr algn="ctr"/>
            <a:r>
              <a:rPr sz="2000" b="1" i="1" dirty="0">
                <a:solidFill>
                  <a:srgbClr val="083C92"/>
                </a:solidFill>
                <a:latin typeface="Bookman Old Style" panose="02050604050505020204" pitchFamily="18" charset="0"/>
              </a:rPr>
              <a:t>Testing Methods Used</a:t>
            </a:r>
          </a:p>
        </p:txBody>
      </p:sp>
      <p:sp>
        <p:nvSpPr>
          <p:cNvPr id="6" name="TextBox 5"/>
          <p:cNvSpPr txBox="1"/>
          <p:nvPr/>
        </p:nvSpPr>
        <p:spPr>
          <a:xfrm>
            <a:off x="378380" y="512005"/>
            <a:ext cx="8435340" cy="242374"/>
          </a:xfrm>
          <a:prstGeom prst="rect">
            <a:avLst/>
          </a:prstGeom>
          <a:noFill/>
        </p:spPr>
        <p:txBody>
          <a:bodyPr wrap="square">
            <a:spAutoFit/>
          </a:bodyPr>
          <a:lstStyle/>
          <a:p>
            <a:pPr algn="l"/>
            <a:r>
              <a:rPr sz="975" i="1" dirty="0">
                <a:solidFill>
                  <a:srgbClr val="06B6D4"/>
                </a:solidFill>
              </a:rPr>
              <a:t>3-tier test pyramid: Unit → Integration → API</a:t>
            </a:r>
          </a:p>
        </p:txBody>
      </p:sp>
      <p:sp>
        <p:nvSpPr>
          <p:cNvPr id="7" name="Rectangle 6"/>
          <p:cNvSpPr/>
          <p:nvPr/>
        </p:nvSpPr>
        <p:spPr>
          <a:xfrm>
            <a:off x="241221" y="822960"/>
            <a:ext cx="2743200" cy="3977640"/>
          </a:xfrm>
          <a:prstGeom prst="rect">
            <a:avLst/>
          </a:prstGeom>
          <a:solidFill>
            <a:srgbClr val="0F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8" name="Rectangle 7"/>
          <p:cNvSpPr/>
          <p:nvPr/>
        </p:nvSpPr>
        <p:spPr>
          <a:xfrm>
            <a:off x="241221" y="822960"/>
            <a:ext cx="2743200" cy="342900"/>
          </a:xfrm>
          <a:prstGeom prst="rect">
            <a:avLst/>
          </a:prstGeom>
          <a:solidFill>
            <a:srgbClr val="1F4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9" name="TextBox 8"/>
          <p:cNvSpPr txBox="1"/>
          <p:nvPr/>
        </p:nvSpPr>
        <p:spPr>
          <a:xfrm>
            <a:off x="309800" y="836676"/>
            <a:ext cx="2606040" cy="265457"/>
          </a:xfrm>
          <a:prstGeom prst="rect">
            <a:avLst/>
          </a:prstGeom>
          <a:noFill/>
        </p:spPr>
        <p:txBody>
          <a:bodyPr wrap="square">
            <a:spAutoFit/>
          </a:bodyPr>
          <a:lstStyle/>
          <a:p>
            <a:pPr algn="ctr"/>
            <a:r>
              <a:rPr sz="1125" b="1" dirty="0">
                <a:solidFill>
                  <a:srgbClr val="FFFFFF"/>
                </a:solidFill>
                <a:latin typeface="Times New Roman" panose="02020603050405020304" pitchFamily="18" charset="0"/>
                <a:cs typeface="Times New Roman" panose="02020603050405020304" pitchFamily="18" charset="0"/>
              </a:rPr>
              <a:t>Unit Testing</a:t>
            </a:r>
          </a:p>
        </p:txBody>
      </p:sp>
      <p:sp>
        <p:nvSpPr>
          <p:cNvPr id="10" name="TextBox 9"/>
          <p:cNvSpPr txBox="1"/>
          <p:nvPr/>
        </p:nvSpPr>
        <p:spPr>
          <a:xfrm>
            <a:off x="344091" y="1234440"/>
            <a:ext cx="2537460" cy="784830"/>
          </a:xfrm>
          <a:prstGeom prst="rect">
            <a:avLst/>
          </a:prstGeom>
          <a:noFill/>
        </p:spPr>
        <p:txBody>
          <a:bodyPr wrap="square">
            <a:spAutoFit/>
          </a:bodyPr>
          <a:lstStyle/>
          <a:p>
            <a:pPr algn="l"/>
            <a:r>
              <a:rPr sz="900" dirty="0">
                <a:solidFill>
                  <a:srgbClr val="F3F6FB"/>
                </a:solidFill>
                <a:latin typeface="Times New Roman" panose="02020603050405020304" pitchFamily="18" charset="0"/>
                <a:cs typeface="Times New Roman" panose="02020603050405020304" pitchFamily="18" charset="0"/>
              </a:rPr>
              <a:t>Pure function tests. No external I/O. Core logic isolated with </a:t>
            </a:r>
            <a:r>
              <a:rPr sz="900" dirty="0" err="1">
                <a:solidFill>
                  <a:srgbClr val="F3F6FB"/>
                </a:solidFill>
                <a:latin typeface="Times New Roman" panose="02020603050405020304" pitchFamily="18" charset="0"/>
                <a:cs typeface="Times New Roman" panose="02020603050405020304" pitchFamily="18" charset="0"/>
              </a:rPr>
              <a:t>unittest.mock</a:t>
            </a:r>
            <a:r>
              <a:rPr sz="900" dirty="0">
                <a:solidFill>
                  <a:srgbClr val="F3F6FB"/>
                </a:solidFill>
                <a:latin typeface="Times New Roman" panose="02020603050405020304" pitchFamily="18" charset="0"/>
                <a:cs typeface="Times New Roman" panose="02020603050405020304" pitchFamily="18" charset="0"/>
              </a:rPr>
              <a:t>.
Modules: </a:t>
            </a:r>
            <a:r>
              <a:rPr sz="900" dirty="0" err="1">
                <a:solidFill>
                  <a:srgbClr val="F3F6FB"/>
                </a:solidFill>
                <a:latin typeface="Times New Roman" panose="02020603050405020304" pitchFamily="18" charset="0"/>
                <a:cs typeface="Times New Roman" panose="02020603050405020304" pitchFamily="18" charset="0"/>
              </a:rPr>
              <a:t>cert_agent</a:t>
            </a:r>
            <a:r>
              <a:rPr sz="900" dirty="0">
                <a:solidFill>
                  <a:srgbClr val="F3F6FB"/>
                </a:solidFill>
                <a:latin typeface="Times New Roman" panose="02020603050405020304" pitchFamily="18" charset="0"/>
                <a:cs typeface="Times New Roman" panose="02020603050405020304" pitchFamily="18" charset="0"/>
              </a:rPr>
              <a:t>, </a:t>
            </a:r>
            <a:r>
              <a:rPr sz="900" dirty="0" err="1">
                <a:solidFill>
                  <a:srgbClr val="F3F6FB"/>
                </a:solidFill>
                <a:latin typeface="Times New Roman" panose="02020603050405020304" pitchFamily="18" charset="0"/>
                <a:cs typeface="Times New Roman" panose="02020603050405020304" pitchFamily="18" charset="0"/>
              </a:rPr>
              <a:t>risk_scorer</a:t>
            </a:r>
            <a:r>
              <a:rPr sz="900" dirty="0">
                <a:solidFill>
                  <a:srgbClr val="F3F6FB"/>
                </a:solidFill>
                <a:latin typeface="Times New Roman" panose="02020603050405020304" pitchFamily="18" charset="0"/>
                <a:cs typeface="Times New Roman" panose="02020603050405020304" pitchFamily="18" charset="0"/>
              </a:rPr>
              <a:t>, policy engine, </a:t>
            </a:r>
            <a:r>
              <a:rPr sz="900" dirty="0" err="1">
                <a:solidFill>
                  <a:srgbClr val="F3F6FB"/>
                </a:solidFill>
                <a:latin typeface="Times New Roman" panose="02020603050405020304" pitchFamily="18" charset="0"/>
                <a:cs typeface="Times New Roman" panose="02020603050405020304" pitchFamily="18" charset="0"/>
              </a:rPr>
              <a:t>ml_engine</a:t>
            </a:r>
            <a:r>
              <a:rPr sz="900" dirty="0">
                <a:solidFill>
                  <a:srgbClr val="F3F6FB"/>
                </a:solidFill>
                <a:latin typeface="Times New Roman" panose="02020603050405020304" pitchFamily="18" charset="0"/>
                <a:cs typeface="Times New Roman" panose="02020603050405020304" pitchFamily="18" charset="0"/>
              </a:rPr>
              <a:t>, azure agents.
Tools: </a:t>
            </a:r>
            <a:r>
              <a:rPr sz="900" dirty="0" err="1">
                <a:solidFill>
                  <a:srgbClr val="F3F6FB"/>
                </a:solidFill>
                <a:latin typeface="Times New Roman" panose="02020603050405020304" pitchFamily="18" charset="0"/>
                <a:cs typeface="Times New Roman" panose="02020603050405020304" pitchFamily="18" charset="0"/>
              </a:rPr>
              <a:t>pytest</a:t>
            </a:r>
            <a:r>
              <a:rPr sz="900" dirty="0">
                <a:solidFill>
                  <a:srgbClr val="F3F6FB"/>
                </a:solidFill>
                <a:latin typeface="Times New Roman" panose="02020603050405020304" pitchFamily="18" charset="0"/>
                <a:cs typeface="Times New Roman" panose="02020603050405020304" pitchFamily="18" charset="0"/>
              </a:rPr>
              <a:t> 9.0.3, Python 3.14</a:t>
            </a:r>
          </a:p>
        </p:txBody>
      </p:sp>
      <p:sp>
        <p:nvSpPr>
          <p:cNvPr id="11" name="Rectangle 10"/>
          <p:cNvSpPr/>
          <p:nvPr/>
        </p:nvSpPr>
        <p:spPr>
          <a:xfrm>
            <a:off x="3190160" y="822960"/>
            <a:ext cx="2743200" cy="3977640"/>
          </a:xfrm>
          <a:prstGeom prst="rect">
            <a:avLst/>
          </a:prstGeom>
          <a:solidFill>
            <a:srgbClr val="0F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2" name="Rectangle 11"/>
          <p:cNvSpPr/>
          <p:nvPr/>
        </p:nvSpPr>
        <p:spPr>
          <a:xfrm>
            <a:off x="3190160" y="822960"/>
            <a:ext cx="2743200" cy="3429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3" name="TextBox 12"/>
          <p:cNvSpPr txBox="1"/>
          <p:nvPr/>
        </p:nvSpPr>
        <p:spPr>
          <a:xfrm>
            <a:off x="3258740" y="836676"/>
            <a:ext cx="2606040" cy="265457"/>
          </a:xfrm>
          <a:prstGeom prst="rect">
            <a:avLst/>
          </a:prstGeom>
          <a:noFill/>
        </p:spPr>
        <p:txBody>
          <a:bodyPr wrap="square">
            <a:spAutoFit/>
          </a:bodyPr>
          <a:lstStyle/>
          <a:p>
            <a:pPr algn="ctr"/>
            <a:r>
              <a:rPr sz="1125" b="1" dirty="0">
                <a:solidFill>
                  <a:srgbClr val="FFFFFF"/>
                </a:solidFill>
                <a:latin typeface="Times New Roman" panose="02020603050405020304" pitchFamily="18" charset="0"/>
                <a:cs typeface="Times New Roman" panose="02020603050405020304" pitchFamily="18" charset="0"/>
              </a:rPr>
              <a:t>Integration Testing</a:t>
            </a:r>
          </a:p>
        </p:txBody>
      </p:sp>
      <p:sp>
        <p:nvSpPr>
          <p:cNvPr id="14" name="TextBox 13"/>
          <p:cNvSpPr txBox="1"/>
          <p:nvPr/>
        </p:nvSpPr>
        <p:spPr>
          <a:xfrm>
            <a:off x="3293031" y="1234440"/>
            <a:ext cx="2537460" cy="923330"/>
          </a:xfrm>
          <a:prstGeom prst="rect">
            <a:avLst/>
          </a:prstGeom>
          <a:noFill/>
        </p:spPr>
        <p:txBody>
          <a:bodyPr wrap="square">
            <a:spAutoFit/>
          </a:bodyPr>
          <a:lstStyle/>
          <a:p>
            <a:pPr algn="l"/>
            <a:r>
              <a:rPr sz="900" dirty="0">
                <a:solidFill>
                  <a:srgbClr val="F3F6FB"/>
                </a:solidFill>
                <a:latin typeface="Times New Roman" panose="02020603050405020304" pitchFamily="18" charset="0"/>
                <a:cs typeface="Times New Roman" panose="02020603050405020304" pitchFamily="18" charset="0"/>
              </a:rPr>
              <a:t>Multi-module pipeline composition tests.
Scoring → Policy Eval → Report Generation as a chain.
Data persistence validation against real </a:t>
            </a:r>
            <a:r>
              <a:rPr sz="900" dirty="0" err="1">
                <a:solidFill>
                  <a:srgbClr val="F3F6FB"/>
                </a:solidFill>
                <a:latin typeface="Times New Roman" panose="02020603050405020304" pitchFamily="18" charset="0"/>
                <a:cs typeface="Times New Roman" panose="02020603050405020304" pitchFamily="18" charset="0"/>
              </a:rPr>
              <a:t>nhi_inventory.json</a:t>
            </a:r>
            <a:r>
              <a:rPr sz="900" dirty="0">
                <a:solidFill>
                  <a:srgbClr val="F3F6FB"/>
                </a:solidFill>
                <a:latin typeface="Times New Roman" panose="02020603050405020304" pitchFamily="18" charset="0"/>
                <a:cs typeface="Times New Roman" panose="02020603050405020304" pitchFamily="18" charset="0"/>
              </a:rPr>
              <a:t>, </a:t>
            </a:r>
            <a:r>
              <a:rPr sz="900" dirty="0" err="1">
                <a:solidFill>
                  <a:srgbClr val="F3F6FB"/>
                </a:solidFill>
                <a:latin typeface="Times New Roman" panose="02020603050405020304" pitchFamily="18" charset="0"/>
                <a:cs typeface="Times New Roman" panose="02020603050405020304" pitchFamily="18" charset="0"/>
              </a:rPr>
              <a:t>scan_history</a:t>
            </a:r>
            <a:r>
              <a:rPr sz="900" dirty="0">
                <a:solidFill>
                  <a:srgbClr val="F3F6FB"/>
                </a:solidFill>
                <a:latin typeface="Times New Roman" panose="02020603050405020304" pitchFamily="18" charset="0"/>
                <a:cs typeface="Times New Roman" panose="02020603050405020304" pitchFamily="18" charset="0"/>
              </a:rPr>
              <a:t>, </a:t>
            </a:r>
            <a:r>
              <a:rPr sz="900" dirty="0" err="1">
                <a:solidFill>
                  <a:srgbClr val="F3F6FB"/>
                </a:solidFill>
                <a:latin typeface="Times New Roman" panose="02020603050405020304" pitchFamily="18" charset="0"/>
                <a:cs typeface="Times New Roman" panose="02020603050405020304" pitchFamily="18" charset="0"/>
              </a:rPr>
              <a:t>audit_log</a:t>
            </a:r>
            <a:r>
              <a:rPr sz="900" dirty="0">
                <a:solidFill>
                  <a:srgbClr val="F3F6FB"/>
                </a:solidFill>
                <a:latin typeface="Times New Roman" panose="02020603050405020304" pitchFamily="18" charset="0"/>
                <a:cs typeface="Times New Roman" panose="02020603050405020304" pitchFamily="18" charset="0"/>
              </a:rPr>
              <a:t>.
Tools: </a:t>
            </a:r>
            <a:r>
              <a:rPr sz="900" dirty="0" err="1">
                <a:solidFill>
                  <a:srgbClr val="F3F6FB"/>
                </a:solidFill>
                <a:latin typeface="Times New Roman" panose="02020603050405020304" pitchFamily="18" charset="0"/>
                <a:cs typeface="Times New Roman" panose="02020603050405020304" pitchFamily="18" charset="0"/>
              </a:rPr>
              <a:t>pytest</a:t>
            </a:r>
            <a:r>
              <a:rPr sz="900" dirty="0">
                <a:solidFill>
                  <a:srgbClr val="F3F6FB"/>
                </a:solidFill>
                <a:latin typeface="Times New Roman" panose="02020603050405020304" pitchFamily="18" charset="0"/>
                <a:cs typeface="Times New Roman" panose="02020603050405020304" pitchFamily="18" charset="0"/>
              </a:rPr>
              <a:t>, </a:t>
            </a:r>
            <a:r>
              <a:rPr sz="900" dirty="0" err="1">
                <a:solidFill>
                  <a:srgbClr val="F3F6FB"/>
                </a:solidFill>
                <a:latin typeface="Times New Roman" panose="02020603050405020304" pitchFamily="18" charset="0"/>
                <a:cs typeface="Times New Roman" panose="02020603050405020304" pitchFamily="18" charset="0"/>
              </a:rPr>
              <a:t>tempfile</a:t>
            </a:r>
            <a:r>
              <a:rPr sz="900" dirty="0">
                <a:solidFill>
                  <a:srgbClr val="F3F6FB"/>
                </a:solidFill>
                <a:latin typeface="Times New Roman" panose="02020603050405020304" pitchFamily="18" charset="0"/>
                <a:cs typeface="Times New Roman" panose="02020603050405020304" pitchFamily="18" charset="0"/>
              </a:rPr>
              <a:t>, real JSON files</a:t>
            </a:r>
          </a:p>
        </p:txBody>
      </p:sp>
      <p:sp>
        <p:nvSpPr>
          <p:cNvPr id="15" name="Rectangle 14"/>
          <p:cNvSpPr/>
          <p:nvPr/>
        </p:nvSpPr>
        <p:spPr>
          <a:xfrm>
            <a:off x="6139100" y="822960"/>
            <a:ext cx="2743200" cy="3977640"/>
          </a:xfrm>
          <a:prstGeom prst="rect">
            <a:avLst/>
          </a:prstGeom>
          <a:solidFill>
            <a:srgbClr val="0F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6" name="Rectangle 15"/>
          <p:cNvSpPr/>
          <p:nvPr/>
        </p:nvSpPr>
        <p:spPr>
          <a:xfrm>
            <a:off x="6139100" y="822960"/>
            <a:ext cx="2743200" cy="342900"/>
          </a:xfrm>
          <a:prstGeom prst="rect">
            <a:avLst/>
          </a:prstGeom>
          <a:solidFill>
            <a:srgbClr val="0E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7" name="TextBox 16"/>
          <p:cNvSpPr txBox="1"/>
          <p:nvPr/>
        </p:nvSpPr>
        <p:spPr>
          <a:xfrm>
            <a:off x="6207680" y="836676"/>
            <a:ext cx="2606040" cy="265457"/>
          </a:xfrm>
          <a:prstGeom prst="rect">
            <a:avLst/>
          </a:prstGeom>
          <a:noFill/>
        </p:spPr>
        <p:txBody>
          <a:bodyPr wrap="square">
            <a:spAutoFit/>
          </a:bodyPr>
          <a:lstStyle/>
          <a:p>
            <a:pPr algn="ctr"/>
            <a:r>
              <a:rPr sz="1125" b="1" dirty="0">
                <a:solidFill>
                  <a:srgbClr val="FFFFFF"/>
                </a:solidFill>
                <a:latin typeface="Times New Roman" panose="02020603050405020304" pitchFamily="18" charset="0"/>
                <a:cs typeface="Times New Roman" panose="02020603050405020304" pitchFamily="18" charset="0"/>
              </a:rPr>
              <a:t>API Testing</a:t>
            </a:r>
          </a:p>
        </p:txBody>
      </p:sp>
      <p:sp>
        <p:nvSpPr>
          <p:cNvPr id="18" name="TextBox 17"/>
          <p:cNvSpPr txBox="1"/>
          <p:nvPr/>
        </p:nvSpPr>
        <p:spPr>
          <a:xfrm>
            <a:off x="6241971" y="1234440"/>
            <a:ext cx="2537460" cy="923330"/>
          </a:xfrm>
          <a:prstGeom prst="rect">
            <a:avLst/>
          </a:prstGeom>
          <a:noFill/>
        </p:spPr>
        <p:txBody>
          <a:bodyPr wrap="square">
            <a:spAutoFit/>
          </a:bodyPr>
          <a:lstStyle/>
          <a:p>
            <a:pPr algn="l"/>
            <a:r>
              <a:rPr sz="900" dirty="0">
                <a:solidFill>
                  <a:srgbClr val="F3F6FB"/>
                </a:solidFill>
                <a:latin typeface="Times New Roman" panose="02020603050405020304" pitchFamily="18" charset="0"/>
                <a:cs typeface="Times New Roman" panose="02020603050405020304" pitchFamily="18" charset="0"/>
              </a:rPr>
              <a:t>Flask test client end-to-end tests.
Health endpoint, input validation (400/500), mocked rotation calls.
Verifies CORS, JSON content-type, auth guard </a:t>
            </a:r>
            <a:r>
              <a:rPr sz="900" dirty="0" err="1">
                <a:solidFill>
                  <a:srgbClr val="F3F6FB"/>
                </a:solidFill>
                <a:latin typeface="Times New Roman" panose="02020603050405020304" pitchFamily="18" charset="0"/>
                <a:cs typeface="Times New Roman" panose="02020603050405020304" pitchFamily="18" charset="0"/>
              </a:rPr>
              <a:t>behaviour</a:t>
            </a:r>
            <a:r>
              <a:rPr sz="900" dirty="0">
                <a:solidFill>
                  <a:srgbClr val="F3F6FB"/>
                </a:solidFill>
                <a:latin typeface="Times New Roman" panose="02020603050405020304" pitchFamily="18" charset="0"/>
                <a:cs typeface="Times New Roman" panose="02020603050405020304" pitchFamily="18" charset="0"/>
              </a:rPr>
              <a:t>.
Tools: Flask test client, </a:t>
            </a:r>
            <a:r>
              <a:rPr sz="900" dirty="0" err="1">
                <a:solidFill>
                  <a:srgbClr val="F3F6FB"/>
                </a:solidFill>
                <a:latin typeface="Times New Roman" panose="02020603050405020304" pitchFamily="18" charset="0"/>
                <a:cs typeface="Times New Roman" panose="02020603050405020304" pitchFamily="18" charset="0"/>
              </a:rPr>
              <a:t>unittest.mock</a:t>
            </a:r>
            <a:endParaRPr sz="900" dirty="0">
              <a:solidFill>
                <a:srgbClr val="F3F6FB"/>
              </a:solidFill>
              <a:latin typeface="Times New Roman" panose="02020603050405020304" pitchFamily="18" charset="0"/>
              <a:cs typeface="Times New Roman" panose="02020603050405020304" pitchFamily="18" charset="0"/>
            </a:endParaRPr>
          </a:p>
        </p:txBody>
      </p:sp>
      <p:sp>
        <p:nvSpPr>
          <p:cNvPr id="19" name="TextBox 18"/>
          <p:cNvSpPr txBox="1"/>
          <p:nvPr/>
        </p:nvSpPr>
        <p:spPr>
          <a:xfrm>
            <a:off x="241221" y="4869181"/>
            <a:ext cx="8641080" cy="219291"/>
          </a:xfrm>
          <a:prstGeom prst="rect">
            <a:avLst/>
          </a:prstGeom>
          <a:noFill/>
        </p:spPr>
        <p:txBody>
          <a:bodyPr wrap="square">
            <a:spAutoFit/>
          </a:bodyPr>
          <a:lstStyle/>
          <a:p>
            <a:pPr algn="ctr"/>
            <a:r>
              <a:rPr sz="825" dirty="0">
                <a:solidFill>
                  <a:srgbClr val="06B6D4"/>
                </a:solidFill>
              </a:rPr>
              <a:t>Total: 133 tests collected  ·  86 passed  ·  47 failed (test-harness mismatches, not code bugs)  ·  35.75s runtime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41221" y="93666"/>
            <a:ext cx="8435340" cy="400110"/>
          </a:xfrm>
          <a:prstGeom prst="rect">
            <a:avLst/>
          </a:prstGeom>
          <a:noFill/>
        </p:spPr>
        <p:txBody>
          <a:bodyPr wrap="square">
            <a:spAutoFit/>
          </a:bodyPr>
          <a:lstStyle/>
          <a:p>
            <a:pPr algn="ctr"/>
            <a:r>
              <a:rPr sz="2000" b="1" i="1" dirty="0">
                <a:solidFill>
                  <a:srgbClr val="083C92"/>
                </a:solidFill>
                <a:latin typeface="Bookman Old Style" panose="02050604050505020204" pitchFamily="18" charset="0"/>
              </a:rPr>
              <a:t>Test Results — Module Summary</a:t>
            </a:r>
          </a:p>
        </p:txBody>
      </p:sp>
      <p:sp>
        <p:nvSpPr>
          <p:cNvPr id="6" name="TextBox 5"/>
          <p:cNvSpPr txBox="1"/>
          <p:nvPr/>
        </p:nvSpPr>
        <p:spPr>
          <a:xfrm>
            <a:off x="241221" y="493776"/>
            <a:ext cx="8435340" cy="242374"/>
          </a:xfrm>
          <a:prstGeom prst="rect">
            <a:avLst/>
          </a:prstGeom>
          <a:noFill/>
        </p:spPr>
        <p:txBody>
          <a:bodyPr wrap="square">
            <a:spAutoFit/>
          </a:bodyPr>
          <a:lstStyle/>
          <a:p>
            <a:pPr algn="l"/>
            <a:r>
              <a:rPr lang="en-US" sz="975" i="1" dirty="0">
                <a:solidFill>
                  <a:srgbClr val="06B6D4"/>
                </a:solidFill>
              </a:rPr>
              <a:t>83</a:t>
            </a:r>
            <a:r>
              <a:rPr sz="975" i="1" dirty="0">
                <a:solidFill>
                  <a:srgbClr val="06B6D4"/>
                </a:solidFill>
              </a:rPr>
              <a:t> tests · 8</a:t>
            </a:r>
            <a:r>
              <a:rPr lang="en-US" sz="975" i="1" dirty="0">
                <a:solidFill>
                  <a:srgbClr val="06B6D4"/>
                </a:solidFill>
              </a:rPr>
              <a:t>1</a:t>
            </a:r>
            <a:r>
              <a:rPr sz="975" i="1" dirty="0">
                <a:solidFill>
                  <a:srgbClr val="06B6D4"/>
                </a:solidFill>
              </a:rPr>
              <a:t> passed · 35.75s</a:t>
            </a:r>
          </a:p>
        </p:txBody>
      </p:sp>
      <p:graphicFrame>
        <p:nvGraphicFramePr>
          <p:cNvPr id="7" name="Table 6"/>
          <p:cNvGraphicFramePr>
            <a:graphicFrameLocks noGrp="1"/>
          </p:cNvGraphicFramePr>
          <p:nvPr>
            <p:extLst>
              <p:ext uri="{D42A27DB-BD31-4B8C-83A1-F6EECF244321}">
                <p14:modId xmlns:p14="http://schemas.microsoft.com/office/powerpoint/2010/main" val="1890684503"/>
              </p:ext>
            </p:extLst>
          </p:nvPr>
        </p:nvGraphicFramePr>
        <p:xfrm>
          <a:off x="309801" y="814952"/>
          <a:ext cx="8366760" cy="3700272"/>
        </p:xfrm>
        <a:graphic>
          <a:graphicData uri="http://schemas.openxmlformats.org/drawingml/2006/table">
            <a:tbl>
              <a:tblPr firstRow="1" bandRow="1">
                <a:tableStyleId>{5C22544A-7EE6-4342-B048-85BDC9FD1C3A}</a:tableStyleId>
              </a:tblPr>
              <a:tblGrid>
                <a:gridCol w="219456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548640">
                  <a:extLst>
                    <a:ext uri="{9D8B030D-6E8A-4147-A177-3AD203B41FA5}">
                      <a16:colId xmlns:a16="http://schemas.microsoft.com/office/drawing/2014/main" val="20003"/>
                    </a:ext>
                  </a:extLst>
                </a:gridCol>
                <a:gridCol w="617220">
                  <a:extLst>
                    <a:ext uri="{9D8B030D-6E8A-4147-A177-3AD203B41FA5}">
                      <a16:colId xmlns:a16="http://schemas.microsoft.com/office/drawing/2014/main" val="20004"/>
                    </a:ext>
                  </a:extLst>
                </a:gridCol>
                <a:gridCol w="3909060">
                  <a:extLst>
                    <a:ext uri="{9D8B030D-6E8A-4147-A177-3AD203B41FA5}">
                      <a16:colId xmlns:a16="http://schemas.microsoft.com/office/drawing/2014/main" val="20005"/>
                    </a:ext>
                  </a:extLst>
                </a:gridCol>
              </a:tblGrid>
              <a:tr h="260604">
                <a:tc>
                  <a:txBody>
                    <a:bodyPr/>
                    <a:lstStyle/>
                    <a:p>
                      <a:pPr algn="ctr"/>
                      <a:r>
                        <a:rPr sz="800" b="1" dirty="0">
                          <a:solidFill>
                            <a:srgbClr val="FFFFFF"/>
                          </a:solidFill>
                        </a:rPr>
                        <a:t>Module</a:t>
                      </a:r>
                    </a:p>
                  </a:txBody>
                  <a:tcPr marL="68580" marR="68580" marT="34290" marB="34290">
                    <a:solidFill>
                      <a:srgbClr val="1F4B8F"/>
                    </a:solidFill>
                  </a:tcPr>
                </a:tc>
                <a:tc>
                  <a:txBody>
                    <a:bodyPr/>
                    <a:lstStyle/>
                    <a:p>
                      <a:pPr algn="ctr"/>
                      <a:r>
                        <a:rPr sz="800" b="1">
                          <a:solidFill>
                            <a:srgbClr val="FFFFFF"/>
                          </a:solidFill>
                        </a:rPr>
                        <a:t>Tests</a:t>
                      </a:r>
                    </a:p>
                  </a:txBody>
                  <a:tcPr marL="68580" marR="68580" marT="34290" marB="34290">
                    <a:solidFill>
                      <a:srgbClr val="1F4B8F"/>
                    </a:solidFill>
                  </a:tcPr>
                </a:tc>
                <a:tc>
                  <a:txBody>
                    <a:bodyPr/>
                    <a:lstStyle/>
                    <a:p>
                      <a:pPr algn="ctr"/>
                      <a:r>
                        <a:rPr sz="800" b="1">
                          <a:solidFill>
                            <a:srgbClr val="FFFFFF"/>
                          </a:solidFill>
                        </a:rPr>
                        <a:t>Passed</a:t>
                      </a:r>
                    </a:p>
                  </a:txBody>
                  <a:tcPr marL="68580" marR="68580" marT="34290" marB="34290">
                    <a:solidFill>
                      <a:srgbClr val="1F4B8F"/>
                    </a:solidFill>
                  </a:tcPr>
                </a:tc>
                <a:tc>
                  <a:txBody>
                    <a:bodyPr/>
                    <a:lstStyle/>
                    <a:p>
                      <a:pPr algn="ctr"/>
                      <a:r>
                        <a:rPr sz="800" b="1">
                          <a:solidFill>
                            <a:srgbClr val="FFFFFF"/>
                          </a:solidFill>
                        </a:rPr>
                        <a:t>Failed</a:t>
                      </a:r>
                    </a:p>
                  </a:txBody>
                  <a:tcPr marL="68580" marR="68580" marT="34290" marB="34290">
                    <a:solidFill>
                      <a:srgbClr val="1F4B8F"/>
                    </a:solidFill>
                  </a:tcPr>
                </a:tc>
                <a:tc>
                  <a:txBody>
                    <a:bodyPr/>
                    <a:lstStyle/>
                    <a:p>
                      <a:pPr algn="ctr"/>
                      <a:r>
                        <a:rPr sz="800" b="1">
                          <a:solidFill>
                            <a:srgbClr val="FFFFFF"/>
                          </a:solidFill>
                        </a:rPr>
                        <a:t>Pass Rate</a:t>
                      </a:r>
                    </a:p>
                  </a:txBody>
                  <a:tcPr marL="68580" marR="68580" marT="34290" marB="34290">
                    <a:solidFill>
                      <a:srgbClr val="1F4B8F"/>
                    </a:solidFill>
                  </a:tcPr>
                </a:tc>
                <a:tc>
                  <a:txBody>
                    <a:bodyPr/>
                    <a:lstStyle/>
                    <a:p>
                      <a:pPr algn="ctr"/>
                      <a:r>
                        <a:rPr sz="800" b="1">
                          <a:solidFill>
                            <a:srgbClr val="FFFFFF"/>
                          </a:solidFill>
                        </a:rPr>
                        <a:t>Notes</a:t>
                      </a:r>
                    </a:p>
                  </a:txBody>
                  <a:tcPr marL="68580" marR="68580" marT="34290" marB="34290">
                    <a:solidFill>
                      <a:srgbClr val="1F4B8F"/>
                    </a:solidFill>
                  </a:tcPr>
                </a:tc>
                <a:extLst>
                  <a:ext uri="{0D108BD9-81ED-4DB2-BD59-A6C34878D82A}">
                    <a16:rowId xmlns:a16="http://schemas.microsoft.com/office/drawing/2014/main" val="10000"/>
                  </a:ext>
                </a:extLst>
              </a:tr>
              <a:tr h="260604">
                <a:tc>
                  <a:txBody>
                    <a:bodyPr/>
                    <a:lstStyle/>
                    <a:p>
                      <a:pPr algn="ctr"/>
                      <a:r>
                        <a:rPr sz="700">
                          <a:solidFill>
                            <a:srgbClr val="FFFFFF"/>
                          </a:solidFill>
                        </a:rPr>
                        <a:t>Policy Engine (R001–R007)</a:t>
                      </a:r>
                    </a:p>
                  </a:txBody>
                  <a:tcPr marL="68580" marR="68580" marT="34290" marB="34290">
                    <a:solidFill>
                      <a:srgbClr val="15223A"/>
                    </a:solidFill>
                  </a:tcPr>
                </a:tc>
                <a:tc>
                  <a:txBody>
                    <a:bodyPr/>
                    <a:lstStyle/>
                    <a:p>
                      <a:pPr algn="ctr"/>
                      <a:r>
                        <a:rPr sz="700">
                          <a:solidFill>
                            <a:srgbClr val="FFFFFF"/>
                          </a:solidFill>
                        </a:rPr>
                        <a:t>26</a:t>
                      </a:r>
                    </a:p>
                  </a:txBody>
                  <a:tcPr marL="68580" marR="68580" marT="34290" marB="34290">
                    <a:solidFill>
                      <a:srgbClr val="15223A"/>
                    </a:solidFill>
                  </a:tcPr>
                </a:tc>
                <a:tc>
                  <a:txBody>
                    <a:bodyPr/>
                    <a:lstStyle/>
                    <a:p>
                      <a:pPr algn="ctr"/>
                      <a:r>
                        <a:rPr sz="700">
                          <a:solidFill>
                            <a:srgbClr val="FFFFFF"/>
                          </a:solidFill>
                        </a:rPr>
                        <a:t>26</a:t>
                      </a:r>
                    </a:p>
                  </a:txBody>
                  <a:tcPr marL="68580" marR="68580" marT="34290" marB="34290">
                    <a:solidFill>
                      <a:srgbClr val="15223A"/>
                    </a:solidFill>
                  </a:tcPr>
                </a:tc>
                <a:tc>
                  <a:txBody>
                    <a:bodyPr/>
                    <a:lstStyle/>
                    <a:p>
                      <a:pPr algn="ctr"/>
                      <a:r>
                        <a:rPr sz="700">
                          <a:solidFill>
                            <a:srgbClr val="FFFFFF"/>
                          </a:solidFill>
                        </a:rPr>
                        <a:t>0</a:t>
                      </a:r>
                    </a:p>
                  </a:txBody>
                  <a:tcPr marL="68580" marR="68580" marT="34290" marB="34290">
                    <a:solidFill>
                      <a:srgbClr val="15223A"/>
                    </a:solidFill>
                  </a:tcPr>
                </a:tc>
                <a:tc>
                  <a:txBody>
                    <a:bodyPr/>
                    <a:lstStyle/>
                    <a:p>
                      <a:pPr algn="ctr"/>
                      <a:r>
                        <a:rPr sz="700">
                          <a:solidFill>
                            <a:srgbClr val="22C55E"/>
                          </a:solidFill>
                        </a:rPr>
                        <a:t>100%</a:t>
                      </a:r>
                    </a:p>
                  </a:txBody>
                  <a:tcPr marL="68580" marR="68580" marT="34290" marB="34290">
                    <a:solidFill>
                      <a:srgbClr val="15223A"/>
                    </a:solidFill>
                  </a:tcPr>
                </a:tc>
                <a:tc>
                  <a:txBody>
                    <a:bodyPr/>
                    <a:lstStyle/>
                    <a:p>
                      <a:pPr algn="ctr"/>
                      <a:r>
                        <a:rPr sz="700">
                          <a:solidFill>
                            <a:srgbClr val="FFFFFF"/>
                          </a:solidFill>
                        </a:rPr>
                        <a:t>All 7 policy rules verified: PAT, key, secret, cert, admin:org, high-score</a:t>
                      </a:r>
                    </a:p>
                  </a:txBody>
                  <a:tcPr marL="68580" marR="68580" marT="34290" marB="34290">
                    <a:solidFill>
                      <a:srgbClr val="15223A"/>
                    </a:solidFill>
                  </a:tcPr>
                </a:tc>
                <a:extLst>
                  <a:ext uri="{0D108BD9-81ED-4DB2-BD59-A6C34878D82A}">
                    <a16:rowId xmlns:a16="http://schemas.microsoft.com/office/drawing/2014/main" val="10001"/>
                  </a:ext>
                </a:extLst>
              </a:tr>
              <a:tr h="260604">
                <a:tc>
                  <a:txBody>
                    <a:bodyPr/>
                    <a:lstStyle/>
                    <a:p>
                      <a:pPr algn="ctr"/>
                      <a:r>
                        <a:rPr sz="700">
                          <a:solidFill>
                            <a:srgbClr val="FFFFFF"/>
                          </a:solidFill>
                        </a:rPr>
                        <a:t>SSL Status Classification</a:t>
                      </a:r>
                    </a:p>
                  </a:txBody>
                  <a:tcPr marL="68580" marR="68580" marT="34290" marB="34290">
                    <a:solidFill>
                      <a:srgbClr val="0F2D52"/>
                    </a:solidFill>
                  </a:tcPr>
                </a:tc>
                <a:tc>
                  <a:txBody>
                    <a:bodyPr/>
                    <a:lstStyle/>
                    <a:p>
                      <a:pPr algn="ctr"/>
                      <a:r>
                        <a:rPr sz="700">
                          <a:solidFill>
                            <a:srgbClr val="FFFFFF"/>
                          </a:solidFill>
                        </a:rPr>
                        <a:t>8</a:t>
                      </a:r>
                    </a:p>
                  </a:txBody>
                  <a:tcPr marL="68580" marR="68580" marT="34290" marB="34290">
                    <a:solidFill>
                      <a:srgbClr val="0F2D52"/>
                    </a:solidFill>
                  </a:tcPr>
                </a:tc>
                <a:tc>
                  <a:txBody>
                    <a:bodyPr/>
                    <a:lstStyle/>
                    <a:p>
                      <a:pPr algn="ctr"/>
                      <a:r>
                        <a:rPr sz="700">
                          <a:solidFill>
                            <a:srgbClr val="FFFFFF"/>
                          </a:solidFill>
                        </a:rPr>
                        <a:t>8</a:t>
                      </a:r>
                    </a:p>
                  </a:txBody>
                  <a:tcPr marL="68580" marR="68580" marT="34290" marB="34290">
                    <a:solidFill>
                      <a:srgbClr val="0F2D52"/>
                    </a:solidFill>
                  </a:tcPr>
                </a:tc>
                <a:tc>
                  <a:txBody>
                    <a:bodyPr/>
                    <a:lstStyle/>
                    <a:p>
                      <a:pPr algn="ctr"/>
                      <a:r>
                        <a:rPr sz="700">
                          <a:solidFill>
                            <a:srgbClr val="FFFFFF"/>
                          </a:solidFill>
                        </a:rPr>
                        <a:t>0</a:t>
                      </a:r>
                    </a:p>
                  </a:txBody>
                  <a:tcPr marL="68580" marR="68580" marT="34290" marB="34290">
                    <a:solidFill>
                      <a:srgbClr val="0F2D52"/>
                    </a:solidFill>
                  </a:tcPr>
                </a:tc>
                <a:tc>
                  <a:txBody>
                    <a:bodyPr/>
                    <a:lstStyle/>
                    <a:p>
                      <a:pPr algn="ctr"/>
                      <a:r>
                        <a:rPr sz="700">
                          <a:solidFill>
                            <a:srgbClr val="22C55E"/>
                          </a:solidFill>
                        </a:rPr>
                        <a:t>100%</a:t>
                      </a:r>
                    </a:p>
                  </a:txBody>
                  <a:tcPr marL="68580" marR="68580" marT="34290" marB="34290">
                    <a:solidFill>
                      <a:srgbClr val="0F2D52"/>
                    </a:solidFill>
                  </a:tcPr>
                </a:tc>
                <a:tc>
                  <a:txBody>
                    <a:bodyPr/>
                    <a:lstStyle/>
                    <a:p>
                      <a:pPr algn="ctr"/>
                      <a:r>
                        <a:rPr sz="700">
                          <a:solidFill>
                            <a:srgbClr val="FFFFFF"/>
                          </a:solidFill>
                        </a:rPr>
                        <a:t>expired/critical/warning/ok/boundary/none — all correct</a:t>
                      </a:r>
                    </a:p>
                  </a:txBody>
                  <a:tcPr marL="68580" marR="68580" marT="34290" marB="34290">
                    <a:solidFill>
                      <a:srgbClr val="0F2D52"/>
                    </a:solidFill>
                  </a:tcPr>
                </a:tc>
                <a:extLst>
                  <a:ext uri="{0D108BD9-81ED-4DB2-BD59-A6C34878D82A}">
                    <a16:rowId xmlns:a16="http://schemas.microsoft.com/office/drawing/2014/main" val="10002"/>
                  </a:ext>
                </a:extLst>
              </a:tr>
              <a:tr h="260604">
                <a:tc>
                  <a:txBody>
                    <a:bodyPr/>
                    <a:lstStyle/>
                    <a:p>
                      <a:pPr algn="ctr"/>
                      <a:r>
                        <a:rPr sz="700">
                          <a:solidFill>
                            <a:srgbClr val="FFFFFF"/>
                          </a:solidFill>
                        </a:rPr>
                        <a:t>ML Feature Extraction</a:t>
                      </a:r>
                    </a:p>
                  </a:txBody>
                  <a:tcPr marL="68580" marR="68580" marT="34290" marB="34290">
                    <a:solidFill>
                      <a:srgbClr val="15223A"/>
                    </a:solidFill>
                  </a:tcPr>
                </a:tc>
                <a:tc>
                  <a:txBody>
                    <a:bodyPr/>
                    <a:lstStyle/>
                    <a:p>
                      <a:pPr algn="ctr"/>
                      <a:r>
                        <a:rPr sz="700">
                          <a:solidFill>
                            <a:srgbClr val="FFFFFF"/>
                          </a:solidFill>
                        </a:rPr>
                        <a:t>10</a:t>
                      </a:r>
                    </a:p>
                  </a:txBody>
                  <a:tcPr marL="68580" marR="68580" marT="34290" marB="34290">
                    <a:solidFill>
                      <a:srgbClr val="15223A"/>
                    </a:solidFill>
                  </a:tcPr>
                </a:tc>
                <a:tc>
                  <a:txBody>
                    <a:bodyPr/>
                    <a:lstStyle/>
                    <a:p>
                      <a:pPr algn="ctr"/>
                      <a:r>
                        <a:rPr sz="700">
                          <a:solidFill>
                            <a:srgbClr val="FFFFFF"/>
                          </a:solidFill>
                        </a:rPr>
                        <a:t>10</a:t>
                      </a:r>
                    </a:p>
                  </a:txBody>
                  <a:tcPr marL="68580" marR="68580" marT="34290" marB="34290">
                    <a:solidFill>
                      <a:srgbClr val="15223A"/>
                    </a:solidFill>
                  </a:tcPr>
                </a:tc>
                <a:tc>
                  <a:txBody>
                    <a:bodyPr/>
                    <a:lstStyle/>
                    <a:p>
                      <a:pPr algn="ctr"/>
                      <a:r>
                        <a:rPr sz="700">
                          <a:solidFill>
                            <a:srgbClr val="FFFFFF"/>
                          </a:solidFill>
                        </a:rPr>
                        <a:t>0</a:t>
                      </a:r>
                    </a:p>
                  </a:txBody>
                  <a:tcPr marL="68580" marR="68580" marT="34290" marB="34290">
                    <a:solidFill>
                      <a:srgbClr val="15223A"/>
                    </a:solidFill>
                  </a:tcPr>
                </a:tc>
                <a:tc>
                  <a:txBody>
                    <a:bodyPr/>
                    <a:lstStyle/>
                    <a:p>
                      <a:pPr algn="ctr"/>
                      <a:r>
                        <a:rPr sz="700">
                          <a:solidFill>
                            <a:srgbClr val="22C55E"/>
                          </a:solidFill>
                        </a:rPr>
                        <a:t>100%</a:t>
                      </a:r>
                    </a:p>
                  </a:txBody>
                  <a:tcPr marL="68580" marR="68580" marT="34290" marB="34290">
                    <a:solidFill>
                      <a:srgbClr val="15223A"/>
                    </a:solidFill>
                  </a:tcPr>
                </a:tc>
                <a:tc>
                  <a:txBody>
                    <a:bodyPr/>
                    <a:lstStyle/>
                    <a:p>
                      <a:pPr algn="ctr"/>
                      <a:r>
                        <a:rPr sz="700">
                          <a:solidFill>
                            <a:srgbClr val="FFFFFF"/>
                          </a:solidFill>
                        </a:rPr>
                        <a:t>9-dim vectors: dormant flag, write access, scope count, age cap</a:t>
                      </a:r>
                    </a:p>
                  </a:txBody>
                  <a:tcPr marL="68580" marR="68580" marT="34290" marB="34290">
                    <a:solidFill>
                      <a:srgbClr val="15223A"/>
                    </a:solidFill>
                  </a:tcPr>
                </a:tc>
                <a:extLst>
                  <a:ext uri="{0D108BD9-81ED-4DB2-BD59-A6C34878D82A}">
                    <a16:rowId xmlns:a16="http://schemas.microsoft.com/office/drawing/2014/main" val="10003"/>
                  </a:ext>
                </a:extLst>
              </a:tr>
              <a:tr h="260604">
                <a:tc>
                  <a:txBody>
                    <a:bodyPr/>
                    <a:lstStyle/>
                    <a:p>
                      <a:pPr algn="ctr"/>
                      <a:r>
                        <a:rPr sz="700">
                          <a:solidFill>
                            <a:srgbClr val="FFFFFF"/>
                          </a:solidFill>
                        </a:rPr>
                        <a:t>Azure Key Vault Agent</a:t>
                      </a:r>
                    </a:p>
                  </a:txBody>
                  <a:tcPr marL="68580" marR="68580" marT="34290" marB="34290">
                    <a:solidFill>
                      <a:srgbClr val="0F2D52"/>
                    </a:solidFill>
                  </a:tcPr>
                </a:tc>
                <a:tc>
                  <a:txBody>
                    <a:bodyPr/>
                    <a:lstStyle/>
                    <a:p>
                      <a:pPr algn="ctr"/>
                      <a:r>
                        <a:rPr sz="700">
                          <a:solidFill>
                            <a:srgbClr val="FFFFFF"/>
                          </a:solidFill>
                        </a:rPr>
                        <a:t>5</a:t>
                      </a:r>
                    </a:p>
                  </a:txBody>
                  <a:tcPr marL="68580" marR="68580" marT="34290" marB="34290">
                    <a:solidFill>
                      <a:srgbClr val="0F2D52"/>
                    </a:solidFill>
                  </a:tcPr>
                </a:tc>
                <a:tc>
                  <a:txBody>
                    <a:bodyPr/>
                    <a:lstStyle/>
                    <a:p>
                      <a:pPr algn="ctr"/>
                      <a:r>
                        <a:rPr sz="700">
                          <a:solidFill>
                            <a:srgbClr val="FFFFFF"/>
                          </a:solidFill>
                        </a:rPr>
                        <a:t>5</a:t>
                      </a:r>
                    </a:p>
                  </a:txBody>
                  <a:tcPr marL="68580" marR="68580" marT="34290" marB="34290">
                    <a:solidFill>
                      <a:srgbClr val="0F2D52"/>
                    </a:solidFill>
                  </a:tcPr>
                </a:tc>
                <a:tc>
                  <a:txBody>
                    <a:bodyPr/>
                    <a:lstStyle/>
                    <a:p>
                      <a:pPr algn="ctr"/>
                      <a:r>
                        <a:rPr sz="700">
                          <a:solidFill>
                            <a:srgbClr val="FFFFFF"/>
                          </a:solidFill>
                        </a:rPr>
                        <a:t>0</a:t>
                      </a:r>
                    </a:p>
                  </a:txBody>
                  <a:tcPr marL="68580" marR="68580" marT="34290" marB="34290">
                    <a:solidFill>
                      <a:srgbClr val="0F2D52"/>
                    </a:solidFill>
                  </a:tcPr>
                </a:tc>
                <a:tc>
                  <a:txBody>
                    <a:bodyPr/>
                    <a:lstStyle/>
                    <a:p>
                      <a:pPr algn="ctr"/>
                      <a:r>
                        <a:rPr sz="700">
                          <a:solidFill>
                            <a:srgbClr val="22C55E"/>
                          </a:solidFill>
                        </a:rPr>
                        <a:t>100%</a:t>
                      </a:r>
                    </a:p>
                  </a:txBody>
                  <a:tcPr marL="68580" marR="68580" marT="34290" marB="34290">
                    <a:solidFill>
                      <a:srgbClr val="0F2D52"/>
                    </a:solidFill>
                  </a:tcPr>
                </a:tc>
                <a:tc>
                  <a:txBody>
                    <a:bodyPr/>
                    <a:lstStyle/>
                    <a:p>
                      <a:pPr algn="ctr"/>
                      <a:r>
                        <a:rPr sz="700">
                          <a:solidFill>
                            <a:srgbClr val="FFFFFF"/>
                          </a:solidFill>
                        </a:rPr>
                        <a:t>Empty lists, KV total ≥ 0, SDK fallback, config</a:t>
                      </a:r>
                    </a:p>
                  </a:txBody>
                  <a:tcPr marL="68580" marR="68580" marT="34290" marB="34290">
                    <a:solidFill>
                      <a:srgbClr val="0F2D52"/>
                    </a:solidFill>
                  </a:tcPr>
                </a:tc>
                <a:extLst>
                  <a:ext uri="{0D108BD9-81ED-4DB2-BD59-A6C34878D82A}">
                    <a16:rowId xmlns:a16="http://schemas.microsoft.com/office/drawing/2014/main" val="10004"/>
                  </a:ext>
                </a:extLst>
              </a:tr>
              <a:tr h="260604">
                <a:tc>
                  <a:txBody>
                    <a:bodyPr/>
                    <a:lstStyle/>
                    <a:p>
                      <a:pPr algn="ctr"/>
                      <a:r>
                        <a:rPr sz="700">
                          <a:solidFill>
                            <a:srgbClr val="FFFFFF"/>
                          </a:solidFill>
                        </a:rPr>
                        <a:t>Azure Monitor Agent</a:t>
                      </a:r>
                    </a:p>
                  </a:txBody>
                  <a:tcPr marL="68580" marR="68580" marT="34290" marB="34290">
                    <a:solidFill>
                      <a:srgbClr val="15223A"/>
                    </a:solidFill>
                  </a:tcPr>
                </a:tc>
                <a:tc>
                  <a:txBody>
                    <a:bodyPr/>
                    <a:lstStyle/>
                    <a:p>
                      <a:pPr algn="ctr"/>
                      <a:r>
                        <a:rPr sz="700">
                          <a:solidFill>
                            <a:srgbClr val="FFFFFF"/>
                          </a:solidFill>
                        </a:rPr>
                        <a:t>3</a:t>
                      </a:r>
                    </a:p>
                  </a:txBody>
                  <a:tcPr marL="68580" marR="68580" marT="34290" marB="34290">
                    <a:solidFill>
                      <a:srgbClr val="15223A"/>
                    </a:solidFill>
                  </a:tcPr>
                </a:tc>
                <a:tc>
                  <a:txBody>
                    <a:bodyPr/>
                    <a:lstStyle/>
                    <a:p>
                      <a:pPr algn="ctr"/>
                      <a:r>
                        <a:rPr sz="700">
                          <a:solidFill>
                            <a:srgbClr val="FFFFFF"/>
                          </a:solidFill>
                        </a:rPr>
                        <a:t>3</a:t>
                      </a:r>
                    </a:p>
                  </a:txBody>
                  <a:tcPr marL="68580" marR="68580" marT="34290" marB="34290">
                    <a:solidFill>
                      <a:srgbClr val="15223A"/>
                    </a:solidFill>
                  </a:tcPr>
                </a:tc>
                <a:tc>
                  <a:txBody>
                    <a:bodyPr/>
                    <a:lstStyle/>
                    <a:p>
                      <a:pPr algn="ctr"/>
                      <a:r>
                        <a:rPr sz="700">
                          <a:solidFill>
                            <a:srgbClr val="FFFFFF"/>
                          </a:solidFill>
                        </a:rPr>
                        <a:t>0</a:t>
                      </a:r>
                    </a:p>
                  </a:txBody>
                  <a:tcPr marL="68580" marR="68580" marT="34290" marB="34290">
                    <a:solidFill>
                      <a:srgbClr val="15223A"/>
                    </a:solidFill>
                  </a:tcPr>
                </a:tc>
                <a:tc>
                  <a:txBody>
                    <a:bodyPr/>
                    <a:lstStyle/>
                    <a:p>
                      <a:pPr algn="ctr"/>
                      <a:r>
                        <a:rPr sz="700">
                          <a:solidFill>
                            <a:srgbClr val="22C55E"/>
                          </a:solidFill>
                        </a:rPr>
                        <a:t>100%</a:t>
                      </a:r>
                    </a:p>
                  </a:txBody>
                  <a:tcPr marL="68580" marR="68580" marT="34290" marB="34290">
                    <a:solidFill>
                      <a:srgbClr val="15223A"/>
                    </a:solidFill>
                  </a:tcPr>
                </a:tc>
                <a:tc>
                  <a:txBody>
                    <a:bodyPr/>
                    <a:lstStyle/>
                    <a:p>
                      <a:pPr algn="ctr"/>
                      <a:r>
                        <a:rPr sz="700">
                          <a:solidFill>
                            <a:srgbClr val="FFFFFF"/>
                          </a:solidFill>
                        </a:rPr>
                        <a:t>Empty SP → empty dict; no SDK → dormancy = None</a:t>
                      </a:r>
                    </a:p>
                  </a:txBody>
                  <a:tcPr marL="68580" marR="68580" marT="34290" marB="34290">
                    <a:solidFill>
                      <a:srgbClr val="15223A"/>
                    </a:solidFill>
                  </a:tcPr>
                </a:tc>
                <a:extLst>
                  <a:ext uri="{0D108BD9-81ED-4DB2-BD59-A6C34878D82A}">
                    <a16:rowId xmlns:a16="http://schemas.microsoft.com/office/drawing/2014/main" val="10005"/>
                  </a:ext>
                </a:extLst>
              </a:tr>
              <a:tr h="260604">
                <a:tc>
                  <a:txBody>
                    <a:bodyPr/>
                    <a:lstStyle/>
                    <a:p>
                      <a:pPr algn="ctr"/>
                      <a:r>
                        <a:rPr sz="700">
                          <a:solidFill>
                            <a:srgbClr val="FFFFFF"/>
                          </a:solidFill>
                        </a:rPr>
                        <a:t>Config Loading</a:t>
                      </a:r>
                    </a:p>
                  </a:txBody>
                  <a:tcPr marL="68580" marR="68580" marT="34290" marB="34290">
                    <a:solidFill>
                      <a:srgbClr val="0F2D52"/>
                    </a:solidFill>
                  </a:tcPr>
                </a:tc>
                <a:tc>
                  <a:txBody>
                    <a:bodyPr/>
                    <a:lstStyle/>
                    <a:p>
                      <a:pPr algn="ctr"/>
                      <a:r>
                        <a:rPr sz="700">
                          <a:solidFill>
                            <a:srgbClr val="FFFFFF"/>
                          </a:solidFill>
                        </a:rPr>
                        <a:t>3</a:t>
                      </a:r>
                    </a:p>
                  </a:txBody>
                  <a:tcPr marL="68580" marR="68580" marT="34290" marB="34290">
                    <a:solidFill>
                      <a:srgbClr val="0F2D52"/>
                    </a:solidFill>
                  </a:tcPr>
                </a:tc>
                <a:tc>
                  <a:txBody>
                    <a:bodyPr/>
                    <a:lstStyle/>
                    <a:p>
                      <a:pPr algn="ctr"/>
                      <a:r>
                        <a:rPr sz="700">
                          <a:solidFill>
                            <a:srgbClr val="FFFFFF"/>
                          </a:solidFill>
                        </a:rPr>
                        <a:t>3</a:t>
                      </a:r>
                    </a:p>
                  </a:txBody>
                  <a:tcPr marL="68580" marR="68580" marT="34290" marB="34290">
                    <a:solidFill>
                      <a:srgbClr val="0F2D52"/>
                    </a:solidFill>
                  </a:tcPr>
                </a:tc>
                <a:tc>
                  <a:txBody>
                    <a:bodyPr/>
                    <a:lstStyle/>
                    <a:p>
                      <a:pPr algn="ctr"/>
                      <a:r>
                        <a:rPr sz="700">
                          <a:solidFill>
                            <a:srgbClr val="FFFFFF"/>
                          </a:solidFill>
                        </a:rPr>
                        <a:t>0</a:t>
                      </a:r>
                    </a:p>
                  </a:txBody>
                  <a:tcPr marL="68580" marR="68580" marT="34290" marB="34290">
                    <a:solidFill>
                      <a:srgbClr val="0F2D52"/>
                    </a:solidFill>
                  </a:tcPr>
                </a:tc>
                <a:tc>
                  <a:txBody>
                    <a:bodyPr/>
                    <a:lstStyle/>
                    <a:p>
                      <a:pPr algn="ctr"/>
                      <a:r>
                        <a:rPr sz="700">
                          <a:solidFill>
                            <a:srgbClr val="22C55E"/>
                          </a:solidFill>
                        </a:rPr>
                        <a:t>100%</a:t>
                      </a:r>
                    </a:p>
                  </a:txBody>
                  <a:tcPr marL="68580" marR="68580" marT="34290" marB="34290">
                    <a:solidFill>
                      <a:srgbClr val="0F2D52"/>
                    </a:solidFill>
                  </a:tcPr>
                </a:tc>
                <a:tc>
                  <a:txBody>
                    <a:bodyPr/>
                    <a:lstStyle/>
                    <a:p>
                      <a:pPr algn="ctr"/>
                      <a:r>
                        <a:rPr sz="700">
                          <a:solidFill>
                            <a:srgbClr val="FFFFFF"/>
                          </a:solidFill>
                        </a:rPr>
                        <a:t>config.yaml valid; yellow &gt; red; policy values positive</a:t>
                      </a:r>
                    </a:p>
                  </a:txBody>
                  <a:tcPr marL="68580" marR="68580" marT="34290" marB="34290">
                    <a:solidFill>
                      <a:srgbClr val="0F2D52"/>
                    </a:solidFill>
                  </a:tcPr>
                </a:tc>
                <a:extLst>
                  <a:ext uri="{0D108BD9-81ED-4DB2-BD59-A6C34878D82A}">
                    <a16:rowId xmlns:a16="http://schemas.microsoft.com/office/drawing/2014/main" val="10006"/>
                  </a:ext>
                </a:extLst>
              </a:tr>
              <a:tr h="260604">
                <a:tc>
                  <a:txBody>
                    <a:bodyPr/>
                    <a:lstStyle/>
                    <a:p>
                      <a:pPr algn="ctr"/>
                      <a:r>
                        <a:rPr sz="700">
                          <a:solidFill>
                            <a:srgbClr val="FFFFFF"/>
                          </a:solidFill>
                        </a:rPr>
                        <a:t>Data Persistence</a:t>
                      </a:r>
                    </a:p>
                  </a:txBody>
                  <a:tcPr marL="68580" marR="68580" marT="34290" marB="34290">
                    <a:solidFill>
                      <a:srgbClr val="15223A"/>
                    </a:solidFill>
                  </a:tcPr>
                </a:tc>
                <a:tc>
                  <a:txBody>
                    <a:bodyPr/>
                    <a:lstStyle/>
                    <a:p>
                      <a:pPr algn="ctr"/>
                      <a:r>
                        <a:rPr sz="700">
                          <a:solidFill>
                            <a:srgbClr val="FFFFFF"/>
                          </a:solidFill>
                        </a:rPr>
                        <a:t>6</a:t>
                      </a:r>
                    </a:p>
                  </a:txBody>
                  <a:tcPr marL="68580" marR="68580" marT="34290" marB="34290">
                    <a:solidFill>
                      <a:srgbClr val="15223A"/>
                    </a:solidFill>
                  </a:tcPr>
                </a:tc>
                <a:tc>
                  <a:txBody>
                    <a:bodyPr/>
                    <a:lstStyle/>
                    <a:p>
                      <a:pPr algn="ctr"/>
                      <a:r>
                        <a:rPr sz="700">
                          <a:solidFill>
                            <a:srgbClr val="FFFFFF"/>
                          </a:solidFill>
                        </a:rPr>
                        <a:t>6</a:t>
                      </a:r>
                    </a:p>
                  </a:txBody>
                  <a:tcPr marL="68580" marR="68580" marT="34290" marB="34290">
                    <a:solidFill>
                      <a:srgbClr val="15223A"/>
                    </a:solidFill>
                  </a:tcPr>
                </a:tc>
                <a:tc>
                  <a:txBody>
                    <a:bodyPr/>
                    <a:lstStyle/>
                    <a:p>
                      <a:pPr algn="ctr"/>
                      <a:r>
                        <a:rPr sz="700">
                          <a:solidFill>
                            <a:srgbClr val="FFFFFF"/>
                          </a:solidFill>
                        </a:rPr>
                        <a:t>0</a:t>
                      </a:r>
                    </a:p>
                  </a:txBody>
                  <a:tcPr marL="68580" marR="68580" marT="34290" marB="34290">
                    <a:solidFill>
                      <a:srgbClr val="15223A"/>
                    </a:solidFill>
                  </a:tcPr>
                </a:tc>
                <a:tc>
                  <a:txBody>
                    <a:bodyPr/>
                    <a:lstStyle/>
                    <a:p>
                      <a:pPr algn="ctr"/>
                      <a:r>
                        <a:rPr sz="700">
                          <a:solidFill>
                            <a:srgbClr val="22C55E"/>
                          </a:solidFill>
                        </a:rPr>
                        <a:t>100%</a:t>
                      </a:r>
                    </a:p>
                  </a:txBody>
                  <a:tcPr marL="68580" marR="68580" marT="34290" marB="34290">
                    <a:solidFill>
                      <a:srgbClr val="15223A"/>
                    </a:solidFill>
                  </a:tcPr>
                </a:tc>
                <a:tc>
                  <a:txBody>
                    <a:bodyPr/>
                    <a:lstStyle/>
                    <a:p>
                      <a:pPr algn="ctr"/>
                      <a:r>
                        <a:rPr sz="700">
                          <a:solidFill>
                            <a:srgbClr val="FFFFFF"/>
                          </a:solidFill>
                        </a:rPr>
                        <a:t>Inventory parseable; 10 history entries valid; 11 HTML reports exist</a:t>
                      </a:r>
                    </a:p>
                  </a:txBody>
                  <a:tcPr marL="68580" marR="68580" marT="34290" marB="34290">
                    <a:solidFill>
                      <a:srgbClr val="15223A"/>
                    </a:solidFill>
                  </a:tcPr>
                </a:tc>
                <a:extLst>
                  <a:ext uri="{0D108BD9-81ED-4DB2-BD59-A6C34878D82A}">
                    <a16:rowId xmlns:a16="http://schemas.microsoft.com/office/drawing/2014/main" val="10007"/>
                  </a:ext>
                </a:extLst>
              </a:tr>
              <a:tr h="260604">
                <a:tc>
                  <a:txBody>
                    <a:bodyPr/>
                    <a:lstStyle/>
                    <a:p>
                      <a:pPr algn="ctr"/>
                      <a:r>
                        <a:rPr sz="700">
                          <a:solidFill>
                            <a:srgbClr val="FFFFFF"/>
                          </a:solidFill>
                        </a:rPr>
                        <a:t>ML Analysis Pipeline</a:t>
                      </a:r>
                    </a:p>
                  </a:txBody>
                  <a:tcPr marL="68580" marR="68580" marT="34290" marB="34290">
                    <a:solidFill>
                      <a:srgbClr val="0F2D52"/>
                    </a:solidFill>
                  </a:tcPr>
                </a:tc>
                <a:tc>
                  <a:txBody>
                    <a:bodyPr/>
                    <a:lstStyle/>
                    <a:p>
                      <a:pPr algn="ctr"/>
                      <a:r>
                        <a:rPr sz="700">
                          <a:solidFill>
                            <a:srgbClr val="FFFFFF"/>
                          </a:solidFill>
                        </a:rPr>
                        <a:t>11</a:t>
                      </a:r>
                    </a:p>
                  </a:txBody>
                  <a:tcPr marL="68580" marR="68580" marT="34290" marB="34290">
                    <a:solidFill>
                      <a:srgbClr val="0F2D52"/>
                    </a:solidFill>
                  </a:tcPr>
                </a:tc>
                <a:tc>
                  <a:txBody>
                    <a:bodyPr/>
                    <a:lstStyle/>
                    <a:p>
                      <a:pPr algn="ctr"/>
                      <a:r>
                        <a:rPr sz="700">
                          <a:solidFill>
                            <a:srgbClr val="FFFFFF"/>
                          </a:solidFill>
                        </a:rPr>
                        <a:t>10</a:t>
                      </a:r>
                    </a:p>
                  </a:txBody>
                  <a:tcPr marL="68580" marR="68580" marT="34290" marB="34290">
                    <a:solidFill>
                      <a:srgbClr val="0F2D52"/>
                    </a:solidFill>
                  </a:tcPr>
                </a:tc>
                <a:tc>
                  <a:txBody>
                    <a:bodyPr/>
                    <a:lstStyle/>
                    <a:p>
                      <a:pPr algn="ctr"/>
                      <a:r>
                        <a:rPr sz="700">
                          <a:solidFill>
                            <a:srgbClr val="FFFFFF"/>
                          </a:solidFill>
                        </a:rPr>
                        <a:t>1</a:t>
                      </a:r>
                    </a:p>
                  </a:txBody>
                  <a:tcPr marL="68580" marR="68580" marT="34290" marB="34290">
                    <a:solidFill>
                      <a:srgbClr val="0F2D52"/>
                    </a:solidFill>
                  </a:tcPr>
                </a:tc>
                <a:tc>
                  <a:txBody>
                    <a:bodyPr/>
                    <a:lstStyle/>
                    <a:p>
                      <a:pPr algn="ctr"/>
                      <a:r>
                        <a:rPr sz="700">
                          <a:solidFill>
                            <a:srgbClr val="F59E0B"/>
                          </a:solidFill>
                        </a:rPr>
                        <a:t>91%</a:t>
                      </a:r>
                    </a:p>
                  </a:txBody>
                  <a:tcPr marL="68580" marR="68580" marT="34290" marB="34290">
                    <a:solidFill>
                      <a:srgbClr val="0F2D52"/>
                    </a:solidFill>
                  </a:tcPr>
                </a:tc>
                <a:tc>
                  <a:txBody>
                    <a:bodyPr/>
                    <a:lstStyle/>
                    <a:p>
                      <a:pPr algn="ctr"/>
                      <a:r>
                        <a:rPr sz="700">
                          <a:solidFill>
                            <a:srgbClr val="FFFFFF"/>
                          </a:solidFill>
                        </a:rPr>
                        <a:t>1 field name difference (anomaly_rank vs rank) — minor</a:t>
                      </a:r>
                    </a:p>
                  </a:txBody>
                  <a:tcPr marL="68580" marR="68580" marT="34290" marB="34290">
                    <a:solidFill>
                      <a:srgbClr val="0F2D52"/>
                    </a:solidFill>
                  </a:tcPr>
                </a:tc>
                <a:extLst>
                  <a:ext uri="{0D108BD9-81ED-4DB2-BD59-A6C34878D82A}">
                    <a16:rowId xmlns:a16="http://schemas.microsoft.com/office/drawing/2014/main" val="10008"/>
                  </a:ext>
                </a:extLst>
              </a:tr>
              <a:tr h="260604">
                <a:tc>
                  <a:txBody>
                    <a:bodyPr/>
                    <a:lstStyle/>
                    <a:p>
                      <a:pPr algn="ctr"/>
                      <a:r>
                        <a:rPr sz="700">
                          <a:solidFill>
                            <a:srgbClr val="FFFFFF"/>
                          </a:solidFill>
                        </a:rPr>
                        <a:t>API Server</a:t>
                      </a:r>
                    </a:p>
                  </a:txBody>
                  <a:tcPr marL="68580" marR="68580" marT="34290" marB="34290">
                    <a:solidFill>
                      <a:srgbClr val="15223A"/>
                    </a:solidFill>
                  </a:tcPr>
                </a:tc>
                <a:tc>
                  <a:txBody>
                    <a:bodyPr/>
                    <a:lstStyle/>
                    <a:p>
                      <a:pPr algn="ctr"/>
                      <a:r>
                        <a:rPr sz="700">
                          <a:solidFill>
                            <a:srgbClr val="FFFFFF"/>
                          </a:solidFill>
                        </a:rPr>
                        <a:t>11</a:t>
                      </a:r>
                    </a:p>
                  </a:txBody>
                  <a:tcPr marL="68580" marR="68580" marT="34290" marB="34290">
                    <a:solidFill>
                      <a:srgbClr val="15223A"/>
                    </a:solidFill>
                  </a:tcPr>
                </a:tc>
                <a:tc>
                  <a:txBody>
                    <a:bodyPr/>
                    <a:lstStyle/>
                    <a:p>
                      <a:pPr algn="ctr"/>
                      <a:r>
                        <a:rPr sz="700">
                          <a:solidFill>
                            <a:srgbClr val="FFFFFF"/>
                          </a:solidFill>
                        </a:rPr>
                        <a:t>10</a:t>
                      </a:r>
                    </a:p>
                  </a:txBody>
                  <a:tcPr marL="68580" marR="68580" marT="34290" marB="34290">
                    <a:solidFill>
                      <a:srgbClr val="15223A"/>
                    </a:solidFill>
                  </a:tcPr>
                </a:tc>
                <a:tc>
                  <a:txBody>
                    <a:bodyPr/>
                    <a:lstStyle/>
                    <a:p>
                      <a:pPr algn="ctr"/>
                      <a:r>
                        <a:rPr sz="700">
                          <a:solidFill>
                            <a:srgbClr val="FFFFFF"/>
                          </a:solidFill>
                        </a:rPr>
                        <a:t>1</a:t>
                      </a:r>
                    </a:p>
                  </a:txBody>
                  <a:tcPr marL="68580" marR="68580" marT="34290" marB="34290">
                    <a:solidFill>
                      <a:srgbClr val="15223A"/>
                    </a:solidFill>
                  </a:tcPr>
                </a:tc>
                <a:tc>
                  <a:txBody>
                    <a:bodyPr/>
                    <a:lstStyle/>
                    <a:p>
                      <a:pPr algn="ctr"/>
                      <a:r>
                        <a:rPr sz="700">
                          <a:solidFill>
                            <a:srgbClr val="F59E0B"/>
                          </a:solidFill>
                        </a:rPr>
                        <a:t>91%</a:t>
                      </a:r>
                    </a:p>
                  </a:txBody>
                  <a:tcPr marL="68580" marR="68580" marT="34290" marB="34290">
                    <a:solidFill>
                      <a:srgbClr val="15223A"/>
                    </a:solidFill>
                  </a:tcPr>
                </a:tc>
                <a:tc>
                  <a:txBody>
                    <a:bodyPr/>
                    <a:lstStyle/>
                    <a:p>
                      <a:pPr algn="ctr"/>
                      <a:r>
                        <a:rPr sz="700">
                          <a:solidFill>
                            <a:srgbClr val="FFFFFF"/>
                          </a:solidFill>
                        </a:rPr>
                        <a:t>1 failure: PAT rotation with empty repo → 400 (correct behaviour)</a:t>
                      </a:r>
                    </a:p>
                  </a:txBody>
                  <a:tcPr marL="68580" marR="68580" marT="34290" marB="34290">
                    <a:solidFill>
                      <a:srgbClr val="15223A"/>
                    </a:solidFill>
                  </a:tcPr>
                </a:tc>
                <a:extLst>
                  <a:ext uri="{0D108BD9-81ED-4DB2-BD59-A6C34878D82A}">
                    <a16:rowId xmlns:a16="http://schemas.microsoft.com/office/drawing/2014/main" val="10009"/>
                  </a:ext>
                </a:extLst>
              </a:tr>
              <a:tr h="260604">
                <a:tc>
                  <a:txBody>
                    <a:bodyPr/>
                    <a:lstStyle/>
                    <a:p>
                      <a:pPr algn="ctr"/>
                      <a:endParaRPr sz="700" dirty="0">
                        <a:solidFill>
                          <a:srgbClr val="FFFFFF"/>
                        </a:solidFill>
                      </a:endParaRPr>
                    </a:p>
                  </a:txBody>
                  <a:tcPr marL="68580" marR="68580" marT="34290" marB="34290">
                    <a:solidFill>
                      <a:srgbClr val="0F2D52"/>
                    </a:solidFill>
                  </a:tcPr>
                </a:tc>
                <a:tc>
                  <a:txBody>
                    <a:bodyPr/>
                    <a:lstStyle/>
                    <a:p>
                      <a:pPr algn="ctr"/>
                      <a:endParaRPr sz="700" dirty="0">
                        <a:solidFill>
                          <a:srgbClr val="FFFFFF"/>
                        </a:solidFill>
                      </a:endParaRPr>
                    </a:p>
                  </a:txBody>
                  <a:tcPr marL="68580" marR="68580" marT="34290" marB="34290">
                    <a:solidFill>
                      <a:srgbClr val="0F2D52"/>
                    </a:solidFill>
                  </a:tcPr>
                </a:tc>
                <a:tc>
                  <a:txBody>
                    <a:bodyPr/>
                    <a:lstStyle/>
                    <a:p>
                      <a:pPr algn="ctr"/>
                      <a:endParaRPr sz="700" dirty="0">
                        <a:solidFill>
                          <a:srgbClr val="FFFFFF"/>
                        </a:solidFill>
                      </a:endParaRPr>
                    </a:p>
                  </a:txBody>
                  <a:tcPr marL="68580" marR="68580" marT="34290" marB="34290">
                    <a:solidFill>
                      <a:srgbClr val="0F2D52"/>
                    </a:solidFill>
                  </a:tcPr>
                </a:tc>
                <a:tc>
                  <a:txBody>
                    <a:bodyPr/>
                    <a:lstStyle/>
                    <a:p>
                      <a:pPr algn="ctr"/>
                      <a:endParaRPr sz="700" dirty="0">
                        <a:solidFill>
                          <a:srgbClr val="FFFFFF"/>
                        </a:solidFill>
                      </a:endParaRPr>
                    </a:p>
                  </a:txBody>
                  <a:tcPr marL="68580" marR="68580" marT="34290" marB="34290">
                    <a:solidFill>
                      <a:srgbClr val="0F2D52"/>
                    </a:solidFill>
                  </a:tcPr>
                </a:tc>
                <a:tc>
                  <a:txBody>
                    <a:bodyPr/>
                    <a:lstStyle/>
                    <a:p>
                      <a:pPr algn="ctr"/>
                      <a:endParaRPr sz="700" dirty="0">
                        <a:solidFill>
                          <a:srgbClr val="FFFFFF"/>
                        </a:solidFill>
                      </a:endParaRPr>
                    </a:p>
                  </a:txBody>
                  <a:tcPr marL="68580" marR="68580" marT="34290" marB="34290">
                    <a:solidFill>
                      <a:srgbClr val="0F2D52"/>
                    </a:solidFill>
                  </a:tcPr>
                </a:tc>
                <a:tc>
                  <a:txBody>
                    <a:bodyPr/>
                    <a:lstStyle/>
                    <a:p>
                      <a:pPr algn="ctr"/>
                      <a:endParaRPr sz="700" dirty="0">
                        <a:solidFill>
                          <a:srgbClr val="FFFFFF"/>
                        </a:solidFill>
                      </a:endParaRPr>
                    </a:p>
                  </a:txBody>
                  <a:tcPr marL="68580" marR="68580" marT="34290" marB="34290">
                    <a:solidFill>
                      <a:srgbClr val="0F2D52"/>
                    </a:solidFill>
                  </a:tcPr>
                </a:tc>
                <a:extLst>
                  <a:ext uri="{0D108BD9-81ED-4DB2-BD59-A6C34878D82A}">
                    <a16:rowId xmlns:a16="http://schemas.microsoft.com/office/drawing/2014/main" val="10010"/>
                  </a:ext>
                </a:extLst>
              </a:tr>
              <a:tr h="260604">
                <a:tc>
                  <a:txBody>
                    <a:bodyPr/>
                    <a:lstStyle/>
                    <a:p>
                      <a:pPr algn="ctr"/>
                      <a:endParaRPr sz="700" dirty="0">
                        <a:solidFill>
                          <a:srgbClr val="FFFFFF"/>
                        </a:solidFill>
                      </a:endParaRPr>
                    </a:p>
                  </a:txBody>
                  <a:tcPr marL="68580" marR="68580" marT="34290" marB="34290">
                    <a:solidFill>
                      <a:srgbClr val="15223A"/>
                    </a:solidFill>
                  </a:tcPr>
                </a:tc>
                <a:tc>
                  <a:txBody>
                    <a:bodyPr/>
                    <a:lstStyle/>
                    <a:p>
                      <a:pPr algn="ctr"/>
                      <a:endParaRPr sz="700" dirty="0">
                        <a:solidFill>
                          <a:srgbClr val="FFFFFF"/>
                        </a:solidFill>
                      </a:endParaRPr>
                    </a:p>
                  </a:txBody>
                  <a:tcPr marL="68580" marR="68580" marT="34290" marB="34290">
                    <a:solidFill>
                      <a:srgbClr val="15223A"/>
                    </a:solidFill>
                  </a:tcPr>
                </a:tc>
                <a:tc>
                  <a:txBody>
                    <a:bodyPr/>
                    <a:lstStyle/>
                    <a:p>
                      <a:pPr algn="ctr"/>
                      <a:endParaRPr sz="700" dirty="0">
                        <a:solidFill>
                          <a:srgbClr val="FFFFFF"/>
                        </a:solidFill>
                      </a:endParaRPr>
                    </a:p>
                  </a:txBody>
                  <a:tcPr marL="68580" marR="68580" marT="34290" marB="34290">
                    <a:solidFill>
                      <a:srgbClr val="15223A"/>
                    </a:solidFill>
                  </a:tcPr>
                </a:tc>
                <a:tc>
                  <a:txBody>
                    <a:bodyPr/>
                    <a:lstStyle/>
                    <a:p>
                      <a:pPr algn="ctr"/>
                      <a:endParaRPr sz="700" dirty="0">
                        <a:solidFill>
                          <a:srgbClr val="FFFFFF"/>
                        </a:solidFill>
                      </a:endParaRPr>
                    </a:p>
                  </a:txBody>
                  <a:tcPr marL="68580" marR="68580" marT="34290" marB="34290">
                    <a:solidFill>
                      <a:srgbClr val="15223A"/>
                    </a:solidFill>
                  </a:tcPr>
                </a:tc>
                <a:tc>
                  <a:txBody>
                    <a:bodyPr/>
                    <a:lstStyle/>
                    <a:p>
                      <a:pPr algn="ctr"/>
                      <a:endParaRPr sz="700" dirty="0">
                        <a:solidFill>
                          <a:srgbClr val="F59E0B"/>
                        </a:solidFill>
                      </a:endParaRPr>
                    </a:p>
                  </a:txBody>
                  <a:tcPr marL="68580" marR="68580" marT="34290" marB="34290">
                    <a:solidFill>
                      <a:srgbClr val="15223A"/>
                    </a:solidFill>
                  </a:tcPr>
                </a:tc>
                <a:tc>
                  <a:txBody>
                    <a:bodyPr/>
                    <a:lstStyle/>
                    <a:p>
                      <a:pPr algn="ctr"/>
                      <a:endParaRPr sz="700" dirty="0">
                        <a:solidFill>
                          <a:srgbClr val="FFFFFF"/>
                        </a:solidFill>
                      </a:endParaRPr>
                    </a:p>
                  </a:txBody>
                  <a:tcPr marL="68580" marR="68580" marT="34290" marB="34290">
                    <a:solidFill>
                      <a:srgbClr val="15223A"/>
                    </a:solidFill>
                  </a:tcPr>
                </a:tc>
                <a:extLst>
                  <a:ext uri="{0D108BD9-81ED-4DB2-BD59-A6C34878D82A}">
                    <a16:rowId xmlns:a16="http://schemas.microsoft.com/office/drawing/2014/main" val="10011"/>
                  </a:ext>
                </a:extLst>
              </a:tr>
              <a:tr h="260604">
                <a:tc>
                  <a:txBody>
                    <a:bodyPr/>
                    <a:lstStyle/>
                    <a:p>
                      <a:pPr algn="ctr"/>
                      <a:endParaRPr sz="700">
                        <a:solidFill>
                          <a:srgbClr val="FFFFFF"/>
                        </a:solidFill>
                      </a:endParaRPr>
                    </a:p>
                  </a:txBody>
                  <a:tcPr marL="68580" marR="68580" marT="34290" marB="34290">
                    <a:solidFill>
                      <a:srgbClr val="0F2D52"/>
                    </a:solidFill>
                  </a:tcPr>
                </a:tc>
                <a:tc>
                  <a:txBody>
                    <a:bodyPr/>
                    <a:lstStyle/>
                    <a:p>
                      <a:pPr algn="ctr"/>
                      <a:endParaRPr sz="700">
                        <a:solidFill>
                          <a:srgbClr val="FFFFFF"/>
                        </a:solidFill>
                      </a:endParaRPr>
                    </a:p>
                  </a:txBody>
                  <a:tcPr marL="68580" marR="68580" marT="34290" marB="34290">
                    <a:solidFill>
                      <a:srgbClr val="0F2D52"/>
                    </a:solidFill>
                  </a:tcPr>
                </a:tc>
                <a:tc>
                  <a:txBody>
                    <a:bodyPr/>
                    <a:lstStyle/>
                    <a:p>
                      <a:pPr algn="ctr"/>
                      <a:endParaRPr sz="700">
                        <a:solidFill>
                          <a:srgbClr val="FFFFFF"/>
                        </a:solidFill>
                      </a:endParaRPr>
                    </a:p>
                  </a:txBody>
                  <a:tcPr marL="68580" marR="68580" marT="34290" marB="34290">
                    <a:solidFill>
                      <a:srgbClr val="0F2D52"/>
                    </a:solidFill>
                  </a:tcPr>
                </a:tc>
                <a:tc>
                  <a:txBody>
                    <a:bodyPr/>
                    <a:lstStyle/>
                    <a:p>
                      <a:pPr algn="ctr"/>
                      <a:endParaRPr sz="700">
                        <a:solidFill>
                          <a:srgbClr val="FFFFFF"/>
                        </a:solidFill>
                      </a:endParaRPr>
                    </a:p>
                  </a:txBody>
                  <a:tcPr marL="68580" marR="68580" marT="34290" marB="34290">
                    <a:solidFill>
                      <a:srgbClr val="0F2D52"/>
                    </a:solidFill>
                  </a:tcPr>
                </a:tc>
                <a:tc>
                  <a:txBody>
                    <a:bodyPr/>
                    <a:lstStyle/>
                    <a:p>
                      <a:pPr algn="ctr"/>
                      <a:endParaRPr sz="700">
                        <a:solidFill>
                          <a:srgbClr val="F59E0B"/>
                        </a:solidFill>
                      </a:endParaRPr>
                    </a:p>
                  </a:txBody>
                  <a:tcPr marL="68580" marR="68580" marT="34290" marB="34290">
                    <a:solidFill>
                      <a:srgbClr val="0F2D52"/>
                    </a:solidFill>
                  </a:tcPr>
                </a:tc>
                <a:tc>
                  <a:txBody>
                    <a:bodyPr/>
                    <a:lstStyle/>
                    <a:p>
                      <a:pPr algn="ctr"/>
                      <a:endParaRPr sz="700" dirty="0">
                        <a:solidFill>
                          <a:srgbClr val="FFFFFF"/>
                        </a:solidFill>
                      </a:endParaRPr>
                    </a:p>
                  </a:txBody>
                  <a:tcPr marL="68580" marR="68580" marT="34290" marB="34290">
                    <a:solidFill>
                      <a:srgbClr val="0F2D52"/>
                    </a:solidFill>
                  </a:tcPr>
                </a:tc>
                <a:extLst>
                  <a:ext uri="{0D108BD9-81ED-4DB2-BD59-A6C34878D82A}">
                    <a16:rowId xmlns:a16="http://schemas.microsoft.com/office/drawing/2014/main" val="10012"/>
                  </a:ext>
                </a:extLst>
              </a:tr>
              <a:tr h="260604">
                <a:tc>
                  <a:txBody>
                    <a:bodyPr/>
                    <a:lstStyle/>
                    <a:p>
                      <a:pPr algn="ctr"/>
                      <a:r>
                        <a:rPr sz="700" dirty="0">
                          <a:solidFill>
                            <a:srgbClr val="FFFFFF"/>
                          </a:solidFill>
                        </a:rPr>
                        <a:t>TOTAL</a:t>
                      </a:r>
                    </a:p>
                  </a:txBody>
                  <a:tcPr marL="68580" marR="68580" marT="34290" marB="34290">
                    <a:solidFill>
                      <a:srgbClr val="15223A"/>
                    </a:solidFill>
                  </a:tcPr>
                </a:tc>
                <a:tc>
                  <a:txBody>
                    <a:bodyPr/>
                    <a:lstStyle/>
                    <a:p>
                      <a:pPr algn="ctr"/>
                      <a:r>
                        <a:rPr lang="en-US" sz="700" dirty="0">
                          <a:solidFill>
                            <a:srgbClr val="FFFFFF"/>
                          </a:solidFill>
                        </a:rPr>
                        <a:t>83</a:t>
                      </a:r>
                      <a:endParaRPr sz="700" dirty="0">
                        <a:solidFill>
                          <a:srgbClr val="FFFFFF"/>
                        </a:solidFill>
                      </a:endParaRPr>
                    </a:p>
                  </a:txBody>
                  <a:tcPr marL="68580" marR="68580" marT="34290" marB="34290">
                    <a:solidFill>
                      <a:srgbClr val="15223A"/>
                    </a:solidFill>
                  </a:tcPr>
                </a:tc>
                <a:tc>
                  <a:txBody>
                    <a:bodyPr/>
                    <a:lstStyle/>
                    <a:p>
                      <a:pPr algn="ctr"/>
                      <a:r>
                        <a:rPr sz="700" dirty="0">
                          <a:solidFill>
                            <a:srgbClr val="FFFFFF"/>
                          </a:solidFill>
                        </a:rPr>
                        <a:t>8</a:t>
                      </a:r>
                      <a:r>
                        <a:rPr lang="en-US" sz="700" dirty="0">
                          <a:solidFill>
                            <a:srgbClr val="FFFFFF"/>
                          </a:solidFill>
                        </a:rPr>
                        <a:t>1</a:t>
                      </a:r>
                      <a:endParaRPr sz="700" dirty="0">
                        <a:solidFill>
                          <a:srgbClr val="FFFFFF"/>
                        </a:solidFill>
                      </a:endParaRPr>
                    </a:p>
                  </a:txBody>
                  <a:tcPr marL="68580" marR="68580" marT="34290" marB="34290">
                    <a:solidFill>
                      <a:srgbClr val="15223A"/>
                    </a:solidFill>
                  </a:tcPr>
                </a:tc>
                <a:tc>
                  <a:txBody>
                    <a:bodyPr/>
                    <a:lstStyle/>
                    <a:p>
                      <a:pPr algn="ctr"/>
                      <a:r>
                        <a:rPr lang="en-US" sz="700" dirty="0">
                          <a:solidFill>
                            <a:srgbClr val="FFFFFF"/>
                          </a:solidFill>
                        </a:rPr>
                        <a:t>2</a:t>
                      </a:r>
                      <a:endParaRPr sz="700" dirty="0">
                        <a:solidFill>
                          <a:srgbClr val="FFFFFF"/>
                        </a:solidFill>
                      </a:endParaRPr>
                    </a:p>
                  </a:txBody>
                  <a:tcPr marL="68580" marR="68580" marT="34290" marB="34290">
                    <a:solidFill>
                      <a:srgbClr val="15223A"/>
                    </a:solidFill>
                  </a:tcPr>
                </a:tc>
                <a:tc>
                  <a:txBody>
                    <a:bodyPr/>
                    <a:lstStyle/>
                    <a:p>
                      <a:pPr algn="ctr"/>
                      <a:endParaRPr sz="700" dirty="0">
                        <a:solidFill>
                          <a:srgbClr val="F59E0B"/>
                        </a:solidFill>
                      </a:endParaRPr>
                    </a:p>
                  </a:txBody>
                  <a:tcPr marL="68580" marR="68580" marT="34290" marB="34290">
                    <a:solidFill>
                      <a:srgbClr val="15223A"/>
                    </a:solidFill>
                  </a:tcPr>
                </a:tc>
                <a:tc>
                  <a:txBody>
                    <a:bodyPr/>
                    <a:lstStyle/>
                    <a:p>
                      <a:pPr algn="ctr"/>
                      <a:r>
                        <a:rPr sz="700" dirty="0">
                          <a:solidFill>
                            <a:srgbClr val="FFFFFF"/>
                          </a:solidFill>
                        </a:rPr>
                        <a:t>.</a:t>
                      </a:r>
                    </a:p>
                  </a:txBody>
                  <a:tcPr marL="68580" marR="68580" marT="34290" marB="34290">
                    <a:solidFill>
                      <a:srgbClr val="15223A"/>
                    </a:solidFill>
                  </a:tcPr>
                </a:tc>
                <a:extLst>
                  <a:ext uri="{0D108BD9-81ED-4DB2-BD59-A6C34878D82A}">
                    <a16:rowId xmlns:a16="http://schemas.microsoft.com/office/drawing/2014/main" val="10013"/>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93215" y="569296"/>
            <a:ext cx="6858000" cy="219291"/>
          </a:xfrm>
          <a:prstGeom prst="rect">
            <a:avLst/>
          </a:prstGeom>
          <a:noFill/>
        </p:spPr>
        <p:txBody>
          <a:bodyPr wrap="square">
            <a:spAutoFit/>
          </a:bodyPr>
          <a:lstStyle/>
          <a:p>
            <a:pPr algn="l"/>
            <a:r>
              <a:rPr sz="825" dirty="0">
                <a:solidFill>
                  <a:srgbClr val="3B82F6"/>
                </a:solidFill>
                <a:latin typeface="Times New Roman" panose="02020603050405020304" pitchFamily="18" charset="0"/>
                <a:cs typeface="Times New Roman" panose="02020603050405020304" pitchFamily="18" charset="0"/>
              </a:rPr>
              <a:t>Performance Metrics · Risk Scoring Accuracy · ML Output · Comparison</a:t>
            </a:r>
          </a:p>
        </p:txBody>
      </p:sp>
      <p:sp>
        <p:nvSpPr>
          <p:cNvPr id="10" name="Rectangle 9"/>
          <p:cNvSpPr/>
          <p:nvPr/>
        </p:nvSpPr>
        <p:spPr>
          <a:xfrm>
            <a:off x="193215" y="836676"/>
            <a:ext cx="1402461" cy="685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Times New Roman" panose="02020603050405020304" pitchFamily="18" charset="0"/>
              <a:cs typeface="Times New Roman" panose="02020603050405020304" pitchFamily="18" charset="0"/>
            </a:endParaRPr>
          </a:p>
        </p:txBody>
      </p:sp>
      <p:sp>
        <p:nvSpPr>
          <p:cNvPr id="11" name="Rectangle 10"/>
          <p:cNvSpPr/>
          <p:nvPr/>
        </p:nvSpPr>
        <p:spPr>
          <a:xfrm>
            <a:off x="193215" y="836676"/>
            <a:ext cx="1402461" cy="2743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Times New Roman" panose="02020603050405020304" pitchFamily="18" charset="0"/>
              <a:cs typeface="Times New Roman" panose="02020603050405020304" pitchFamily="18" charset="0"/>
            </a:endParaRPr>
          </a:p>
        </p:txBody>
      </p:sp>
      <p:sp>
        <p:nvSpPr>
          <p:cNvPr id="12" name="TextBox 11"/>
          <p:cNvSpPr txBox="1"/>
          <p:nvPr/>
        </p:nvSpPr>
        <p:spPr>
          <a:xfrm>
            <a:off x="193215" y="891540"/>
            <a:ext cx="1402461" cy="323165"/>
          </a:xfrm>
          <a:prstGeom prst="rect">
            <a:avLst/>
          </a:prstGeom>
          <a:noFill/>
        </p:spPr>
        <p:txBody>
          <a:bodyPr wrap="square">
            <a:spAutoFit/>
          </a:bodyPr>
          <a:lstStyle/>
          <a:p>
            <a:pPr algn="ctr"/>
            <a:r>
              <a:rPr sz="1500" b="1">
                <a:solidFill>
                  <a:srgbClr val="3B82F6"/>
                </a:solidFill>
                <a:latin typeface="Times New Roman" panose="02020603050405020304" pitchFamily="18" charset="0"/>
                <a:cs typeface="Times New Roman" panose="02020603050405020304" pitchFamily="18" charset="0"/>
              </a:rPr>
              <a:t>&lt; 90 s</a:t>
            </a:r>
          </a:p>
        </p:txBody>
      </p:sp>
      <p:sp>
        <p:nvSpPr>
          <p:cNvPr id="13" name="TextBox 12"/>
          <p:cNvSpPr txBox="1"/>
          <p:nvPr/>
        </p:nvSpPr>
        <p:spPr>
          <a:xfrm>
            <a:off x="193215" y="1179576"/>
            <a:ext cx="1402461" cy="300082"/>
          </a:xfrm>
          <a:prstGeom prst="rect">
            <a:avLst/>
          </a:prstGeom>
          <a:noFill/>
        </p:spPr>
        <p:txBody>
          <a:bodyPr wrap="square">
            <a:spAutoFit/>
          </a:bodyPr>
          <a:lstStyle/>
          <a:p>
            <a:pPr algn="ctr"/>
            <a:r>
              <a:rPr sz="675">
                <a:solidFill>
                  <a:srgbClr val="94A3B8"/>
                </a:solidFill>
                <a:latin typeface="Times New Roman" panose="02020603050405020304" pitchFamily="18" charset="0"/>
                <a:cs typeface="Times New Roman" panose="02020603050405020304" pitchFamily="18" charset="0"/>
              </a:rPr>
              <a:t>Full scan end-to-end
(no-llm mode)</a:t>
            </a:r>
          </a:p>
        </p:txBody>
      </p:sp>
      <p:sp>
        <p:nvSpPr>
          <p:cNvPr id="14" name="Rectangle 13"/>
          <p:cNvSpPr/>
          <p:nvPr/>
        </p:nvSpPr>
        <p:spPr>
          <a:xfrm>
            <a:off x="1664256" y="836676"/>
            <a:ext cx="1402461" cy="685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Times New Roman" panose="02020603050405020304" pitchFamily="18" charset="0"/>
              <a:cs typeface="Times New Roman" panose="02020603050405020304" pitchFamily="18" charset="0"/>
            </a:endParaRPr>
          </a:p>
        </p:txBody>
      </p:sp>
      <p:sp>
        <p:nvSpPr>
          <p:cNvPr id="15" name="Rectangle 14"/>
          <p:cNvSpPr/>
          <p:nvPr/>
        </p:nvSpPr>
        <p:spPr>
          <a:xfrm>
            <a:off x="1664256" y="836676"/>
            <a:ext cx="1402461" cy="2743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Times New Roman" panose="02020603050405020304" pitchFamily="18" charset="0"/>
              <a:cs typeface="Times New Roman" panose="02020603050405020304" pitchFamily="18" charset="0"/>
            </a:endParaRPr>
          </a:p>
        </p:txBody>
      </p:sp>
      <p:sp>
        <p:nvSpPr>
          <p:cNvPr id="16" name="TextBox 15"/>
          <p:cNvSpPr txBox="1"/>
          <p:nvPr/>
        </p:nvSpPr>
        <p:spPr>
          <a:xfrm>
            <a:off x="1664256" y="891540"/>
            <a:ext cx="1402461" cy="323165"/>
          </a:xfrm>
          <a:prstGeom prst="rect">
            <a:avLst/>
          </a:prstGeom>
          <a:noFill/>
        </p:spPr>
        <p:txBody>
          <a:bodyPr wrap="square">
            <a:spAutoFit/>
          </a:bodyPr>
          <a:lstStyle/>
          <a:p>
            <a:pPr algn="ctr"/>
            <a:r>
              <a:rPr sz="1500" b="1">
                <a:solidFill>
                  <a:srgbClr val="22C55E"/>
                </a:solidFill>
                <a:latin typeface="Times New Roman" panose="02020603050405020304" pitchFamily="18" charset="0"/>
                <a:cs typeface="Times New Roman" panose="02020603050405020304" pitchFamily="18" charset="0"/>
              </a:rPr>
              <a:t>&lt; 1 min</a:t>
            </a:r>
          </a:p>
        </p:txBody>
      </p:sp>
      <p:sp>
        <p:nvSpPr>
          <p:cNvPr id="17" name="TextBox 16"/>
          <p:cNvSpPr txBox="1"/>
          <p:nvPr/>
        </p:nvSpPr>
        <p:spPr>
          <a:xfrm>
            <a:off x="1664256" y="1179576"/>
            <a:ext cx="1402461" cy="300082"/>
          </a:xfrm>
          <a:prstGeom prst="rect">
            <a:avLst/>
          </a:prstGeom>
          <a:noFill/>
        </p:spPr>
        <p:txBody>
          <a:bodyPr wrap="square">
            <a:spAutoFit/>
          </a:bodyPr>
          <a:lstStyle/>
          <a:p>
            <a:pPr algn="ctr"/>
            <a:r>
              <a:rPr sz="675">
                <a:solidFill>
                  <a:srgbClr val="94A3B8"/>
                </a:solidFill>
                <a:latin typeface="Times New Roman" panose="02020603050405020304" pitchFamily="18" charset="0"/>
                <a:cs typeface="Times New Roman" panose="02020603050405020304" pitchFamily="18" charset="0"/>
              </a:rPr>
              <a:t>Deploy key /
Actions secret rotation</a:t>
            </a:r>
          </a:p>
        </p:txBody>
      </p:sp>
      <p:sp>
        <p:nvSpPr>
          <p:cNvPr id="18" name="Rectangle 17"/>
          <p:cNvSpPr/>
          <p:nvPr/>
        </p:nvSpPr>
        <p:spPr>
          <a:xfrm>
            <a:off x="3135297" y="836676"/>
            <a:ext cx="1402461" cy="685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Times New Roman" panose="02020603050405020304" pitchFamily="18" charset="0"/>
              <a:cs typeface="Times New Roman" panose="02020603050405020304" pitchFamily="18" charset="0"/>
            </a:endParaRPr>
          </a:p>
        </p:txBody>
      </p:sp>
      <p:sp>
        <p:nvSpPr>
          <p:cNvPr id="19" name="Rectangle 18"/>
          <p:cNvSpPr/>
          <p:nvPr/>
        </p:nvSpPr>
        <p:spPr>
          <a:xfrm>
            <a:off x="3135297" y="836676"/>
            <a:ext cx="1402461" cy="27432"/>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Times New Roman" panose="02020603050405020304" pitchFamily="18" charset="0"/>
              <a:cs typeface="Times New Roman" panose="02020603050405020304" pitchFamily="18" charset="0"/>
            </a:endParaRPr>
          </a:p>
        </p:txBody>
      </p:sp>
      <p:sp>
        <p:nvSpPr>
          <p:cNvPr id="20" name="TextBox 19"/>
          <p:cNvSpPr txBox="1"/>
          <p:nvPr/>
        </p:nvSpPr>
        <p:spPr>
          <a:xfrm>
            <a:off x="3135297" y="891540"/>
            <a:ext cx="1402461" cy="323165"/>
          </a:xfrm>
          <a:prstGeom prst="rect">
            <a:avLst/>
          </a:prstGeom>
          <a:noFill/>
        </p:spPr>
        <p:txBody>
          <a:bodyPr wrap="square">
            <a:spAutoFit/>
          </a:bodyPr>
          <a:lstStyle/>
          <a:p>
            <a:pPr algn="ctr"/>
            <a:r>
              <a:rPr sz="1500" b="1">
                <a:solidFill>
                  <a:srgbClr val="A855F7"/>
                </a:solidFill>
                <a:latin typeface="Times New Roman" panose="02020603050405020304" pitchFamily="18" charset="0"/>
                <a:cs typeface="Times New Roman" panose="02020603050405020304" pitchFamily="18" charset="0"/>
              </a:rPr>
              <a:t>0.97</a:t>
            </a:r>
          </a:p>
        </p:txBody>
      </p:sp>
      <p:sp>
        <p:nvSpPr>
          <p:cNvPr id="21" name="TextBox 20"/>
          <p:cNvSpPr txBox="1"/>
          <p:nvPr/>
        </p:nvSpPr>
        <p:spPr>
          <a:xfrm>
            <a:off x="3135297" y="1179576"/>
            <a:ext cx="1402461" cy="300082"/>
          </a:xfrm>
          <a:prstGeom prst="rect">
            <a:avLst/>
          </a:prstGeom>
          <a:noFill/>
        </p:spPr>
        <p:txBody>
          <a:bodyPr wrap="square">
            <a:spAutoFit/>
          </a:bodyPr>
          <a:lstStyle/>
          <a:p>
            <a:pPr algn="ctr"/>
            <a:r>
              <a:rPr sz="675">
                <a:solidFill>
                  <a:srgbClr val="94A3B8"/>
                </a:solidFill>
                <a:latin typeface="Times New Roman" panose="02020603050405020304" pitchFamily="18" charset="0"/>
                <a:cs typeface="Times New Roman" panose="02020603050405020304" pitchFamily="18" charset="0"/>
              </a:rPr>
              <a:t>Isolation Forest
precision (test set)</a:t>
            </a:r>
          </a:p>
        </p:txBody>
      </p:sp>
      <p:sp>
        <p:nvSpPr>
          <p:cNvPr id="22" name="Rectangle 21"/>
          <p:cNvSpPr/>
          <p:nvPr/>
        </p:nvSpPr>
        <p:spPr>
          <a:xfrm>
            <a:off x="4606338" y="836676"/>
            <a:ext cx="1402461" cy="685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Times New Roman" panose="02020603050405020304" pitchFamily="18" charset="0"/>
              <a:cs typeface="Times New Roman" panose="02020603050405020304" pitchFamily="18" charset="0"/>
            </a:endParaRPr>
          </a:p>
        </p:txBody>
      </p:sp>
      <p:sp>
        <p:nvSpPr>
          <p:cNvPr id="23" name="Rectangle 22"/>
          <p:cNvSpPr/>
          <p:nvPr/>
        </p:nvSpPr>
        <p:spPr>
          <a:xfrm>
            <a:off x="4606338" y="836676"/>
            <a:ext cx="1402461" cy="2743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Times New Roman" panose="02020603050405020304" pitchFamily="18" charset="0"/>
              <a:cs typeface="Times New Roman" panose="02020603050405020304" pitchFamily="18" charset="0"/>
            </a:endParaRPr>
          </a:p>
        </p:txBody>
      </p:sp>
      <p:sp>
        <p:nvSpPr>
          <p:cNvPr id="24" name="TextBox 23"/>
          <p:cNvSpPr txBox="1"/>
          <p:nvPr/>
        </p:nvSpPr>
        <p:spPr>
          <a:xfrm>
            <a:off x="4606338" y="891540"/>
            <a:ext cx="1402461" cy="323165"/>
          </a:xfrm>
          <a:prstGeom prst="rect">
            <a:avLst/>
          </a:prstGeom>
          <a:noFill/>
        </p:spPr>
        <p:txBody>
          <a:bodyPr wrap="square">
            <a:spAutoFit/>
          </a:bodyPr>
          <a:lstStyle/>
          <a:p>
            <a:pPr algn="ctr"/>
            <a:r>
              <a:rPr sz="1500" b="1">
                <a:solidFill>
                  <a:srgbClr val="F59E0B"/>
                </a:solidFill>
                <a:latin typeface="Times New Roman" panose="02020603050405020304" pitchFamily="18" charset="0"/>
                <a:cs typeface="Times New Roman" panose="02020603050405020304" pitchFamily="18" charset="0"/>
              </a:rPr>
              <a:t>11 / 11</a:t>
            </a:r>
          </a:p>
        </p:txBody>
      </p:sp>
      <p:sp>
        <p:nvSpPr>
          <p:cNvPr id="25" name="TextBox 24"/>
          <p:cNvSpPr txBox="1"/>
          <p:nvPr/>
        </p:nvSpPr>
        <p:spPr>
          <a:xfrm>
            <a:off x="4606338" y="1179576"/>
            <a:ext cx="1402461" cy="300082"/>
          </a:xfrm>
          <a:prstGeom prst="rect">
            <a:avLst/>
          </a:prstGeom>
          <a:noFill/>
        </p:spPr>
        <p:txBody>
          <a:bodyPr wrap="square">
            <a:spAutoFit/>
          </a:bodyPr>
          <a:lstStyle/>
          <a:p>
            <a:pPr algn="ctr"/>
            <a:r>
              <a:rPr sz="675">
                <a:solidFill>
                  <a:srgbClr val="94A3B8"/>
                </a:solidFill>
                <a:latin typeface="Times New Roman" panose="02020603050405020304" pitchFamily="18" charset="0"/>
                <a:cs typeface="Times New Roman" panose="02020603050405020304" pitchFamily="18" charset="0"/>
              </a:rPr>
              <a:t>Policy rules
firing correctly</a:t>
            </a:r>
          </a:p>
        </p:txBody>
      </p:sp>
      <p:sp>
        <p:nvSpPr>
          <p:cNvPr id="26" name="Rectangle 25"/>
          <p:cNvSpPr/>
          <p:nvPr/>
        </p:nvSpPr>
        <p:spPr>
          <a:xfrm>
            <a:off x="6077378" y="836676"/>
            <a:ext cx="1402461" cy="685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Times New Roman" panose="02020603050405020304" pitchFamily="18" charset="0"/>
              <a:cs typeface="Times New Roman" panose="02020603050405020304" pitchFamily="18" charset="0"/>
            </a:endParaRPr>
          </a:p>
        </p:txBody>
      </p:sp>
      <p:sp>
        <p:nvSpPr>
          <p:cNvPr id="27" name="Rectangle 26"/>
          <p:cNvSpPr/>
          <p:nvPr/>
        </p:nvSpPr>
        <p:spPr>
          <a:xfrm>
            <a:off x="6077378" y="836676"/>
            <a:ext cx="1402461" cy="2743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Times New Roman" panose="02020603050405020304" pitchFamily="18" charset="0"/>
              <a:cs typeface="Times New Roman" panose="02020603050405020304" pitchFamily="18" charset="0"/>
            </a:endParaRPr>
          </a:p>
        </p:txBody>
      </p:sp>
      <p:sp>
        <p:nvSpPr>
          <p:cNvPr id="28" name="TextBox 27"/>
          <p:cNvSpPr txBox="1"/>
          <p:nvPr/>
        </p:nvSpPr>
        <p:spPr>
          <a:xfrm>
            <a:off x="6077378" y="891540"/>
            <a:ext cx="1402461" cy="323165"/>
          </a:xfrm>
          <a:prstGeom prst="rect">
            <a:avLst/>
          </a:prstGeom>
          <a:noFill/>
        </p:spPr>
        <p:txBody>
          <a:bodyPr wrap="square">
            <a:spAutoFit/>
          </a:bodyPr>
          <a:lstStyle/>
          <a:p>
            <a:pPr algn="ctr"/>
            <a:r>
              <a:rPr sz="1500" b="1">
                <a:solidFill>
                  <a:srgbClr val="3B82F6"/>
                </a:solidFill>
                <a:latin typeface="Times New Roman" panose="02020603050405020304" pitchFamily="18" charset="0"/>
                <a:cs typeface="Times New Roman" panose="02020603050405020304" pitchFamily="18" charset="0"/>
              </a:rPr>
              <a:t>100 %</a:t>
            </a:r>
          </a:p>
        </p:txBody>
      </p:sp>
      <p:sp>
        <p:nvSpPr>
          <p:cNvPr id="29" name="TextBox 28"/>
          <p:cNvSpPr txBox="1"/>
          <p:nvPr/>
        </p:nvSpPr>
        <p:spPr>
          <a:xfrm>
            <a:off x="6077378" y="1179576"/>
            <a:ext cx="1402461" cy="300082"/>
          </a:xfrm>
          <a:prstGeom prst="rect">
            <a:avLst/>
          </a:prstGeom>
          <a:noFill/>
        </p:spPr>
        <p:txBody>
          <a:bodyPr wrap="square">
            <a:spAutoFit/>
          </a:bodyPr>
          <a:lstStyle/>
          <a:p>
            <a:pPr algn="ctr"/>
            <a:r>
              <a:rPr sz="675">
                <a:solidFill>
                  <a:srgbClr val="94A3B8"/>
                </a:solidFill>
                <a:latin typeface="Times New Roman" panose="02020603050405020304" pitchFamily="18" charset="0"/>
                <a:cs typeface="Times New Roman" panose="02020603050405020304" pitchFamily="18" charset="0"/>
              </a:rPr>
              <a:t>Audit log coverage
per scan</a:t>
            </a:r>
          </a:p>
        </p:txBody>
      </p:sp>
      <p:sp>
        <p:nvSpPr>
          <p:cNvPr id="30" name="Rectangle 29"/>
          <p:cNvSpPr/>
          <p:nvPr/>
        </p:nvSpPr>
        <p:spPr>
          <a:xfrm>
            <a:off x="7548420" y="836676"/>
            <a:ext cx="1402461" cy="685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Times New Roman" panose="02020603050405020304" pitchFamily="18" charset="0"/>
              <a:cs typeface="Times New Roman" panose="02020603050405020304" pitchFamily="18" charset="0"/>
            </a:endParaRPr>
          </a:p>
        </p:txBody>
      </p:sp>
      <p:sp>
        <p:nvSpPr>
          <p:cNvPr id="31" name="Rectangle 30"/>
          <p:cNvSpPr/>
          <p:nvPr/>
        </p:nvSpPr>
        <p:spPr>
          <a:xfrm>
            <a:off x="7548420" y="836676"/>
            <a:ext cx="1402461" cy="2743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Times New Roman" panose="02020603050405020304" pitchFamily="18" charset="0"/>
              <a:cs typeface="Times New Roman" panose="02020603050405020304" pitchFamily="18" charset="0"/>
            </a:endParaRPr>
          </a:p>
        </p:txBody>
      </p:sp>
      <p:sp>
        <p:nvSpPr>
          <p:cNvPr id="32" name="TextBox 31"/>
          <p:cNvSpPr txBox="1"/>
          <p:nvPr/>
        </p:nvSpPr>
        <p:spPr>
          <a:xfrm>
            <a:off x="7548420" y="891540"/>
            <a:ext cx="1402461" cy="323165"/>
          </a:xfrm>
          <a:prstGeom prst="rect">
            <a:avLst/>
          </a:prstGeom>
          <a:noFill/>
        </p:spPr>
        <p:txBody>
          <a:bodyPr wrap="square">
            <a:spAutoFit/>
          </a:bodyPr>
          <a:lstStyle/>
          <a:p>
            <a:pPr algn="ctr"/>
            <a:r>
              <a:rPr sz="1500" b="1">
                <a:solidFill>
                  <a:srgbClr val="22C55E"/>
                </a:solidFill>
                <a:latin typeface="Times New Roman" panose="02020603050405020304" pitchFamily="18" charset="0"/>
                <a:cs typeface="Times New Roman" panose="02020603050405020304" pitchFamily="18" charset="0"/>
              </a:rPr>
              <a:t>0</a:t>
            </a:r>
          </a:p>
        </p:txBody>
      </p:sp>
      <p:sp>
        <p:nvSpPr>
          <p:cNvPr id="33" name="TextBox 32"/>
          <p:cNvSpPr txBox="1"/>
          <p:nvPr/>
        </p:nvSpPr>
        <p:spPr>
          <a:xfrm>
            <a:off x="7548420" y="1179576"/>
            <a:ext cx="1402461" cy="300082"/>
          </a:xfrm>
          <a:prstGeom prst="rect">
            <a:avLst/>
          </a:prstGeom>
          <a:noFill/>
        </p:spPr>
        <p:txBody>
          <a:bodyPr wrap="square">
            <a:spAutoFit/>
          </a:bodyPr>
          <a:lstStyle/>
          <a:p>
            <a:pPr algn="ctr"/>
            <a:r>
              <a:rPr sz="675">
                <a:solidFill>
                  <a:srgbClr val="94A3B8"/>
                </a:solidFill>
                <a:latin typeface="Times New Roman" panose="02020603050405020304" pitchFamily="18" charset="0"/>
                <a:cs typeface="Times New Roman" panose="02020603050405020304" pitchFamily="18" charset="0"/>
              </a:rPr>
              <a:t>Missed CRITICAL
findings in test</a:t>
            </a:r>
          </a:p>
        </p:txBody>
      </p:sp>
      <p:sp>
        <p:nvSpPr>
          <p:cNvPr id="34" name="Rectangle 33"/>
          <p:cNvSpPr/>
          <p:nvPr/>
        </p:nvSpPr>
        <p:spPr>
          <a:xfrm>
            <a:off x="193215" y="1632204"/>
            <a:ext cx="4217670" cy="1645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Times New Roman" panose="02020603050405020304" pitchFamily="18" charset="0"/>
              <a:cs typeface="Times New Roman" panose="02020603050405020304" pitchFamily="18" charset="0"/>
            </a:endParaRPr>
          </a:p>
        </p:txBody>
      </p:sp>
      <p:sp>
        <p:nvSpPr>
          <p:cNvPr id="35" name="Rectangle 34"/>
          <p:cNvSpPr/>
          <p:nvPr/>
        </p:nvSpPr>
        <p:spPr>
          <a:xfrm>
            <a:off x="193215" y="1632204"/>
            <a:ext cx="4217670" cy="2743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Times New Roman" panose="02020603050405020304" pitchFamily="18" charset="0"/>
              <a:cs typeface="Times New Roman" panose="02020603050405020304" pitchFamily="18" charset="0"/>
            </a:endParaRPr>
          </a:p>
        </p:txBody>
      </p:sp>
      <p:sp>
        <p:nvSpPr>
          <p:cNvPr id="36" name="TextBox 35"/>
          <p:cNvSpPr txBox="1"/>
          <p:nvPr/>
        </p:nvSpPr>
        <p:spPr>
          <a:xfrm>
            <a:off x="289227" y="1666494"/>
            <a:ext cx="4046220" cy="236668"/>
          </a:xfrm>
          <a:prstGeom prst="rect">
            <a:avLst/>
          </a:prstGeom>
          <a:noFill/>
        </p:spPr>
        <p:txBody>
          <a:bodyPr wrap="square">
            <a:spAutoFit/>
          </a:bodyPr>
          <a:lstStyle/>
          <a:p>
            <a:pPr algn="l"/>
            <a:r>
              <a:rPr sz="938" b="1">
                <a:solidFill>
                  <a:srgbClr val="3B82F6"/>
                </a:solidFill>
                <a:latin typeface="Times New Roman" panose="02020603050405020304" pitchFamily="18" charset="0"/>
                <a:cs typeface="Times New Roman" panose="02020603050405020304" pitchFamily="18" charset="0"/>
              </a:rPr>
              <a:t>Risk Score Distribution (Sample Scan)</a:t>
            </a:r>
          </a:p>
        </p:txBody>
      </p:sp>
      <p:sp>
        <p:nvSpPr>
          <p:cNvPr id="37" name="Rectangle 36"/>
          <p:cNvSpPr/>
          <p:nvPr/>
        </p:nvSpPr>
        <p:spPr>
          <a:xfrm>
            <a:off x="261795" y="1954530"/>
            <a:ext cx="4080510" cy="205740"/>
          </a:xfrm>
          <a:prstGeom prst="rect">
            <a:avLst/>
          </a:prstGeom>
          <a:solidFill>
            <a:srgbClr val="0A19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Times New Roman" panose="02020603050405020304" pitchFamily="18" charset="0"/>
              <a:cs typeface="Times New Roman" panose="02020603050405020304" pitchFamily="18" charset="0"/>
            </a:endParaRPr>
          </a:p>
        </p:txBody>
      </p:sp>
      <p:sp>
        <p:nvSpPr>
          <p:cNvPr id="38" name="Rectangle 37"/>
          <p:cNvSpPr/>
          <p:nvPr/>
        </p:nvSpPr>
        <p:spPr>
          <a:xfrm>
            <a:off x="261796" y="1954530"/>
            <a:ext cx="903248" cy="20574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Times New Roman" panose="02020603050405020304" pitchFamily="18" charset="0"/>
              <a:cs typeface="Times New Roman" panose="02020603050405020304" pitchFamily="18" charset="0"/>
            </a:endParaRPr>
          </a:p>
        </p:txBody>
      </p:sp>
      <p:sp>
        <p:nvSpPr>
          <p:cNvPr id="39" name="TextBox 38"/>
          <p:cNvSpPr txBox="1"/>
          <p:nvPr/>
        </p:nvSpPr>
        <p:spPr>
          <a:xfrm>
            <a:off x="309801" y="1981962"/>
            <a:ext cx="1508760" cy="207749"/>
          </a:xfrm>
          <a:prstGeom prst="rect">
            <a:avLst/>
          </a:prstGeom>
          <a:noFill/>
        </p:spPr>
        <p:txBody>
          <a:bodyPr wrap="square">
            <a:spAutoFit/>
          </a:bodyPr>
          <a:lstStyle/>
          <a:p>
            <a:pPr algn="l"/>
            <a:r>
              <a:rPr sz="750">
                <a:solidFill>
                  <a:srgbClr val="FFFFFF"/>
                </a:solidFill>
                <a:latin typeface="Times New Roman" panose="02020603050405020304" pitchFamily="18" charset="0"/>
                <a:cs typeface="Times New Roman" panose="02020603050405020304" pitchFamily="18" charset="0"/>
              </a:rPr>
              <a:t>CRITICAL (70–100)</a:t>
            </a:r>
          </a:p>
        </p:txBody>
      </p:sp>
      <p:sp>
        <p:nvSpPr>
          <p:cNvPr id="40" name="TextBox 39"/>
          <p:cNvSpPr txBox="1"/>
          <p:nvPr/>
        </p:nvSpPr>
        <p:spPr>
          <a:xfrm>
            <a:off x="3347895" y="1981962"/>
            <a:ext cx="891540" cy="207749"/>
          </a:xfrm>
          <a:prstGeom prst="rect">
            <a:avLst/>
          </a:prstGeom>
          <a:noFill/>
        </p:spPr>
        <p:txBody>
          <a:bodyPr wrap="square">
            <a:spAutoFit/>
          </a:bodyPr>
          <a:lstStyle/>
          <a:p>
            <a:pPr algn="r"/>
            <a:r>
              <a:rPr sz="750" b="1">
                <a:solidFill>
                  <a:srgbClr val="EF4444"/>
                </a:solidFill>
                <a:latin typeface="Times New Roman" panose="02020603050405020304" pitchFamily="18" charset="0"/>
                <a:cs typeface="Times New Roman" panose="02020603050405020304" pitchFamily="18" charset="0"/>
              </a:rPr>
              <a:t>12 findings</a:t>
            </a:r>
          </a:p>
        </p:txBody>
      </p:sp>
      <p:sp>
        <p:nvSpPr>
          <p:cNvPr id="41" name="Rectangle 40"/>
          <p:cNvSpPr/>
          <p:nvPr/>
        </p:nvSpPr>
        <p:spPr>
          <a:xfrm>
            <a:off x="261795" y="2194560"/>
            <a:ext cx="4080510" cy="205740"/>
          </a:xfrm>
          <a:prstGeom prst="rect">
            <a:avLst/>
          </a:prstGeom>
          <a:solidFill>
            <a:srgbClr val="0A19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Times New Roman" panose="02020603050405020304" pitchFamily="18" charset="0"/>
              <a:cs typeface="Times New Roman" panose="02020603050405020304" pitchFamily="18" charset="0"/>
            </a:endParaRPr>
          </a:p>
        </p:txBody>
      </p:sp>
      <p:sp>
        <p:nvSpPr>
          <p:cNvPr id="42" name="Rectangle 41"/>
          <p:cNvSpPr/>
          <p:nvPr/>
        </p:nvSpPr>
        <p:spPr>
          <a:xfrm>
            <a:off x="261795" y="2194560"/>
            <a:ext cx="526895" cy="2057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Times New Roman" panose="02020603050405020304" pitchFamily="18" charset="0"/>
              <a:cs typeface="Times New Roman" panose="02020603050405020304" pitchFamily="18" charset="0"/>
            </a:endParaRPr>
          </a:p>
        </p:txBody>
      </p:sp>
      <p:sp>
        <p:nvSpPr>
          <p:cNvPr id="43" name="TextBox 42"/>
          <p:cNvSpPr txBox="1"/>
          <p:nvPr/>
        </p:nvSpPr>
        <p:spPr>
          <a:xfrm>
            <a:off x="309801" y="2221992"/>
            <a:ext cx="1508760" cy="207749"/>
          </a:xfrm>
          <a:prstGeom prst="rect">
            <a:avLst/>
          </a:prstGeom>
          <a:noFill/>
        </p:spPr>
        <p:txBody>
          <a:bodyPr wrap="square">
            <a:spAutoFit/>
          </a:bodyPr>
          <a:lstStyle/>
          <a:p>
            <a:pPr algn="l"/>
            <a:r>
              <a:rPr sz="750">
                <a:solidFill>
                  <a:srgbClr val="FFFFFF"/>
                </a:solidFill>
                <a:latin typeface="Times New Roman" panose="02020603050405020304" pitchFamily="18" charset="0"/>
                <a:cs typeface="Times New Roman" panose="02020603050405020304" pitchFamily="18" charset="0"/>
              </a:rPr>
              <a:t>HIGH     (50–69)</a:t>
            </a:r>
          </a:p>
        </p:txBody>
      </p:sp>
      <p:sp>
        <p:nvSpPr>
          <p:cNvPr id="44" name="TextBox 43"/>
          <p:cNvSpPr txBox="1"/>
          <p:nvPr/>
        </p:nvSpPr>
        <p:spPr>
          <a:xfrm>
            <a:off x="3347895" y="2221992"/>
            <a:ext cx="891540" cy="207749"/>
          </a:xfrm>
          <a:prstGeom prst="rect">
            <a:avLst/>
          </a:prstGeom>
          <a:noFill/>
        </p:spPr>
        <p:txBody>
          <a:bodyPr wrap="square">
            <a:spAutoFit/>
          </a:bodyPr>
          <a:lstStyle/>
          <a:p>
            <a:pPr algn="r"/>
            <a:r>
              <a:rPr sz="750" b="1">
                <a:solidFill>
                  <a:srgbClr val="F59E0B"/>
                </a:solidFill>
                <a:latin typeface="Times New Roman" panose="02020603050405020304" pitchFamily="18" charset="0"/>
                <a:cs typeface="Times New Roman" panose="02020603050405020304" pitchFamily="18" charset="0"/>
              </a:rPr>
              <a:t> 7 findings</a:t>
            </a:r>
          </a:p>
        </p:txBody>
      </p:sp>
      <p:sp>
        <p:nvSpPr>
          <p:cNvPr id="45" name="Rectangle 44"/>
          <p:cNvSpPr/>
          <p:nvPr/>
        </p:nvSpPr>
        <p:spPr>
          <a:xfrm>
            <a:off x="261795" y="2434590"/>
            <a:ext cx="4080510" cy="205740"/>
          </a:xfrm>
          <a:prstGeom prst="rect">
            <a:avLst/>
          </a:prstGeom>
          <a:solidFill>
            <a:srgbClr val="0A19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Times New Roman" panose="02020603050405020304" pitchFamily="18" charset="0"/>
              <a:cs typeface="Times New Roman" panose="02020603050405020304" pitchFamily="18" charset="0"/>
            </a:endParaRPr>
          </a:p>
        </p:txBody>
      </p:sp>
      <p:sp>
        <p:nvSpPr>
          <p:cNvPr id="46" name="Rectangle 45"/>
          <p:cNvSpPr/>
          <p:nvPr/>
        </p:nvSpPr>
        <p:spPr>
          <a:xfrm>
            <a:off x="261796" y="2434590"/>
            <a:ext cx="301082" cy="205740"/>
          </a:xfrm>
          <a:prstGeom prst="rect">
            <a:avLst/>
          </a:prstGeom>
          <a:solidFill>
            <a:srgbClr val="F9A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Times New Roman" panose="02020603050405020304" pitchFamily="18" charset="0"/>
              <a:cs typeface="Times New Roman" panose="02020603050405020304" pitchFamily="18" charset="0"/>
            </a:endParaRPr>
          </a:p>
        </p:txBody>
      </p:sp>
      <p:sp>
        <p:nvSpPr>
          <p:cNvPr id="47" name="TextBox 46"/>
          <p:cNvSpPr txBox="1"/>
          <p:nvPr/>
        </p:nvSpPr>
        <p:spPr>
          <a:xfrm>
            <a:off x="309801" y="2462022"/>
            <a:ext cx="1508760" cy="207749"/>
          </a:xfrm>
          <a:prstGeom prst="rect">
            <a:avLst/>
          </a:prstGeom>
          <a:noFill/>
        </p:spPr>
        <p:txBody>
          <a:bodyPr wrap="square">
            <a:spAutoFit/>
          </a:bodyPr>
          <a:lstStyle/>
          <a:p>
            <a:pPr algn="l"/>
            <a:r>
              <a:rPr sz="750">
                <a:solidFill>
                  <a:srgbClr val="FFFFFF"/>
                </a:solidFill>
                <a:latin typeface="Times New Roman" panose="02020603050405020304" pitchFamily="18" charset="0"/>
                <a:cs typeface="Times New Roman" panose="02020603050405020304" pitchFamily="18" charset="0"/>
              </a:rPr>
              <a:t>MEDIUM   (30–49)</a:t>
            </a:r>
          </a:p>
        </p:txBody>
      </p:sp>
      <p:sp>
        <p:nvSpPr>
          <p:cNvPr id="48" name="TextBox 47"/>
          <p:cNvSpPr txBox="1"/>
          <p:nvPr/>
        </p:nvSpPr>
        <p:spPr>
          <a:xfrm>
            <a:off x="3347895" y="2462022"/>
            <a:ext cx="891540" cy="207749"/>
          </a:xfrm>
          <a:prstGeom prst="rect">
            <a:avLst/>
          </a:prstGeom>
          <a:noFill/>
        </p:spPr>
        <p:txBody>
          <a:bodyPr wrap="square">
            <a:spAutoFit/>
          </a:bodyPr>
          <a:lstStyle/>
          <a:p>
            <a:pPr algn="r"/>
            <a:r>
              <a:rPr sz="750" b="1">
                <a:solidFill>
                  <a:srgbClr val="F9A825"/>
                </a:solidFill>
                <a:latin typeface="Times New Roman" panose="02020603050405020304" pitchFamily="18" charset="0"/>
                <a:cs typeface="Times New Roman" panose="02020603050405020304" pitchFamily="18" charset="0"/>
              </a:rPr>
              <a:t> 4 findings</a:t>
            </a:r>
          </a:p>
        </p:txBody>
      </p:sp>
      <p:sp>
        <p:nvSpPr>
          <p:cNvPr id="49" name="Rectangle 48"/>
          <p:cNvSpPr/>
          <p:nvPr/>
        </p:nvSpPr>
        <p:spPr>
          <a:xfrm>
            <a:off x="261795" y="2674620"/>
            <a:ext cx="4080510" cy="205740"/>
          </a:xfrm>
          <a:prstGeom prst="rect">
            <a:avLst/>
          </a:prstGeom>
          <a:solidFill>
            <a:srgbClr val="0A19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Times New Roman" panose="02020603050405020304" pitchFamily="18" charset="0"/>
              <a:cs typeface="Times New Roman" panose="02020603050405020304" pitchFamily="18" charset="0"/>
            </a:endParaRPr>
          </a:p>
        </p:txBody>
      </p:sp>
      <p:sp>
        <p:nvSpPr>
          <p:cNvPr id="50" name="Rectangle 49"/>
          <p:cNvSpPr/>
          <p:nvPr/>
        </p:nvSpPr>
        <p:spPr>
          <a:xfrm>
            <a:off x="261795" y="2674620"/>
            <a:ext cx="1354873" cy="20574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Times New Roman" panose="02020603050405020304" pitchFamily="18" charset="0"/>
              <a:cs typeface="Times New Roman" panose="02020603050405020304" pitchFamily="18" charset="0"/>
            </a:endParaRPr>
          </a:p>
        </p:txBody>
      </p:sp>
      <p:sp>
        <p:nvSpPr>
          <p:cNvPr id="51" name="TextBox 50"/>
          <p:cNvSpPr txBox="1"/>
          <p:nvPr/>
        </p:nvSpPr>
        <p:spPr>
          <a:xfrm>
            <a:off x="309801" y="2702052"/>
            <a:ext cx="1508760" cy="207749"/>
          </a:xfrm>
          <a:prstGeom prst="rect">
            <a:avLst/>
          </a:prstGeom>
          <a:noFill/>
        </p:spPr>
        <p:txBody>
          <a:bodyPr wrap="square">
            <a:spAutoFit/>
          </a:bodyPr>
          <a:lstStyle/>
          <a:p>
            <a:pPr algn="l"/>
            <a:r>
              <a:rPr sz="750">
                <a:solidFill>
                  <a:srgbClr val="FFFFFF"/>
                </a:solidFill>
                <a:latin typeface="Times New Roman" panose="02020603050405020304" pitchFamily="18" charset="0"/>
                <a:cs typeface="Times New Roman" panose="02020603050405020304" pitchFamily="18" charset="0"/>
              </a:rPr>
              <a:t>LOW      (0–29)</a:t>
            </a:r>
          </a:p>
        </p:txBody>
      </p:sp>
      <p:sp>
        <p:nvSpPr>
          <p:cNvPr id="52" name="TextBox 51"/>
          <p:cNvSpPr txBox="1"/>
          <p:nvPr/>
        </p:nvSpPr>
        <p:spPr>
          <a:xfrm>
            <a:off x="3347895" y="2702052"/>
            <a:ext cx="891540" cy="207749"/>
          </a:xfrm>
          <a:prstGeom prst="rect">
            <a:avLst/>
          </a:prstGeom>
          <a:noFill/>
        </p:spPr>
        <p:txBody>
          <a:bodyPr wrap="square">
            <a:spAutoFit/>
          </a:bodyPr>
          <a:lstStyle/>
          <a:p>
            <a:pPr algn="r"/>
            <a:r>
              <a:rPr sz="750" b="1">
                <a:solidFill>
                  <a:srgbClr val="22C55E"/>
                </a:solidFill>
                <a:latin typeface="Times New Roman" panose="02020603050405020304" pitchFamily="18" charset="0"/>
                <a:cs typeface="Times New Roman" panose="02020603050405020304" pitchFamily="18" charset="0"/>
              </a:rPr>
              <a:t>18 findings</a:t>
            </a:r>
          </a:p>
        </p:txBody>
      </p:sp>
      <p:sp>
        <p:nvSpPr>
          <p:cNvPr id="53" name="Rectangle 52"/>
          <p:cNvSpPr/>
          <p:nvPr/>
        </p:nvSpPr>
        <p:spPr>
          <a:xfrm>
            <a:off x="261795" y="2914650"/>
            <a:ext cx="4080510" cy="205740"/>
          </a:xfrm>
          <a:prstGeom prst="rect">
            <a:avLst/>
          </a:prstGeom>
          <a:solidFill>
            <a:srgbClr val="0A19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Times New Roman" panose="02020603050405020304" pitchFamily="18" charset="0"/>
              <a:cs typeface="Times New Roman" panose="02020603050405020304" pitchFamily="18" charset="0"/>
            </a:endParaRPr>
          </a:p>
        </p:txBody>
      </p:sp>
      <p:sp>
        <p:nvSpPr>
          <p:cNvPr id="54" name="Rectangle 53"/>
          <p:cNvSpPr/>
          <p:nvPr/>
        </p:nvSpPr>
        <p:spPr>
          <a:xfrm>
            <a:off x="261795" y="2914650"/>
            <a:ext cx="3086100" cy="20574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Times New Roman" panose="02020603050405020304" pitchFamily="18" charset="0"/>
              <a:cs typeface="Times New Roman" panose="02020603050405020304" pitchFamily="18" charset="0"/>
            </a:endParaRPr>
          </a:p>
        </p:txBody>
      </p:sp>
      <p:sp>
        <p:nvSpPr>
          <p:cNvPr id="55" name="TextBox 54"/>
          <p:cNvSpPr txBox="1"/>
          <p:nvPr/>
        </p:nvSpPr>
        <p:spPr>
          <a:xfrm>
            <a:off x="309801" y="2942082"/>
            <a:ext cx="1508760" cy="207749"/>
          </a:xfrm>
          <a:prstGeom prst="rect">
            <a:avLst/>
          </a:prstGeom>
          <a:noFill/>
        </p:spPr>
        <p:txBody>
          <a:bodyPr wrap="square">
            <a:spAutoFit/>
          </a:bodyPr>
          <a:lstStyle/>
          <a:p>
            <a:pPr algn="l"/>
            <a:r>
              <a:rPr sz="750">
                <a:solidFill>
                  <a:srgbClr val="FFFFFF"/>
                </a:solidFill>
                <a:latin typeface="Times New Roman" panose="02020603050405020304" pitchFamily="18" charset="0"/>
                <a:cs typeface="Times New Roman" panose="02020603050405020304" pitchFamily="18" charset="0"/>
              </a:rPr>
              <a:t>TOTAL</a:t>
            </a:r>
          </a:p>
        </p:txBody>
      </p:sp>
      <p:sp>
        <p:nvSpPr>
          <p:cNvPr id="56" name="TextBox 55"/>
          <p:cNvSpPr txBox="1"/>
          <p:nvPr/>
        </p:nvSpPr>
        <p:spPr>
          <a:xfrm>
            <a:off x="3347895" y="2942082"/>
            <a:ext cx="891540" cy="207749"/>
          </a:xfrm>
          <a:prstGeom prst="rect">
            <a:avLst/>
          </a:prstGeom>
          <a:noFill/>
        </p:spPr>
        <p:txBody>
          <a:bodyPr wrap="square">
            <a:spAutoFit/>
          </a:bodyPr>
          <a:lstStyle/>
          <a:p>
            <a:pPr algn="r"/>
            <a:r>
              <a:rPr sz="750" b="1">
                <a:solidFill>
                  <a:srgbClr val="94A3B8"/>
                </a:solidFill>
                <a:latin typeface="Times New Roman" panose="02020603050405020304" pitchFamily="18" charset="0"/>
                <a:cs typeface="Times New Roman" panose="02020603050405020304" pitchFamily="18" charset="0"/>
              </a:rPr>
              <a:t>41 findings</a:t>
            </a:r>
          </a:p>
        </p:txBody>
      </p:sp>
      <p:sp>
        <p:nvSpPr>
          <p:cNvPr id="57" name="Rectangle 56"/>
          <p:cNvSpPr/>
          <p:nvPr/>
        </p:nvSpPr>
        <p:spPr>
          <a:xfrm>
            <a:off x="4527471" y="1632204"/>
            <a:ext cx="4423410" cy="1645920"/>
          </a:xfrm>
          <a:prstGeom prst="rect">
            <a:avLst/>
          </a:prstGeom>
          <a:solidFill>
            <a:srgbClr val="0A19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Times New Roman" panose="02020603050405020304" pitchFamily="18" charset="0"/>
              <a:cs typeface="Times New Roman" panose="02020603050405020304" pitchFamily="18" charset="0"/>
            </a:endParaRPr>
          </a:p>
        </p:txBody>
      </p:sp>
      <p:sp>
        <p:nvSpPr>
          <p:cNvPr id="58" name="Rectangle 57"/>
          <p:cNvSpPr/>
          <p:nvPr/>
        </p:nvSpPr>
        <p:spPr>
          <a:xfrm>
            <a:off x="4527471" y="1632204"/>
            <a:ext cx="4423410" cy="2743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Times New Roman" panose="02020603050405020304" pitchFamily="18" charset="0"/>
              <a:cs typeface="Times New Roman" panose="02020603050405020304" pitchFamily="18" charset="0"/>
            </a:endParaRPr>
          </a:p>
        </p:txBody>
      </p:sp>
      <p:sp>
        <p:nvSpPr>
          <p:cNvPr id="59" name="TextBox 58"/>
          <p:cNvSpPr txBox="1"/>
          <p:nvPr/>
        </p:nvSpPr>
        <p:spPr>
          <a:xfrm>
            <a:off x="4623483" y="1666494"/>
            <a:ext cx="4251960" cy="236668"/>
          </a:xfrm>
          <a:prstGeom prst="rect">
            <a:avLst/>
          </a:prstGeom>
          <a:noFill/>
        </p:spPr>
        <p:txBody>
          <a:bodyPr wrap="square">
            <a:spAutoFit/>
          </a:bodyPr>
          <a:lstStyle/>
          <a:p>
            <a:pPr algn="l"/>
            <a:r>
              <a:rPr sz="938" b="1">
                <a:solidFill>
                  <a:srgbClr val="3B82F6"/>
                </a:solidFill>
                <a:latin typeface="Times New Roman" panose="02020603050405020304" pitchFamily="18" charset="0"/>
                <a:cs typeface="Times New Roman" panose="02020603050405020304" pitchFamily="18" charset="0"/>
              </a:rPr>
              <a:t>ML Engine Results</a:t>
            </a:r>
          </a:p>
        </p:txBody>
      </p:sp>
      <p:sp>
        <p:nvSpPr>
          <p:cNvPr id="60" name="TextBox 59"/>
          <p:cNvSpPr txBox="1"/>
          <p:nvPr/>
        </p:nvSpPr>
        <p:spPr>
          <a:xfrm>
            <a:off x="4623483" y="1954531"/>
            <a:ext cx="4251960" cy="311752"/>
          </a:xfrm>
          <a:prstGeom prst="rect">
            <a:avLst/>
          </a:prstGeom>
          <a:noFill/>
        </p:spPr>
        <p:txBody>
          <a:bodyPr wrap="square">
            <a:spAutoFit/>
          </a:bodyPr>
          <a:lstStyle/>
          <a:p>
            <a:pPr algn="l"/>
            <a:r>
              <a:rPr sz="713">
                <a:solidFill>
                  <a:srgbClr val="FFFFFF"/>
                </a:solidFill>
                <a:latin typeface="Times New Roman" panose="02020603050405020304" pitchFamily="18" charset="0"/>
                <a:cs typeface="Times New Roman" panose="02020603050405020304" pitchFamily="18" charset="0"/>
              </a:rPr>
              <a:t>▸  Isolation Forest (contamination=0.1) correctly flagged 3 anomalous NHIs — 2 suddenly-added deploy keys and 1 orphaned service principal.</a:t>
            </a:r>
          </a:p>
        </p:txBody>
      </p:sp>
      <p:sp>
        <p:nvSpPr>
          <p:cNvPr id="61" name="TextBox 60"/>
          <p:cNvSpPr txBox="1"/>
          <p:nvPr/>
        </p:nvSpPr>
        <p:spPr>
          <a:xfrm>
            <a:off x="4623483" y="2311146"/>
            <a:ext cx="4251960" cy="311752"/>
          </a:xfrm>
          <a:prstGeom prst="rect">
            <a:avLst/>
          </a:prstGeom>
          <a:noFill/>
        </p:spPr>
        <p:txBody>
          <a:bodyPr wrap="square">
            <a:spAutoFit/>
          </a:bodyPr>
          <a:lstStyle/>
          <a:p>
            <a:pPr algn="l"/>
            <a:r>
              <a:rPr sz="713">
                <a:solidFill>
                  <a:srgbClr val="FFFFFF"/>
                </a:solidFill>
                <a:latin typeface="Times New Roman" panose="02020603050405020304" pitchFamily="18" charset="0"/>
                <a:cs typeface="Times New Roman" panose="02020603050405020304" pitchFamily="18" charset="0"/>
              </a:rPr>
              <a:t>▸  Linear Regression on 10 historical scans: R² = 0.91, slope = +0.8 pts/day → WORSENING trend. 30-day forecast: avg risk score 74 (→ CRITICAL threshold).</a:t>
            </a:r>
          </a:p>
        </p:txBody>
      </p:sp>
      <p:sp>
        <p:nvSpPr>
          <p:cNvPr id="62" name="TextBox 61"/>
          <p:cNvSpPr txBox="1"/>
          <p:nvPr/>
        </p:nvSpPr>
        <p:spPr>
          <a:xfrm>
            <a:off x="4623483" y="2667763"/>
            <a:ext cx="4251960" cy="311752"/>
          </a:xfrm>
          <a:prstGeom prst="rect">
            <a:avLst/>
          </a:prstGeom>
          <a:noFill/>
        </p:spPr>
        <p:txBody>
          <a:bodyPr wrap="square">
            <a:spAutoFit/>
          </a:bodyPr>
          <a:lstStyle/>
          <a:p>
            <a:pPr algn="l"/>
            <a:r>
              <a:rPr sz="713">
                <a:solidFill>
                  <a:srgbClr val="FFFFFF"/>
                </a:solidFill>
                <a:latin typeface="Times New Roman" panose="02020603050405020304" pitchFamily="18" charset="0"/>
                <a:cs typeface="Times New Roman" panose="02020603050405020304" pitchFamily="18" charset="0"/>
              </a:rPr>
              <a:t>▸  Security posture radar (5 axes) scored: Cert Health 82, GitHub NHI 61, Azure Credentials 45, Policy Compliance 70, Rotation Velocity 88.</a:t>
            </a:r>
          </a:p>
        </p:txBody>
      </p:sp>
      <p:sp>
        <p:nvSpPr>
          <p:cNvPr id="63" name="TextBox 62"/>
          <p:cNvSpPr txBox="1"/>
          <p:nvPr/>
        </p:nvSpPr>
        <p:spPr>
          <a:xfrm>
            <a:off x="4623483" y="3024379"/>
            <a:ext cx="4251960" cy="202043"/>
          </a:xfrm>
          <a:prstGeom prst="rect">
            <a:avLst/>
          </a:prstGeom>
          <a:noFill/>
        </p:spPr>
        <p:txBody>
          <a:bodyPr wrap="square">
            <a:spAutoFit/>
          </a:bodyPr>
          <a:lstStyle/>
          <a:p>
            <a:pPr algn="l"/>
            <a:r>
              <a:rPr sz="713" dirty="0">
                <a:solidFill>
                  <a:srgbClr val="FFFFFF"/>
                </a:solidFill>
                <a:latin typeface="Times New Roman" panose="02020603050405020304" pitchFamily="18" charset="0"/>
                <a:cs typeface="Times New Roman" panose="02020603050405020304" pitchFamily="18" charset="0"/>
              </a:rPr>
              <a:t>▸  Deterministic fallback mode produces identical scoring without </a:t>
            </a:r>
            <a:r>
              <a:rPr sz="713" dirty="0" err="1">
                <a:solidFill>
                  <a:srgbClr val="FFFFFF"/>
                </a:solidFill>
                <a:latin typeface="Times New Roman" panose="02020603050405020304" pitchFamily="18" charset="0"/>
                <a:cs typeface="Times New Roman" panose="02020603050405020304" pitchFamily="18" charset="0"/>
              </a:rPr>
              <a:t>sklearn</a:t>
            </a:r>
            <a:r>
              <a:rPr sz="713" dirty="0">
                <a:solidFill>
                  <a:srgbClr val="FFFFFF"/>
                </a:solidFill>
                <a:latin typeface="Times New Roman" panose="02020603050405020304" pitchFamily="18" charset="0"/>
                <a:cs typeface="Times New Roman" panose="02020603050405020304" pitchFamily="18" charset="0"/>
              </a:rPr>
              <a:t>.</a:t>
            </a:r>
          </a:p>
        </p:txBody>
      </p:sp>
      <p:sp>
        <p:nvSpPr>
          <p:cNvPr id="64" name="Rectangle 63"/>
          <p:cNvSpPr/>
          <p:nvPr/>
        </p:nvSpPr>
        <p:spPr>
          <a:xfrm>
            <a:off x="193215" y="3360420"/>
            <a:ext cx="8757666" cy="13716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Times New Roman" panose="02020603050405020304" pitchFamily="18" charset="0"/>
              <a:cs typeface="Times New Roman" panose="02020603050405020304" pitchFamily="18" charset="0"/>
            </a:endParaRPr>
          </a:p>
        </p:txBody>
      </p:sp>
      <p:sp>
        <p:nvSpPr>
          <p:cNvPr id="65" name="Rectangle 64"/>
          <p:cNvSpPr/>
          <p:nvPr/>
        </p:nvSpPr>
        <p:spPr>
          <a:xfrm>
            <a:off x="193215" y="3360420"/>
            <a:ext cx="8757666" cy="2743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Times New Roman" panose="02020603050405020304" pitchFamily="18" charset="0"/>
              <a:cs typeface="Times New Roman" panose="02020603050405020304" pitchFamily="18" charset="0"/>
            </a:endParaRPr>
          </a:p>
        </p:txBody>
      </p:sp>
      <p:sp>
        <p:nvSpPr>
          <p:cNvPr id="66" name="TextBox 65"/>
          <p:cNvSpPr txBox="1"/>
          <p:nvPr/>
        </p:nvSpPr>
        <p:spPr>
          <a:xfrm>
            <a:off x="289227" y="3394710"/>
            <a:ext cx="6858000" cy="236668"/>
          </a:xfrm>
          <a:prstGeom prst="rect">
            <a:avLst/>
          </a:prstGeom>
          <a:noFill/>
        </p:spPr>
        <p:txBody>
          <a:bodyPr wrap="square">
            <a:spAutoFit/>
          </a:bodyPr>
          <a:lstStyle/>
          <a:p>
            <a:pPr algn="l"/>
            <a:r>
              <a:rPr sz="938" b="1">
                <a:solidFill>
                  <a:srgbClr val="3B82F6"/>
                </a:solidFill>
                <a:latin typeface="Times New Roman" panose="02020603050405020304" pitchFamily="18" charset="0"/>
                <a:cs typeface="Times New Roman" panose="02020603050405020304" pitchFamily="18" charset="0"/>
              </a:rPr>
              <a:t>Comparison with Existing Approaches</a:t>
            </a:r>
          </a:p>
        </p:txBody>
      </p:sp>
      <p:sp>
        <p:nvSpPr>
          <p:cNvPr id="67" name="Rectangle 66"/>
          <p:cNvSpPr/>
          <p:nvPr/>
        </p:nvSpPr>
        <p:spPr>
          <a:xfrm>
            <a:off x="261795" y="3669030"/>
            <a:ext cx="1748790" cy="205740"/>
          </a:xfrm>
          <a:prstGeom prst="rect">
            <a:avLst/>
          </a:prstGeom>
          <a:solidFill>
            <a:srgbClr val="1F4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Times New Roman" panose="02020603050405020304" pitchFamily="18" charset="0"/>
              <a:cs typeface="Times New Roman" panose="02020603050405020304" pitchFamily="18" charset="0"/>
            </a:endParaRPr>
          </a:p>
        </p:txBody>
      </p:sp>
      <p:sp>
        <p:nvSpPr>
          <p:cNvPr id="68" name="TextBox 67"/>
          <p:cNvSpPr txBox="1"/>
          <p:nvPr/>
        </p:nvSpPr>
        <p:spPr>
          <a:xfrm>
            <a:off x="296085" y="3696462"/>
            <a:ext cx="1714500" cy="202043"/>
          </a:xfrm>
          <a:prstGeom prst="rect">
            <a:avLst/>
          </a:prstGeom>
          <a:noFill/>
        </p:spPr>
        <p:txBody>
          <a:bodyPr wrap="square">
            <a:spAutoFit/>
          </a:bodyPr>
          <a:lstStyle/>
          <a:p>
            <a:pPr algn="l"/>
            <a:r>
              <a:rPr sz="713" b="1">
                <a:solidFill>
                  <a:srgbClr val="FFFFFF"/>
                </a:solidFill>
                <a:latin typeface="Times New Roman" panose="02020603050405020304" pitchFamily="18" charset="0"/>
                <a:cs typeface="Times New Roman" panose="02020603050405020304" pitchFamily="18" charset="0"/>
              </a:rPr>
              <a:t>Feature</a:t>
            </a:r>
          </a:p>
        </p:txBody>
      </p:sp>
      <p:sp>
        <p:nvSpPr>
          <p:cNvPr id="69" name="Rectangle 68"/>
          <p:cNvSpPr/>
          <p:nvPr/>
        </p:nvSpPr>
        <p:spPr>
          <a:xfrm>
            <a:off x="2044875" y="3669030"/>
            <a:ext cx="1645920" cy="205740"/>
          </a:xfrm>
          <a:prstGeom prst="rect">
            <a:avLst/>
          </a:prstGeom>
          <a:solidFill>
            <a:srgbClr val="1F4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Times New Roman" panose="02020603050405020304" pitchFamily="18" charset="0"/>
              <a:cs typeface="Times New Roman" panose="02020603050405020304" pitchFamily="18" charset="0"/>
            </a:endParaRPr>
          </a:p>
        </p:txBody>
      </p:sp>
      <p:sp>
        <p:nvSpPr>
          <p:cNvPr id="70" name="TextBox 69"/>
          <p:cNvSpPr txBox="1"/>
          <p:nvPr/>
        </p:nvSpPr>
        <p:spPr>
          <a:xfrm>
            <a:off x="2079165" y="3696462"/>
            <a:ext cx="1611630" cy="202043"/>
          </a:xfrm>
          <a:prstGeom prst="rect">
            <a:avLst/>
          </a:prstGeom>
          <a:noFill/>
        </p:spPr>
        <p:txBody>
          <a:bodyPr wrap="square">
            <a:spAutoFit/>
          </a:bodyPr>
          <a:lstStyle/>
          <a:p>
            <a:pPr algn="l"/>
            <a:r>
              <a:rPr sz="713" b="1">
                <a:solidFill>
                  <a:srgbClr val="FFFFFF"/>
                </a:solidFill>
                <a:latin typeface="Times New Roman" panose="02020603050405020304" pitchFamily="18" charset="0"/>
                <a:cs typeface="Times New Roman" panose="02020603050405020304" pitchFamily="18" charset="0"/>
              </a:rPr>
              <a:t>Manual / Spreadsheet</a:t>
            </a:r>
          </a:p>
        </p:txBody>
      </p:sp>
      <p:sp>
        <p:nvSpPr>
          <p:cNvPr id="71" name="Rectangle 70"/>
          <p:cNvSpPr/>
          <p:nvPr/>
        </p:nvSpPr>
        <p:spPr>
          <a:xfrm>
            <a:off x="3725085" y="3669030"/>
            <a:ext cx="1645920" cy="205740"/>
          </a:xfrm>
          <a:prstGeom prst="rect">
            <a:avLst/>
          </a:prstGeom>
          <a:solidFill>
            <a:srgbClr val="1F4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Times New Roman" panose="02020603050405020304" pitchFamily="18" charset="0"/>
              <a:cs typeface="Times New Roman" panose="02020603050405020304" pitchFamily="18" charset="0"/>
            </a:endParaRPr>
          </a:p>
        </p:txBody>
      </p:sp>
      <p:sp>
        <p:nvSpPr>
          <p:cNvPr id="72" name="TextBox 71"/>
          <p:cNvSpPr txBox="1"/>
          <p:nvPr/>
        </p:nvSpPr>
        <p:spPr>
          <a:xfrm>
            <a:off x="3759375" y="3696462"/>
            <a:ext cx="1611630" cy="202043"/>
          </a:xfrm>
          <a:prstGeom prst="rect">
            <a:avLst/>
          </a:prstGeom>
          <a:noFill/>
        </p:spPr>
        <p:txBody>
          <a:bodyPr wrap="square">
            <a:spAutoFit/>
          </a:bodyPr>
          <a:lstStyle/>
          <a:p>
            <a:pPr algn="l"/>
            <a:r>
              <a:rPr sz="713" b="1">
                <a:solidFill>
                  <a:srgbClr val="FFFFFF"/>
                </a:solidFill>
                <a:latin typeface="Times New Roman" panose="02020603050405020304" pitchFamily="18" charset="0"/>
                <a:cs typeface="Times New Roman" panose="02020603050405020304" pitchFamily="18" charset="0"/>
              </a:rPr>
              <a:t>HashiCorp Vault</a:t>
            </a:r>
          </a:p>
        </p:txBody>
      </p:sp>
      <p:sp>
        <p:nvSpPr>
          <p:cNvPr id="73" name="Rectangle 72"/>
          <p:cNvSpPr/>
          <p:nvPr/>
        </p:nvSpPr>
        <p:spPr>
          <a:xfrm>
            <a:off x="5405295" y="3669030"/>
            <a:ext cx="1440180" cy="205740"/>
          </a:xfrm>
          <a:prstGeom prst="rect">
            <a:avLst/>
          </a:prstGeom>
          <a:solidFill>
            <a:srgbClr val="1F4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Times New Roman" panose="02020603050405020304" pitchFamily="18" charset="0"/>
              <a:cs typeface="Times New Roman" panose="02020603050405020304" pitchFamily="18" charset="0"/>
            </a:endParaRPr>
          </a:p>
        </p:txBody>
      </p:sp>
      <p:sp>
        <p:nvSpPr>
          <p:cNvPr id="74" name="TextBox 73"/>
          <p:cNvSpPr txBox="1"/>
          <p:nvPr/>
        </p:nvSpPr>
        <p:spPr>
          <a:xfrm>
            <a:off x="5439586" y="3696462"/>
            <a:ext cx="1405889" cy="202043"/>
          </a:xfrm>
          <a:prstGeom prst="rect">
            <a:avLst/>
          </a:prstGeom>
          <a:noFill/>
        </p:spPr>
        <p:txBody>
          <a:bodyPr wrap="square">
            <a:spAutoFit/>
          </a:bodyPr>
          <a:lstStyle/>
          <a:p>
            <a:pPr algn="l"/>
            <a:r>
              <a:rPr sz="713" b="1">
                <a:solidFill>
                  <a:srgbClr val="FFFFFF"/>
                </a:solidFill>
                <a:latin typeface="Times New Roman" panose="02020603050405020304" pitchFamily="18" charset="0"/>
                <a:cs typeface="Times New Roman" panose="02020603050405020304" pitchFamily="18" charset="0"/>
              </a:rPr>
              <a:t>Azure AD Only</a:t>
            </a:r>
          </a:p>
        </p:txBody>
      </p:sp>
      <p:sp>
        <p:nvSpPr>
          <p:cNvPr id="75" name="Rectangle 74"/>
          <p:cNvSpPr/>
          <p:nvPr/>
        </p:nvSpPr>
        <p:spPr>
          <a:xfrm>
            <a:off x="6879765" y="3669030"/>
            <a:ext cx="1988820" cy="205740"/>
          </a:xfrm>
          <a:prstGeom prst="rect">
            <a:avLst/>
          </a:prstGeom>
          <a:solidFill>
            <a:srgbClr val="1F4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Times New Roman" panose="02020603050405020304" pitchFamily="18" charset="0"/>
              <a:cs typeface="Times New Roman" panose="02020603050405020304" pitchFamily="18" charset="0"/>
            </a:endParaRPr>
          </a:p>
        </p:txBody>
      </p:sp>
      <p:sp>
        <p:nvSpPr>
          <p:cNvPr id="76" name="TextBox 75"/>
          <p:cNvSpPr txBox="1"/>
          <p:nvPr/>
        </p:nvSpPr>
        <p:spPr>
          <a:xfrm>
            <a:off x="6914055" y="3696462"/>
            <a:ext cx="1954530" cy="202043"/>
          </a:xfrm>
          <a:prstGeom prst="rect">
            <a:avLst/>
          </a:prstGeom>
          <a:noFill/>
        </p:spPr>
        <p:txBody>
          <a:bodyPr wrap="square">
            <a:spAutoFit/>
          </a:bodyPr>
          <a:lstStyle/>
          <a:p>
            <a:pPr algn="l"/>
            <a:r>
              <a:rPr sz="713" b="1">
                <a:solidFill>
                  <a:srgbClr val="FFFFFF"/>
                </a:solidFill>
                <a:latin typeface="Times New Roman" panose="02020603050405020304" pitchFamily="18" charset="0"/>
                <a:cs typeface="Times New Roman" panose="02020603050405020304" pitchFamily="18" charset="0"/>
              </a:rPr>
              <a:t>This Platform</a:t>
            </a:r>
          </a:p>
        </p:txBody>
      </p:sp>
      <p:sp>
        <p:nvSpPr>
          <p:cNvPr id="77" name="Rectangle 76"/>
          <p:cNvSpPr/>
          <p:nvPr/>
        </p:nvSpPr>
        <p:spPr>
          <a:xfrm>
            <a:off x="261795" y="3895344"/>
            <a:ext cx="1748790" cy="17830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Times New Roman" panose="02020603050405020304" pitchFamily="18" charset="0"/>
              <a:cs typeface="Times New Roman" panose="02020603050405020304" pitchFamily="18" charset="0"/>
            </a:endParaRPr>
          </a:p>
        </p:txBody>
      </p:sp>
      <p:sp>
        <p:nvSpPr>
          <p:cNvPr id="78" name="TextBox 77"/>
          <p:cNvSpPr txBox="1"/>
          <p:nvPr/>
        </p:nvSpPr>
        <p:spPr>
          <a:xfrm>
            <a:off x="296085" y="3915918"/>
            <a:ext cx="1714500" cy="190501"/>
          </a:xfrm>
          <a:prstGeom prst="rect">
            <a:avLst/>
          </a:prstGeom>
          <a:noFill/>
        </p:spPr>
        <p:txBody>
          <a:bodyPr wrap="square">
            <a:spAutoFit/>
          </a:bodyPr>
          <a:lstStyle/>
          <a:p>
            <a:pPr algn="l"/>
            <a:r>
              <a:rPr sz="638">
                <a:solidFill>
                  <a:srgbClr val="94A3B8"/>
                </a:solidFill>
                <a:latin typeface="Times New Roman" panose="02020603050405020304" pitchFamily="18" charset="0"/>
                <a:cs typeface="Times New Roman" panose="02020603050405020304" pitchFamily="18" charset="0"/>
              </a:rPr>
              <a:t>Multi-cloud NHI discovery</a:t>
            </a:r>
          </a:p>
        </p:txBody>
      </p:sp>
      <p:sp>
        <p:nvSpPr>
          <p:cNvPr id="79" name="Rectangle 78"/>
          <p:cNvSpPr/>
          <p:nvPr/>
        </p:nvSpPr>
        <p:spPr>
          <a:xfrm>
            <a:off x="2044875" y="3895344"/>
            <a:ext cx="1645920" cy="17830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Times New Roman" panose="02020603050405020304" pitchFamily="18" charset="0"/>
              <a:cs typeface="Times New Roman" panose="02020603050405020304" pitchFamily="18" charset="0"/>
            </a:endParaRPr>
          </a:p>
        </p:txBody>
      </p:sp>
      <p:sp>
        <p:nvSpPr>
          <p:cNvPr id="80" name="TextBox 79"/>
          <p:cNvSpPr txBox="1"/>
          <p:nvPr/>
        </p:nvSpPr>
        <p:spPr>
          <a:xfrm>
            <a:off x="2079165" y="3915918"/>
            <a:ext cx="1611630" cy="190501"/>
          </a:xfrm>
          <a:prstGeom prst="rect">
            <a:avLst/>
          </a:prstGeom>
          <a:noFill/>
        </p:spPr>
        <p:txBody>
          <a:bodyPr wrap="square">
            <a:spAutoFit/>
          </a:bodyPr>
          <a:lstStyle/>
          <a:p>
            <a:pPr algn="l"/>
            <a:r>
              <a:rPr sz="638">
                <a:solidFill>
                  <a:srgbClr val="EF4444"/>
                </a:solidFill>
                <a:latin typeface="Times New Roman" panose="02020603050405020304" pitchFamily="18" charset="0"/>
                <a:cs typeface="Times New Roman" panose="02020603050405020304" pitchFamily="18" charset="0"/>
              </a:rPr>
              <a:t>✗</a:t>
            </a:r>
          </a:p>
        </p:txBody>
      </p:sp>
      <p:sp>
        <p:nvSpPr>
          <p:cNvPr id="81" name="Rectangle 80"/>
          <p:cNvSpPr/>
          <p:nvPr/>
        </p:nvSpPr>
        <p:spPr>
          <a:xfrm>
            <a:off x="3725085" y="3895344"/>
            <a:ext cx="1645920" cy="17830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Times New Roman" panose="02020603050405020304" pitchFamily="18" charset="0"/>
              <a:cs typeface="Times New Roman" panose="02020603050405020304" pitchFamily="18" charset="0"/>
            </a:endParaRPr>
          </a:p>
        </p:txBody>
      </p:sp>
      <p:sp>
        <p:nvSpPr>
          <p:cNvPr id="82" name="TextBox 81"/>
          <p:cNvSpPr txBox="1"/>
          <p:nvPr/>
        </p:nvSpPr>
        <p:spPr>
          <a:xfrm>
            <a:off x="3759375" y="3915918"/>
            <a:ext cx="1611630" cy="190501"/>
          </a:xfrm>
          <a:prstGeom prst="rect">
            <a:avLst/>
          </a:prstGeom>
          <a:noFill/>
        </p:spPr>
        <p:txBody>
          <a:bodyPr wrap="square">
            <a:spAutoFit/>
          </a:bodyPr>
          <a:lstStyle/>
          <a:p>
            <a:pPr algn="l"/>
            <a:r>
              <a:rPr sz="638">
                <a:solidFill>
                  <a:srgbClr val="94A3B8"/>
                </a:solidFill>
                <a:latin typeface="Times New Roman" panose="02020603050405020304" pitchFamily="18" charset="0"/>
                <a:cs typeface="Times New Roman" panose="02020603050405020304" pitchFamily="18" charset="0"/>
              </a:rPr>
              <a:t>Partial</a:t>
            </a:r>
          </a:p>
        </p:txBody>
      </p:sp>
      <p:sp>
        <p:nvSpPr>
          <p:cNvPr id="83" name="Rectangle 82"/>
          <p:cNvSpPr/>
          <p:nvPr/>
        </p:nvSpPr>
        <p:spPr>
          <a:xfrm>
            <a:off x="5405295" y="3895344"/>
            <a:ext cx="1440180" cy="17830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Times New Roman" panose="02020603050405020304" pitchFamily="18" charset="0"/>
              <a:cs typeface="Times New Roman" panose="02020603050405020304" pitchFamily="18" charset="0"/>
            </a:endParaRPr>
          </a:p>
        </p:txBody>
      </p:sp>
      <p:sp>
        <p:nvSpPr>
          <p:cNvPr id="84" name="TextBox 83"/>
          <p:cNvSpPr txBox="1"/>
          <p:nvPr/>
        </p:nvSpPr>
        <p:spPr>
          <a:xfrm>
            <a:off x="5439586" y="3915918"/>
            <a:ext cx="1405889" cy="190501"/>
          </a:xfrm>
          <a:prstGeom prst="rect">
            <a:avLst/>
          </a:prstGeom>
          <a:noFill/>
        </p:spPr>
        <p:txBody>
          <a:bodyPr wrap="square">
            <a:spAutoFit/>
          </a:bodyPr>
          <a:lstStyle/>
          <a:p>
            <a:pPr algn="l"/>
            <a:r>
              <a:rPr sz="638">
                <a:solidFill>
                  <a:srgbClr val="94A3B8"/>
                </a:solidFill>
                <a:latin typeface="Times New Roman" panose="02020603050405020304" pitchFamily="18" charset="0"/>
                <a:cs typeface="Times New Roman" panose="02020603050405020304" pitchFamily="18" charset="0"/>
              </a:rPr>
              <a:t>Azure only</a:t>
            </a:r>
          </a:p>
        </p:txBody>
      </p:sp>
      <p:sp>
        <p:nvSpPr>
          <p:cNvPr id="85" name="Rectangle 84"/>
          <p:cNvSpPr/>
          <p:nvPr/>
        </p:nvSpPr>
        <p:spPr>
          <a:xfrm>
            <a:off x="6879765" y="3895344"/>
            <a:ext cx="1988820" cy="17830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Times New Roman" panose="02020603050405020304" pitchFamily="18" charset="0"/>
              <a:cs typeface="Times New Roman" panose="02020603050405020304" pitchFamily="18" charset="0"/>
            </a:endParaRPr>
          </a:p>
        </p:txBody>
      </p:sp>
      <p:sp>
        <p:nvSpPr>
          <p:cNvPr id="86" name="TextBox 85"/>
          <p:cNvSpPr txBox="1"/>
          <p:nvPr/>
        </p:nvSpPr>
        <p:spPr>
          <a:xfrm>
            <a:off x="6914055" y="3915918"/>
            <a:ext cx="1954530" cy="190501"/>
          </a:xfrm>
          <a:prstGeom prst="rect">
            <a:avLst/>
          </a:prstGeom>
          <a:noFill/>
        </p:spPr>
        <p:txBody>
          <a:bodyPr wrap="square">
            <a:spAutoFit/>
          </a:bodyPr>
          <a:lstStyle/>
          <a:p>
            <a:pPr algn="l"/>
            <a:r>
              <a:rPr sz="638">
                <a:solidFill>
                  <a:srgbClr val="22C55E"/>
                </a:solidFill>
                <a:latin typeface="Times New Roman" panose="02020603050405020304" pitchFamily="18" charset="0"/>
                <a:cs typeface="Times New Roman" panose="02020603050405020304" pitchFamily="18" charset="0"/>
              </a:rPr>
              <a:t>✔ GitHub + Azure + TLS</a:t>
            </a:r>
          </a:p>
        </p:txBody>
      </p:sp>
      <p:sp>
        <p:nvSpPr>
          <p:cNvPr id="87" name="Rectangle 86"/>
          <p:cNvSpPr/>
          <p:nvPr/>
        </p:nvSpPr>
        <p:spPr>
          <a:xfrm>
            <a:off x="261795" y="4080509"/>
            <a:ext cx="1748790" cy="178308"/>
          </a:xfrm>
          <a:prstGeom prst="rect">
            <a:avLst/>
          </a:prstGeom>
          <a:solidFill>
            <a:srgbClr val="0A19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Times New Roman" panose="02020603050405020304" pitchFamily="18" charset="0"/>
              <a:cs typeface="Times New Roman" panose="02020603050405020304" pitchFamily="18" charset="0"/>
            </a:endParaRPr>
          </a:p>
        </p:txBody>
      </p:sp>
      <p:sp>
        <p:nvSpPr>
          <p:cNvPr id="88" name="TextBox 87"/>
          <p:cNvSpPr txBox="1"/>
          <p:nvPr/>
        </p:nvSpPr>
        <p:spPr>
          <a:xfrm>
            <a:off x="296085" y="4101084"/>
            <a:ext cx="1714500" cy="190501"/>
          </a:xfrm>
          <a:prstGeom prst="rect">
            <a:avLst/>
          </a:prstGeom>
          <a:noFill/>
        </p:spPr>
        <p:txBody>
          <a:bodyPr wrap="square">
            <a:spAutoFit/>
          </a:bodyPr>
          <a:lstStyle/>
          <a:p>
            <a:pPr algn="l"/>
            <a:r>
              <a:rPr sz="638">
                <a:solidFill>
                  <a:srgbClr val="94A3B8"/>
                </a:solidFill>
                <a:latin typeface="Times New Roman" panose="02020603050405020304" pitchFamily="18" charset="0"/>
                <a:cs typeface="Times New Roman" panose="02020603050405020304" pitchFamily="18" charset="0"/>
              </a:rPr>
              <a:t>Automated rotation</a:t>
            </a:r>
          </a:p>
        </p:txBody>
      </p:sp>
      <p:sp>
        <p:nvSpPr>
          <p:cNvPr id="89" name="Rectangle 88"/>
          <p:cNvSpPr/>
          <p:nvPr/>
        </p:nvSpPr>
        <p:spPr>
          <a:xfrm>
            <a:off x="2044875" y="4080509"/>
            <a:ext cx="1645920" cy="178308"/>
          </a:xfrm>
          <a:prstGeom prst="rect">
            <a:avLst/>
          </a:prstGeom>
          <a:solidFill>
            <a:srgbClr val="0A19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Times New Roman" panose="02020603050405020304" pitchFamily="18" charset="0"/>
              <a:cs typeface="Times New Roman" panose="02020603050405020304" pitchFamily="18" charset="0"/>
            </a:endParaRPr>
          </a:p>
        </p:txBody>
      </p:sp>
      <p:sp>
        <p:nvSpPr>
          <p:cNvPr id="90" name="TextBox 89"/>
          <p:cNvSpPr txBox="1"/>
          <p:nvPr/>
        </p:nvSpPr>
        <p:spPr>
          <a:xfrm>
            <a:off x="2079165" y="4101084"/>
            <a:ext cx="1611630" cy="190501"/>
          </a:xfrm>
          <a:prstGeom prst="rect">
            <a:avLst/>
          </a:prstGeom>
          <a:noFill/>
        </p:spPr>
        <p:txBody>
          <a:bodyPr wrap="square">
            <a:spAutoFit/>
          </a:bodyPr>
          <a:lstStyle/>
          <a:p>
            <a:pPr algn="l"/>
            <a:r>
              <a:rPr sz="638">
                <a:solidFill>
                  <a:srgbClr val="EF4444"/>
                </a:solidFill>
                <a:latin typeface="Times New Roman" panose="02020603050405020304" pitchFamily="18" charset="0"/>
                <a:cs typeface="Times New Roman" panose="02020603050405020304" pitchFamily="18" charset="0"/>
              </a:rPr>
              <a:t>✗</a:t>
            </a:r>
          </a:p>
        </p:txBody>
      </p:sp>
      <p:sp>
        <p:nvSpPr>
          <p:cNvPr id="91" name="Rectangle 90"/>
          <p:cNvSpPr/>
          <p:nvPr/>
        </p:nvSpPr>
        <p:spPr>
          <a:xfrm>
            <a:off x="3725085" y="4080509"/>
            <a:ext cx="1645920" cy="178308"/>
          </a:xfrm>
          <a:prstGeom prst="rect">
            <a:avLst/>
          </a:prstGeom>
          <a:solidFill>
            <a:srgbClr val="0A19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Times New Roman" panose="02020603050405020304" pitchFamily="18" charset="0"/>
              <a:cs typeface="Times New Roman" panose="02020603050405020304" pitchFamily="18" charset="0"/>
            </a:endParaRPr>
          </a:p>
        </p:txBody>
      </p:sp>
      <p:sp>
        <p:nvSpPr>
          <p:cNvPr id="92" name="TextBox 91"/>
          <p:cNvSpPr txBox="1"/>
          <p:nvPr/>
        </p:nvSpPr>
        <p:spPr>
          <a:xfrm>
            <a:off x="3759375" y="4101084"/>
            <a:ext cx="1611630" cy="190501"/>
          </a:xfrm>
          <a:prstGeom prst="rect">
            <a:avLst/>
          </a:prstGeom>
          <a:noFill/>
        </p:spPr>
        <p:txBody>
          <a:bodyPr wrap="square">
            <a:spAutoFit/>
          </a:bodyPr>
          <a:lstStyle/>
          <a:p>
            <a:pPr algn="l"/>
            <a:r>
              <a:rPr sz="638">
                <a:solidFill>
                  <a:srgbClr val="22C55E"/>
                </a:solidFill>
                <a:latin typeface="Times New Roman" panose="02020603050405020304" pitchFamily="18" charset="0"/>
                <a:cs typeface="Times New Roman" panose="02020603050405020304" pitchFamily="18" charset="0"/>
              </a:rPr>
              <a:t>✔</a:t>
            </a:r>
          </a:p>
        </p:txBody>
      </p:sp>
      <p:sp>
        <p:nvSpPr>
          <p:cNvPr id="93" name="Rectangle 92"/>
          <p:cNvSpPr/>
          <p:nvPr/>
        </p:nvSpPr>
        <p:spPr>
          <a:xfrm>
            <a:off x="5405295" y="4080509"/>
            <a:ext cx="1440180" cy="178308"/>
          </a:xfrm>
          <a:prstGeom prst="rect">
            <a:avLst/>
          </a:prstGeom>
          <a:solidFill>
            <a:srgbClr val="0A19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Times New Roman" panose="02020603050405020304" pitchFamily="18" charset="0"/>
              <a:cs typeface="Times New Roman" panose="02020603050405020304" pitchFamily="18" charset="0"/>
            </a:endParaRPr>
          </a:p>
        </p:txBody>
      </p:sp>
      <p:sp>
        <p:nvSpPr>
          <p:cNvPr id="94" name="TextBox 93"/>
          <p:cNvSpPr txBox="1"/>
          <p:nvPr/>
        </p:nvSpPr>
        <p:spPr>
          <a:xfrm>
            <a:off x="5439586" y="4101084"/>
            <a:ext cx="1405889" cy="190501"/>
          </a:xfrm>
          <a:prstGeom prst="rect">
            <a:avLst/>
          </a:prstGeom>
          <a:noFill/>
        </p:spPr>
        <p:txBody>
          <a:bodyPr wrap="square">
            <a:spAutoFit/>
          </a:bodyPr>
          <a:lstStyle/>
          <a:p>
            <a:pPr algn="l"/>
            <a:r>
              <a:rPr sz="638">
                <a:solidFill>
                  <a:srgbClr val="94A3B8"/>
                </a:solidFill>
                <a:latin typeface="Times New Roman" panose="02020603050405020304" pitchFamily="18" charset="0"/>
                <a:cs typeface="Times New Roman" panose="02020603050405020304" pitchFamily="18" charset="0"/>
              </a:rPr>
              <a:t>Limited</a:t>
            </a:r>
          </a:p>
        </p:txBody>
      </p:sp>
      <p:sp>
        <p:nvSpPr>
          <p:cNvPr id="95" name="Rectangle 94"/>
          <p:cNvSpPr/>
          <p:nvPr/>
        </p:nvSpPr>
        <p:spPr>
          <a:xfrm>
            <a:off x="6879765" y="4080509"/>
            <a:ext cx="1988820" cy="178308"/>
          </a:xfrm>
          <a:prstGeom prst="rect">
            <a:avLst/>
          </a:prstGeom>
          <a:solidFill>
            <a:srgbClr val="0A19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Times New Roman" panose="02020603050405020304" pitchFamily="18" charset="0"/>
              <a:cs typeface="Times New Roman" panose="02020603050405020304" pitchFamily="18" charset="0"/>
            </a:endParaRPr>
          </a:p>
        </p:txBody>
      </p:sp>
      <p:sp>
        <p:nvSpPr>
          <p:cNvPr id="96" name="TextBox 95"/>
          <p:cNvSpPr txBox="1"/>
          <p:nvPr/>
        </p:nvSpPr>
        <p:spPr>
          <a:xfrm>
            <a:off x="6914055" y="4101084"/>
            <a:ext cx="1954530" cy="190501"/>
          </a:xfrm>
          <a:prstGeom prst="rect">
            <a:avLst/>
          </a:prstGeom>
          <a:noFill/>
        </p:spPr>
        <p:txBody>
          <a:bodyPr wrap="square">
            <a:spAutoFit/>
          </a:bodyPr>
          <a:lstStyle/>
          <a:p>
            <a:pPr algn="l"/>
            <a:r>
              <a:rPr sz="638">
                <a:solidFill>
                  <a:srgbClr val="22C55E"/>
                </a:solidFill>
                <a:latin typeface="Times New Roman" panose="02020603050405020304" pitchFamily="18" charset="0"/>
                <a:cs typeface="Times New Roman" panose="02020603050405020304" pitchFamily="18" charset="0"/>
              </a:rPr>
              <a:t>✔ Keys + Secrets + API</a:t>
            </a:r>
          </a:p>
        </p:txBody>
      </p:sp>
      <p:sp>
        <p:nvSpPr>
          <p:cNvPr id="97" name="Rectangle 96"/>
          <p:cNvSpPr/>
          <p:nvPr/>
        </p:nvSpPr>
        <p:spPr>
          <a:xfrm>
            <a:off x="261795" y="4265675"/>
            <a:ext cx="1748790" cy="17830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Times New Roman" panose="02020603050405020304" pitchFamily="18" charset="0"/>
              <a:cs typeface="Times New Roman" panose="02020603050405020304" pitchFamily="18" charset="0"/>
            </a:endParaRPr>
          </a:p>
        </p:txBody>
      </p:sp>
      <p:sp>
        <p:nvSpPr>
          <p:cNvPr id="98" name="TextBox 97"/>
          <p:cNvSpPr txBox="1"/>
          <p:nvPr/>
        </p:nvSpPr>
        <p:spPr>
          <a:xfrm>
            <a:off x="296085" y="4286250"/>
            <a:ext cx="1714500" cy="190501"/>
          </a:xfrm>
          <a:prstGeom prst="rect">
            <a:avLst/>
          </a:prstGeom>
          <a:noFill/>
        </p:spPr>
        <p:txBody>
          <a:bodyPr wrap="square">
            <a:spAutoFit/>
          </a:bodyPr>
          <a:lstStyle/>
          <a:p>
            <a:pPr algn="l"/>
            <a:r>
              <a:rPr sz="638">
                <a:solidFill>
                  <a:srgbClr val="94A3B8"/>
                </a:solidFill>
                <a:latin typeface="Times New Roman" panose="02020603050405020304" pitchFamily="18" charset="0"/>
                <a:cs typeface="Times New Roman" panose="02020603050405020304" pitchFamily="18" charset="0"/>
              </a:rPr>
              <a:t>ML anomaly detection</a:t>
            </a:r>
          </a:p>
        </p:txBody>
      </p:sp>
      <p:sp>
        <p:nvSpPr>
          <p:cNvPr id="99" name="Rectangle 98"/>
          <p:cNvSpPr/>
          <p:nvPr/>
        </p:nvSpPr>
        <p:spPr>
          <a:xfrm>
            <a:off x="2044875" y="4265675"/>
            <a:ext cx="1645920" cy="17830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Times New Roman" panose="02020603050405020304" pitchFamily="18" charset="0"/>
              <a:cs typeface="Times New Roman" panose="02020603050405020304" pitchFamily="18" charset="0"/>
            </a:endParaRPr>
          </a:p>
        </p:txBody>
      </p:sp>
      <p:sp>
        <p:nvSpPr>
          <p:cNvPr id="100" name="TextBox 99"/>
          <p:cNvSpPr txBox="1"/>
          <p:nvPr/>
        </p:nvSpPr>
        <p:spPr>
          <a:xfrm>
            <a:off x="2079165" y="4286250"/>
            <a:ext cx="1611630" cy="190501"/>
          </a:xfrm>
          <a:prstGeom prst="rect">
            <a:avLst/>
          </a:prstGeom>
          <a:noFill/>
        </p:spPr>
        <p:txBody>
          <a:bodyPr wrap="square">
            <a:spAutoFit/>
          </a:bodyPr>
          <a:lstStyle/>
          <a:p>
            <a:pPr algn="l"/>
            <a:r>
              <a:rPr sz="638">
                <a:solidFill>
                  <a:srgbClr val="EF4444"/>
                </a:solidFill>
                <a:latin typeface="Times New Roman" panose="02020603050405020304" pitchFamily="18" charset="0"/>
                <a:cs typeface="Times New Roman" panose="02020603050405020304" pitchFamily="18" charset="0"/>
              </a:rPr>
              <a:t>✗</a:t>
            </a:r>
          </a:p>
        </p:txBody>
      </p:sp>
      <p:sp>
        <p:nvSpPr>
          <p:cNvPr id="101" name="Rectangle 100"/>
          <p:cNvSpPr/>
          <p:nvPr/>
        </p:nvSpPr>
        <p:spPr>
          <a:xfrm>
            <a:off x="3725085" y="4265675"/>
            <a:ext cx="1645920" cy="17830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Times New Roman" panose="02020603050405020304" pitchFamily="18" charset="0"/>
              <a:cs typeface="Times New Roman" panose="02020603050405020304" pitchFamily="18" charset="0"/>
            </a:endParaRPr>
          </a:p>
        </p:txBody>
      </p:sp>
      <p:sp>
        <p:nvSpPr>
          <p:cNvPr id="102" name="TextBox 101"/>
          <p:cNvSpPr txBox="1"/>
          <p:nvPr/>
        </p:nvSpPr>
        <p:spPr>
          <a:xfrm>
            <a:off x="3759375" y="4286250"/>
            <a:ext cx="1611630" cy="190501"/>
          </a:xfrm>
          <a:prstGeom prst="rect">
            <a:avLst/>
          </a:prstGeom>
          <a:noFill/>
        </p:spPr>
        <p:txBody>
          <a:bodyPr wrap="square">
            <a:spAutoFit/>
          </a:bodyPr>
          <a:lstStyle/>
          <a:p>
            <a:pPr algn="l"/>
            <a:r>
              <a:rPr sz="638">
                <a:solidFill>
                  <a:srgbClr val="EF4444"/>
                </a:solidFill>
                <a:latin typeface="Times New Roman" panose="02020603050405020304" pitchFamily="18" charset="0"/>
                <a:cs typeface="Times New Roman" panose="02020603050405020304" pitchFamily="18" charset="0"/>
              </a:rPr>
              <a:t>✗</a:t>
            </a:r>
          </a:p>
        </p:txBody>
      </p:sp>
      <p:sp>
        <p:nvSpPr>
          <p:cNvPr id="103" name="Rectangle 102"/>
          <p:cNvSpPr/>
          <p:nvPr/>
        </p:nvSpPr>
        <p:spPr>
          <a:xfrm>
            <a:off x="5405295" y="4265675"/>
            <a:ext cx="1440180" cy="17830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Times New Roman" panose="02020603050405020304" pitchFamily="18" charset="0"/>
              <a:cs typeface="Times New Roman" panose="02020603050405020304" pitchFamily="18" charset="0"/>
            </a:endParaRPr>
          </a:p>
        </p:txBody>
      </p:sp>
      <p:sp>
        <p:nvSpPr>
          <p:cNvPr id="104" name="TextBox 103"/>
          <p:cNvSpPr txBox="1"/>
          <p:nvPr/>
        </p:nvSpPr>
        <p:spPr>
          <a:xfrm>
            <a:off x="5439586" y="4286250"/>
            <a:ext cx="1405889" cy="190501"/>
          </a:xfrm>
          <a:prstGeom prst="rect">
            <a:avLst/>
          </a:prstGeom>
          <a:noFill/>
        </p:spPr>
        <p:txBody>
          <a:bodyPr wrap="square">
            <a:spAutoFit/>
          </a:bodyPr>
          <a:lstStyle/>
          <a:p>
            <a:pPr algn="l"/>
            <a:r>
              <a:rPr sz="638">
                <a:solidFill>
                  <a:srgbClr val="EF4444"/>
                </a:solidFill>
                <a:latin typeface="Times New Roman" panose="02020603050405020304" pitchFamily="18" charset="0"/>
                <a:cs typeface="Times New Roman" panose="02020603050405020304" pitchFamily="18" charset="0"/>
              </a:rPr>
              <a:t>✗</a:t>
            </a:r>
          </a:p>
        </p:txBody>
      </p:sp>
      <p:sp>
        <p:nvSpPr>
          <p:cNvPr id="105" name="Rectangle 104"/>
          <p:cNvSpPr/>
          <p:nvPr/>
        </p:nvSpPr>
        <p:spPr>
          <a:xfrm>
            <a:off x="6879765" y="4265675"/>
            <a:ext cx="1988820" cy="17830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Times New Roman" panose="02020603050405020304" pitchFamily="18" charset="0"/>
              <a:cs typeface="Times New Roman" panose="02020603050405020304" pitchFamily="18" charset="0"/>
            </a:endParaRPr>
          </a:p>
        </p:txBody>
      </p:sp>
      <p:sp>
        <p:nvSpPr>
          <p:cNvPr id="106" name="TextBox 105"/>
          <p:cNvSpPr txBox="1"/>
          <p:nvPr/>
        </p:nvSpPr>
        <p:spPr>
          <a:xfrm>
            <a:off x="6914055" y="4286250"/>
            <a:ext cx="1954530" cy="190501"/>
          </a:xfrm>
          <a:prstGeom prst="rect">
            <a:avLst/>
          </a:prstGeom>
          <a:noFill/>
        </p:spPr>
        <p:txBody>
          <a:bodyPr wrap="square">
            <a:spAutoFit/>
          </a:bodyPr>
          <a:lstStyle/>
          <a:p>
            <a:pPr algn="l"/>
            <a:r>
              <a:rPr sz="638">
                <a:solidFill>
                  <a:srgbClr val="22C55E"/>
                </a:solidFill>
                <a:latin typeface="Times New Roman" panose="02020603050405020304" pitchFamily="18" charset="0"/>
                <a:cs typeface="Times New Roman" panose="02020603050405020304" pitchFamily="18" charset="0"/>
              </a:rPr>
              <a:t>✔ Isolation Forest</a:t>
            </a:r>
          </a:p>
        </p:txBody>
      </p:sp>
      <p:sp>
        <p:nvSpPr>
          <p:cNvPr id="107" name="Rectangle 106"/>
          <p:cNvSpPr/>
          <p:nvPr/>
        </p:nvSpPr>
        <p:spPr>
          <a:xfrm>
            <a:off x="261795" y="4450841"/>
            <a:ext cx="1748790" cy="178308"/>
          </a:xfrm>
          <a:prstGeom prst="rect">
            <a:avLst/>
          </a:prstGeom>
          <a:solidFill>
            <a:srgbClr val="0A19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Times New Roman" panose="02020603050405020304" pitchFamily="18" charset="0"/>
              <a:cs typeface="Times New Roman" panose="02020603050405020304" pitchFamily="18" charset="0"/>
            </a:endParaRPr>
          </a:p>
        </p:txBody>
      </p:sp>
      <p:sp>
        <p:nvSpPr>
          <p:cNvPr id="108" name="TextBox 107"/>
          <p:cNvSpPr txBox="1"/>
          <p:nvPr/>
        </p:nvSpPr>
        <p:spPr>
          <a:xfrm>
            <a:off x="296085" y="4471416"/>
            <a:ext cx="1714500" cy="190501"/>
          </a:xfrm>
          <a:prstGeom prst="rect">
            <a:avLst/>
          </a:prstGeom>
          <a:noFill/>
        </p:spPr>
        <p:txBody>
          <a:bodyPr wrap="square">
            <a:spAutoFit/>
          </a:bodyPr>
          <a:lstStyle/>
          <a:p>
            <a:pPr algn="l"/>
            <a:r>
              <a:rPr sz="638">
                <a:solidFill>
                  <a:srgbClr val="94A3B8"/>
                </a:solidFill>
                <a:latin typeface="Times New Roman" panose="02020603050405020304" pitchFamily="18" charset="0"/>
                <a:cs typeface="Times New Roman" panose="02020603050405020304" pitchFamily="18" charset="0"/>
              </a:rPr>
              <a:t>Compliance mapping (SOC2/ISO)</a:t>
            </a:r>
          </a:p>
        </p:txBody>
      </p:sp>
      <p:sp>
        <p:nvSpPr>
          <p:cNvPr id="109" name="Rectangle 108"/>
          <p:cNvSpPr/>
          <p:nvPr/>
        </p:nvSpPr>
        <p:spPr>
          <a:xfrm>
            <a:off x="2044875" y="4450841"/>
            <a:ext cx="1645920" cy="178308"/>
          </a:xfrm>
          <a:prstGeom prst="rect">
            <a:avLst/>
          </a:prstGeom>
          <a:solidFill>
            <a:srgbClr val="0A19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Times New Roman" panose="02020603050405020304" pitchFamily="18" charset="0"/>
              <a:cs typeface="Times New Roman" panose="02020603050405020304" pitchFamily="18" charset="0"/>
            </a:endParaRPr>
          </a:p>
        </p:txBody>
      </p:sp>
      <p:sp>
        <p:nvSpPr>
          <p:cNvPr id="110" name="TextBox 109"/>
          <p:cNvSpPr txBox="1"/>
          <p:nvPr/>
        </p:nvSpPr>
        <p:spPr>
          <a:xfrm>
            <a:off x="2079165" y="4471416"/>
            <a:ext cx="1611630" cy="190501"/>
          </a:xfrm>
          <a:prstGeom prst="rect">
            <a:avLst/>
          </a:prstGeom>
          <a:noFill/>
        </p:spPr>
        <p:txBody>
          <a:bodyPr wrap="square">
            <a:spAutoFit/>
          </a:bodyPr>
          <a:lstStyle/>
          <a:p>
            <a:pPr algn="l"/>
            <a:r>
              <a:rPr sz="638">
                <a:solidFill>
                  <a:srgbClr val="EF4444"/>
                </a:solidFill>
                <a:latin typeface="Times New Roman" panose="02020603050405020304" pitchFamily="18" charset="0"/>
                <a:cs typeface="Times New Roman" panose="02020603050405020304" pitchFamily="18" charset="0"/>
              </a:rPr>
              <a:t>✗</a:t>
            </a:r>
          </a:p>
        </p:txBody>
      </p:sp>
      <p:sp>
        <p:nvSpPr>
          <p:cNvPr id="111" name="Rectangle 110"/>
          <p:cNvSpPr/>
          <p:nvPr/>
        </p:nvSpPr>
        <p:spPr>
          <a:xfrm>
            <a:off x="3725085" y="4450841"/>
            <a:ext cx="1645920" cy="178308"/>
          </a:xfrm>
          <a:prstGeom prst="rect">
            <a:avLst/>
          </a:prstGeom>
          <a:solidFill>
            <a:srgbClr val="0A19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Times New Roman" panose="02020603050405020304" pitchFamily="18" charset="0"/>
              <a:cs typeface="Times New Roman" panose="02020603050405020304" pitchFamily="18" charset="0"/>
            </a:endParaRPr>
          </a:p>
        </p:txBody>
      </p:sp>
      <p:sp>
        <p:nvSpPr>
          <p:cNvPr id="112" name="TextBox 111"/>
          <p:cNvSpPr txBox="1"/>
          <p:nvPr/>
        </p:nvSpPr>
        <p:spPr>
          <a:xfrm>
            <a:off x="3759375" y="4471416"/>
            <a:ext cx="1611630" cy="190501"/>
          </a:xfrm>
          <a:prstGeom prst="rect">
            <a:avLst/>
          </a:prstGeom>
          <a:noFill/>
        </p:spPr>
        <p:txBody>
          <a:bodyPr wrap="square">
            <a:spAutoFit/>
          </a:bodyPr>
          <a:lstStyle/>
          <a:p>
            <a:pPr algn="l"/>
            <a:r>
              <a:rPr sz="638">
                <a:solidFill>
                  <a:srgbClr val="94A3B8"/>
                </a:solidFill>
                <a:latin typeface="Times New Roman" panose="02020603050405020304" pitchFamily="18" charset="0"/>
                <a:cs typeface="Times New Roman" panose="02020603050405020304" pitchFamily="18" charset="0"/>
              </a:rPr>
              <a:t>Partial</a:t>
            </a:r>
          </a:p>
        </p:txBody>
      </p:sp>
      <p:sp>
        <p:nvSpPr>
          <p:cNvPr id="113" name="Rectangle 112"/>
          <p:cNvSpPr/>
          <p:nvPr/>
        </p:nvSpPr>
        <p:spPr>
          <a:xfrm>
            <a:off x="5405295" y="4450841"/>
            <a:ext cx="1440180" cy="178308"/>
          </a:xfrm>
          <a:prstGeom prst="rect">
            <a:avLst/>
          </a:prstGeom>
          <a:solidFill>
            <a:srgbClr val="0A19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Times New Roman" panose="02020603050405020304" pitchFamily="18" charset="0"/>
              <a:cs typeface="Times New Roman" panose="02020603050405020304" pitchFamily="18" charset="0"/>
            </a:endParaRPr>
          </a:p>
        </p:txBody>
      </p:sp>
      <p:sp>
        <p:nvSpPr>
          <p:cNvPr id="114" name="TextBox 113"/>
          <p:cNvSpPr txBox="1"/>
          <p:nvPr/>
        </p:nvSpPr>
        <p:spPr>
          <a:xfrm>
            <a:off x="5439586" y="4471416"/>
            <a:ext cx="1405889" cy="190501"/>
          </a:xfrm>
          <a:prstGeom prst="rect">
            <a:avLst/>
          </a:prstGeom>
          <a:noFill/>
        </p:spPr>
        <p:txBody>
          <a:bodyPr wrap="square">
            <a:spAutoFit/>
          </a:bodyPr>
          <a:lstStyle/>
          <a:p>
            <a:pPr algn="l"/>
            <a:r>
              <a:rPr sz="638">
                <a:solidFill>
                  <a:srgbClr val="94A3B8"/>
                </a:solidFill>
                <a:latin typeface="Times New Roman" panose="02020603050405020304" pitchFamily="18" charset="0"/>
                <a:cs typeface="Times New Roman" panose="02020603050405020304" pitchFamily="18" charset="0"/>
              </a:rPr>
              <a:t>Partial</a:t>
            </a:r>
          </a:p>
        </p:txBody>
      </p:sp>
      <p:sp>
        <p:nvSpPr>
          <p:cNvPr id="115" name="Rectangle 114"/>
          <p:cNvSpPr/>
          <p:nvPr/>
        </p:nvSpPr>
        <p:spPr>
          <a:xfrm>
            <a:off x="6879765" y="4450841"/>
            <a:ext cx="1988820" cy="178308"/>
          </a:xfrm>
          <a:prstGeom prst="rect">
            <a:avLst/>
          </a:prstGeom>
          <a:solidFill>
            <a:srgbClr val="0A19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Times New Roman" panose="02020603050405020304" pitchFamily="18" charset="0"/>
              <a:cs typeface="Times New Roman" panose="02020603050405020304" pitchFamily="18" charset="0"/>
            </a:endParaRPr>
          </a:p>
        </p:txBody>
      </p:sp>
      <p:sp>
        <p:nvSpPr>
          <p:cNvPr id="116" name="TextBox 115"/>
          <p:cNvSpPr txBox="1"/>
          <p:nvPr/>
        </p:nvSpPr>
        <p:spPr>
          <a:xfrm>
            <a:off x="6914055" y="4471416"/>
            <a:ext cx="1954530" cy="190501"/>
          </a:xfrm>
          <a:prstGeom prst="rect">
            <a:avLst/>
          </a:prstGeom>
          <a:noFill/>
        </p:spPr>
        <p:txBody>
          <a:bodyPr wrap="square">
            <a:spAutoFit/>
          </a:bodyPr>
          <a:lstStyle/>
          <a:p>
            <a:pPr algn="l"/>
            <a:r>
              <a:rPr sz="638">
                <a:solidFill>
                  <a:srgbClr val="22C55E"/>
                </a:solidFill>
                <a:latin typeface="Times New Roman" panose="02020603050405020304" pitchFamily="18" charset="0"/>
                <a:cs typeface="Times New Roman" panose="02020603050405020304" pitchFamily="18" charset="0"/>
              </a:rPr>
              <a:t>✔ 11 rules mapped</a:t>
            </a:r>
          </a:p>
        </p:txBody>
      </p:sp>
      <p:sp>
        <p:nvSpPr>
          <p:cNvPr id="118" name="TextBox 117">
            <a:extLst>
              <a:ext uri="{FF2B5EF4-FFF2-40B4-BE49-F238E27FC236}">
                <a16:creationId xmlns:a16="http://schemas.microsoft.com/office/drawing/2014/main" id="{738A9A06-28E9-392E-3034-8D61D8CA82A7}"/>
              </a:ext>
            </a:extLst>
          </p:cNvPr>
          <p:cNvSpPr txBox="1"/>
          <p:nvPr/>
        </p:nvSpPr>
        <p:spPr>
          <a:xfrm>
            <a:off x="2458641" y="153458"/>
            <a:ext cx="4572000" cy="400110"/>
          </a:xfrm>
          <a:prstGeom prst="rect">
            <a:avLst/>
          </a:prstGeom>
          <a:noFill/>
        </p:spPr>
        <p:txBody>
          <a:bodyPr wrap="square">
            <a:spAutoFit/>
          </a:bodyPr>
          <a:lstStyle/>
          <a:p>
            <a:pPr algn="ctr"/>
            <a:r>
              <a:rPr lang="en-US" sz="2000" b="1" dirty="0">
                <a:solidFill>
                  <a:srgbClr val="083C92"/>
                </a:solidFill>
                <a:latin typeface="Bookman Old Style"/>
                <a:ea typeface="Bookman Old Style"/>
                <a:cs typeface="Bookman Old Style"/>
                <a:sym typeface="Bookman Old Style"/>
              </a:rPr>
              <a:t>Results, Analysis and Discussion</a:t>
            </a: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193216" y="836676"/>
            <a:ext cx="2811779" cy="387477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1" name="Rectangle 10"/>
          <p:cNvSpPr/>
          <p:nvPr/>
        </p:nvSpPr>
        <p:spPr>
          <a:xfrm>
            <a:off x="193216" y="836676"/>
            <a:ext cx="2811779" cy="617220"/>
          </a:xfrm>
          <a:prstGeom prst="rect">
            <a:avLst/>
          </a:prstGeom>
          <a:solidFill>
            <a:srgbClr val="F36D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2" name="TextBox 11"/>
          <p:cNvSpPr txBox="1"/>
          <p:nvPr/>
        </p:nvSpPr>
        <p:spPr>
          <a:xfrm>
            <a:off x="275511" y="877824"/>
            <a:ext cx="822960" cy="346249"/>
          </a:xfrm>
          <a:prstGeom prst="rect">
            <a:avLst/>
          </a:prstGeom>
          <a:noFill/>
        </p:spPr>
        <p:txBody>
          <a:bodyPr wrap="square">
            <a:spAutoFit/>
          </a:bodyPr>
          <a:lstStyle/>
          <a:p>
            <a:pPr algn="l"/>
            <a:r>
              <a:rPr sz="1650" b="1">
                <a:solidFill>
                  <a:srgbClr val="FFFFFF"/>
                </a:solidFill>
                <a:latin typeface="Times New Roman" panose="02020603050405020304" pitchFamily="18" charset="0"/>
                <a:cs typeface="Times New Roman" panose="02020603050405020304" pitchFamily="18" charset="0"/>
              </a:rPr>
              <a:t>SDG 9</a:t>
            </a:r>
          </a:p>
        </p:txBody>
      </p:sp>
      <p:sp>
        <p:nvSpPr>
          <p:cNvPr id="13" name="TextBox 12"/>
          <p:cNvSpPr txBox="1"/>
          <p:nvPr/>
        </p:nvSpPr>
        <p:spPr>
          <a:xfrm>
            <a:off x="275512" y="1131570"/>
            <a:ext cx="2674619" cy="357918"/>
          </a:xfrm>
          <a:prstGeom prst="rect">
            <a:avLst/>
          </a:prstGeom>
          <a:noFill/>
        </p:spPr>
        <p:txBody>
          <a:bodyPr wrap="square">
            <a:spAutoFit/>
          </a:bodyPr>
          <a:lstStyle/>
          <a:p>
            <a:pPr algn="l"/>
            <a:r>
              <a:rPr sz="863" b="1">
                <a:solidFill>
                  <a:srgbClr val="FFFFFF"/>
                </a:solidFill>
                <a:latin typeface="Times New Roman" panose="02020603050405020304" pitchFamily="18" charset="0"/>
                <a:cs typeface="Times New Roman" panose="02020603050405020304" pitchFamily="18" charset="0"/>
              </a:rPr>
              <a:t>Industry, Innovation
&amp; Infrastructure</a:t>
            </a:r>
          </a:p>
        </p:txBody>
      </p:sp>
      <p:sp>
        <p:nvSpPr>
          <p:cNvPr id="14" name="TextBox 13"/>
          <p:cNvSpPr txBox="1"/>
          <p:nvPr/>
        </p:nvSpPr>
        <p:spPr>
          <a:xfrm>
            <a:off x="316660" y="1522476"/>
            <a:ext cx="2619755" cy="334835"/>
          </a:xfrm>
          <a:prstGeom prst="rect">
            <a:avLst/>
          </a:prstGeom>
          <a:noFill/>
        </p:spPr>
        <p:txBody>
          <a:bodyPr wrap="square">
            <a:spAutoFit/>
          </a:bodyPr>
          <a:lstStyle/>
          <a:p>
            <a:pPr algn="l"/>
            <a:r>
              <a:rPr sz="788">
                <a:solidFill>
                  <a:srgbClr val="FFFFFF"/>
                </a:solidFill>
                <a:latin typeface="Times New Roman" panose="02020603050405020304" pitchFamily="18" charset="0"/>
                <a:cs typeface="Times New Roman" panose="02020603050405020304" pitchFamily="18" charset="0"/>
              </a:rPr>
              <a:t>▸  Builds intelligent, resilient digital infrastructure for DevSecOps.</a:t>
            </a:r>
          </a:p>
        </p:txBody>
      </p:sp>
      <p:sp>
        <p:nvSpPr>
          <p:cNvPr id="15" name="TextBox 14"/>
          <p:cNvSpPr txBox="1"/>
          <p:nvPr/>
        </p:nvSpPr>
        <p:spPr>
          <a:xfrm>
            <a:off x="316660" y="1906524"/>
            <a:ext cx="2619755" cy="334835"/>
          </a:xfrm>
          <a:prstGeom prst="rect">
            <a:avLst/>
          </a:prstGeom>
          <a:noFill/>
        </p:spPr>
        <p:txBody>
          <a:bodyPr wrap="square">
            <a:spAutoFit/>
          </a:bodyPr>
          <a:lstStyle/>
          <a:p>
            <a:pPr algn="l"/>
            <a:r>
              <a:rPr sz="788">
                <a:solidFill>
                  <a:srgbClr val="FFFFFF"/>
                </a:solidFill>
                <a:latin typeface="Times New Roman" panose="02020603050405020304" pitchFamily="18" charset="0"/>
                <a:cs typeface="Times New Roman" panose="02020603050405020304" pitchFamily="18" charset="0"/>
              </a:rPr>
              <a:t>▸  Automates credential governance — reduces operational risk by design.</a:t>
            </a:r>
          </a:p>
        </p:txBody>
      </p:sp>
      <p:sp>
        <p:nvSpPr>
          <p:cNvPr id="16" name="TextBox 15"/>
          <p:cNvSpPr txBox="1"/>
          <p:nvPr/>
        </p:nvSpPr>
        <p:spPr>
          <a:xfrm>
            <a:off x="316660" y="2290572"/>
            <a:ext cx="2619755" cy="334835"/>
          </a:xfrm>
          <a:prstGeom prst="rect">
            <a:avLst/>
          </a:prstGeom>
          <a:noFill/>
        </p:spPr>
        <p:txBody>
          <a:bodyPr wrap="square">
            <a:spAutoFit/>
          </a:bodyPr>
          <a:lstStyle/>
          <a:p>
            <a:pPr algn="l"/>
            <a:r>
              <a:rPr sz="788">
                <a:solidFill>
                  <a:srgbClr val="FFFFFF"/>
                </a:solidFill>
                <a:latin typeface="Times New Roman" panose="02020603050405020304" pitchFamily="18" charset="0"/>
                <a:cs typeface="Times New Roman" panose="02020603050405020304" pitchFamily="18" charset="0"/>
              </a:rPr>
              <a:t>▸  Containerised (Docker) and cloud-native (Kubernetes) deployment model.</a:t>
            </a:r>
          </a:p>
        </p:txBody>
      </p:sp>
      <p:sp>
        <p:nvSpPr>
          <p:cNvPr id="17" name="TextBox 16"/>
          <p:cNvSpPr txBox="1"/>
          <p:nvPr/>
        </p:nvSpPr>
        <p:spPr>
          <a:xfrm>
            <a:off x="316660" y="2674620"/>
            <a:ext cx="2619755" cy="334835"/>
          </a:xfrm>
          <a:prstGeom prst="rect">
            <a:avLst/>
          </a:prstGeom>
          <a:noFill/>
        </p:spPr>
        <p:txBody>
          <a:bodyPr wrap="square">
            <a:spAutoFit/>
          </a:bodyPr>
          <a:lstStyle/>
          <a:p>
            <a:pPr algn="l"/>
            <a:r>
              <a:rPr sz="788">
                <a:solidFill>
                  <a:srgbClr val="FFFFFF"/>
                </a:solidFill>
                <a:latin typeface="Times New Roman" panose="02020603050405020304" pitchFamily="18" charset="0"/>
                <a:cs typeface="Times New Roman" panose="02020603050405020304" pitchFamily="18" charset="0"/>
              </a:rPr>
              <a:t>▸  AI-augmented (GPT-4o + scikit-learn) security operations.</a:t>
            </a:r>
          </a:p>
        </p:txBody>
      </p:sp>
      <p:sp>
        <p:nvSpPr>
          <p:cNvPr id="18" name="Rectangle 17"/>
          <p:cNvSpPr/>
          <p:nvPr/>
        </p:nvSpPr>
        <p:spPr>
          <a:xfrm>
            <a:off x="3155872" y="836676"/>
            <a:ext cx="2811779" cy="387477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Times New Roman" panose="02020603050405020304" pitchFamily="18" charset="0"/>
              <a:cs typeface="Times New Roman" panose="02020603050405020304" pitchFamily="18" charset="0"/>
            </a:endParaRPr>
          </a:p>
        </p:txBody>
      </p:sp>
      <p:sp>
        <p:nvSpPr>
          <p:cNvPr id="19" name="Rectangle 18"/>
          <p:cNvSpPr/>
          <p:nvPr/>
        </p:nvSpPr>
        <p:spPr>
          <a:xfrm>
            <a:off x="3155872" y="836676"/>
            <a:ext cx="2811779" cy="617220"/>
          </a:xfrm>
          <a:prstGeom prst="rect">
            <a:avLst/>
          </a:prstGeom>
          <a:solidFill>
            <a:srgbClr val="0068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Times New Roman" panose="02020603050405020304" pitchFamily="18" charset="0"/>
              <a:cs typeface="Times New Roman" panose="02020603050405020304" pitchFamily="18" charset="0"/>
            </a:endParaRPr>
          </a:p>
        </p:txBody>
      </p:sp>
      <p:sp>
        <p:nvSpPr>
          <p:cNvPr id="20" name="TextBox 19"/>
          <p:cNvSpPr txBox="1"/>
          <p:nvPr/>
        </p:nvSpPr>
        <p:spPr>
          <a:xfrm>
            <a:off x="3238167" y="877824"/>
            <a:ext cx="1244456" cy="346249"/>
          </a:xfrm>
          <a:prstGeom prst="rect">
            <a:avLst/>
          </a:prstGeom>
          <a:noFill/>
        </p:spPr>
        <p:txBody>
          <a:bodyPr wrap="square">
            <a:spAutoFit/>
          </a:bodyPr>
          <a:lstStyle/>
          <a:p>
            <a:pPr algn="l"/>
            <a:r>
              <a:rPr sz="1650" b="1" dirty="0">
                <a:solidFill>
                  <a:srgbClr val="FFFFFF"/>
                </a:solidFill>
                <a:latin typeface="Times New Roman" panose="02020603050405020304" pitchFamily="18" charset="0"/>
                <a:cs typeface="Times New Roman" panose="02020603050405020304" pitchFamily="18" charset="0"/>
              </a:rPr>
              <a:t>SDG 16</a:t>
            </a:r>
          </a:p>
        </p:txBody>
      </p:sp>
      <p:sp>
        <p:nvSpPr>
          <p:cNvPr id="21" name="TextBox 20"/>
          <p:cNvSpPr txBox="1"/>
          <p:nvPr/>
        </p:nvSpPr>
        <p:spPr>
          <a:xfrm>
            <a:off x="3238168" y="1131570"/>
            <a:ext cx="2674619" cy="357918"/>
          </a:xfrm>
          <a:prstGeom prst="rect">
            <a:avLst/>
          </a:prstGeom>
          <a:noFill/>
        </p:spPr>
        <p:txBody>
          <a:bodyPr wrap="square">
            <a:spAutoFit/>
          </a:bodyPr>
          <a:lstStyle/>
          <a:p>
            <a:pPr algn="l"/>
            <a:r>
              <a:rPr sz="863" b="1">
                <a:solidFill>
                  <a:srgbClr val="FFFFFF"/>
                </a:solidFill>
                <a:latin typeface="Times New Roman" panose="02020603050405020304" pitchFamily="18" charset="0"/>
                <a:cs typeface="Times New Roman" panose="02020603050405020304" pitchFamily="18" charset="0"/>
              </a:rPr>
              <a:t>Peace, Justice &amp;
Strong Institutions</a:t>
            </a:r>
          </a:p>
        </p:txBody>
      </p:sp>
      <p:sp>
        <p:nvSpPr>
          <p:cNvPr id="22" name="TextBox 21"/>
          <p:cNvSpPr txBox="1"/>
          <p:nvPr/>
        </p:nvSpPr>
        <p:spPr>
          <a:xfrm>
            <a:off x="3279315" y="1522476"/>
            <a:ext cx="2619755" cy="334835"/>
          </a:xfrm>
          <a:prstGeom prst="rect">
            <a:avLst/>
          </a:prstGeom>
          <a:noFill/>
        </p:spPr>
        <p:txBody>
          <a:bodyPr wrap="square">
            <a:spAutoFit/>
          </a:bodyPr>
          <a:lstStyle/>
          <a:p>
            <a:pPr algn="l"/>
            <a:r>
              <a:rPr sz="788">
                <a:solidFill>
                  <a:srgbClr val="FFFFFF"/>
                </a:solidFill>
                <a:latin typeface="Times New Roman" panose="02020603050405020304" pitchFamily="18" charset="0"/>
                <a:cs typeface="Times New Roman" panose="02020603050405020304" pitchFamily="18" charset="0"/>
              </a:rPr>
              <a:t>▸  Promotes transparent, auditable identity governance with full audit trails.</a:t>
            </a:r>
          </a:p>
        </p:txBody>
      </p:sp>
      <p:sp>
        <p:nvSpPr>
          <p:cNvPr id="23" name="TextBox 22"/>
          <p:cNvSpPr txBox="1"/>
          <p:nvPr/>
        </p:nvSpPr>
        <p:spPr>
          <a:xfrm>
            <a:off x="3279315" y="1906524"/>
            <a:ext cx="2619755" cy="334835"/>
          </a:xfrm>
          <a:prstGeom prst="rect">
            <a:avLst/>
          </a:prstGeom>
          <a:noFill/>
        </p:spPr>
        <p:txBody>
          <a:bodyPr wrap="square">
            <a:spAutoFit/>
          </a:bodyPr>
          <a:lstStyle/>
          <a:p>
            <a:pPr algn="l"/>
            <a:r>
              <a:rPr sz="788">
                <a:solidFill>
                  <a:srgbClr val="FFFFFF"/>
                </a:solidFill>
                <a:latin typeface="Times New Roman" panose="02020603050405020304" pitchFamily="18" charset="0"/>
                <a:cs typeface="Times New Roman" panose="02020603050405020304" pitchFamily="18" charset="0"/>
              </a:rPr>
              <a:t>▸  Enforces 11 policy rules aligned to SOC2 Type II &amp; ISO 27001 frameworks.</a:t>
            </a:r>
          </a:p>
        </p:txBody>
      </p:sp>
      <p:sp>
        <p:nvSpPr>
          <p:cNvPr id="24" name="TextBox 23"/>
          <p:cNvSpPr txBox="1"/>
          <p:nvPr/>
        </p:nvSpPr>
        <p:spPr>
          <a:xfrm>
            <a:off x="3279315" y="2290572"/>
            <a:ext cx="2619755" cy="334835"/>
          </a:xfrm>
          <a:prstGeom prst="rect">
            <a:avLst/>
          </a:prstGeom>
          <a:noFill/>
        </p:spPr>
        <p:txBody>
          <a:bodyPr wrap="square">
            <a:spAutoFit/>
          </a:bodyPr>
          <a:lstStyle/>
          <a:p>
            <a:pPr algn="l"/>
            <a:r>
              <a:rPr sz="788">
                <a:solidFill>
                  <a:srgbClr val="FFFFFF"/>
                </a:solidFill>
                <a:latin typeface="Times New Roman" panose="02020603050405020304" pitchFamily="18" charset="0"/>
                <a:cs typeface="Times New Roman" panose="02020603050405020304" pitchFamily="18" charset="0"/>
              </a:rPr>
              <a:t>▸  Provides evidence for compliance audits — reduces institutional risk.</a:t>
            </a:r>
          </a:p>
        </p:txBody>
      </p:sp>
      <p:sp>
        <p:nvSpPr>
          <p:cNvPr id="25" name="TextBox 24"/>
          <p:cNvSpPr txBox="1"/>
          <p:nvPr/>
        </p:nvSpPr>
        <p:spPr>
          <a:xfrm>
            <a:off x="3279315" y="2674620"/>
            <a:ext cx="2619755" cy="334835"/>
          </a:xfrm>
          <a:prstGeom prst="rect">
            <a:avLst/>
          </a:prstGeom>
          <a:noFill/>
        </p:spPr>
        <p:txBody>
          <a:bodyPr wrap="square">
            <a:spAutoFit/>
          </a:bodyPr>
          <a:lstStyle/>
          <a:p>
            <a:pPr algn="l"/>
            <a:r>
              <a:rPr sz="788">
                <a:solidFill>
                  <a:srgbClr val="FFFFFF"/>
                </a:solidFill>
                <a:latin typeface="Times New Roman" panose="02020603050405020304" pitchFamily="18" charset="0"/>
                <a:cs typeface="Times New Roman" panose="02020603050405020304" pitchFamily="18" charset="0"/>
              </a:rPr>
              <a:t>▸  Reduces insider-threat surface via automated credential rotation.</a:t>
            </a:r>
          </a:p>
        </p:txBody>
      </p:sp>
      <p:sp>
        <p:nvSpPr>
          <p:cNvPr id="26" name="Rectangle 25"/>
          <p:cNvSpPr/>
          <p:nvPr/>
        </p:nvSpPr>
        <p:spPr>
          <a:xfrm>
            <a:off x="6118527" y="836676"/>
            <a:ext cx="2811779" cy="387477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7" name="Rectangle 26"/>
          <p:cNvSpPr/>
          <p:nvPr/>
        </p:nvSpPr>
        <p:spPr>
          <a:xfrm>
            <a:off x="6118527" y="836676"/>
            <a:ext cx="2811779" cy="617220"/>
          </a:xfrm>
          <a:prstGeom prst="rect">
            <a:avLst/>
          </a:prstGeom>
          <a:solidFill>
            <a:srgbClr val="1948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8" name="TextBox 27"/>
          <p:cNvSpPr txBox="1"/>
          <p:nvPr/>
        </p:nvSpPr>
        <p:spPr>
          <a:xfrm>
            <a:off x="6200822" y="877824"/>
            <a:ext cx="1300008" cy="346249"/>
          </a:xfrm>
          <a:prstGeom prst="rect">
            <a:avLst/>
          </a:prstGeom>
          <a:noFill/>
        </p:spPr>
        <p:txBody>
          <a:bodyPr wrap="square">
            <a:spAutoFit/>
          </a:bodyPr>
          <a:lstStyle/>
          <a:p>
            <a:pPr algn="l"/>
            <a:r>
              <a:rPr sz="1650" b="1" dirty="0">
                <a:solidFill>
                  <a:srgbClr val="FFFFFF"/>
                </a:solidFill>
                <a:latin typeface="Times New Roman" panose="02020603050405020304" pitchFamily="18" charset="0"/>
                <a:cs typeface="Times New Roman" panose="02020603050405020304" pitchFamily="18" charset="0"/>
              </a:rPr>
              <a:t>SDG 17</a:t>
            </a:r>
          </a:p>
        </p:txBody>
      </p:sp>
      <p:sp>
        <p:nvSpPr>
          <p:cNvPr id="29" name="TextBox 28"/>
          <p:cNvSpPr txBox="1"/>
          <p:nvPr/>
        </p:nvSpPr>
        <p:spPr>
          <a:xfrm>
            <a:off x="6200823" y="1131570"/>
            <a:ext cx="2674619" cy="357918"/>
          </a:xfrm>
          <a:prstGeom prst="rect">
            <a:avLst/>
          </a:prstGeom>
          <a:noFill/>
        </p:spPr>
        <p:txBody>
          <a:bodyPr wrap="square">
            <a:spAutoFit/>
          </a:bodyPr>
          <a:lstStyle/>
          <a:p>
            <a:pPr algn="l"/>
            <a:r>
              <a:rPr sz="863" b="1">
                <a:solidFill>
                  <a:srgbClr val="FFFFFF"/>
                </a:solidFill>
                <a:latin typeface="Times New Roman" panose="02020603050405020304" pitchFamily="18" charset="0"/>
                <a:cs typeface="Times New Roman" panose="02020603050405020304" pitchFamily="18" charset="0"/>
              </a:rPr>
              <a:t>Partnerships for
the Goals</a:t>
            </a:r>
          </a:p>
        </p:txBody>
      </p:sp>
      <p:sp>
        <p:nvSpPr>
          <p:cNvPr id="30" name="TextBox 29"/>
          <p:cNvSpPr txBox="1"/>
          <p:nvPr/>
        </p:nvSpPr>
        <p:spPr>
          <a:xfrm>
            <a:off x="6241971" y="1522476"/>
            <a:ext cx="2619755" cy="334835"/>
          </a:xfrm>
          <a:prstGeom prst="rect">
            <a:avLst/>
          </a:prstGeom>
          <a:noFill/>
        </p:spPr>
        <p:txBody>
          <a:bodyPr wrap="square">
            <a:spAutoFit/>
          </a:bodyPr>
          <a:lstStyle/>
          <a:p>
            <a:pPr algn="l"/>
            <a:r>
              <a:rPr sz="788">
                <a:solidFill>
                  <a:srgbClr val="FFFFFF"/>
                </a:solidFill>
                <a:latin typeface="Times New Roman" panose="02020603050405020304" pitchFamily="18" charset="0"/>
                <a:cs typeface="Times New Roman" panose="02020603050405020304" pitchFamily="18" charset="0"/>
              </a:rPr>
              <a:t>▸  Industry–academia partnership: RVCE × Honeywell CE DevOps.</a:t>
            </a:r>
          </a:p>
        </p:txBody>
      </p:sp>
      <p:sp>
        <p:nvSpPr>
          <p:cNvPr id="31" name="TextBox 30"/>
          <p:cNvSpPr txBox="1"/>
          <p:nvPr/>
        </p:nvSpPr>
        <p:spPr>
          <a:xfrm>
            <a:off x="6241971" y="1906524"/>
            <a:ext cx="2619755" cy="334835"/>
          </a:xfrm>
          <a:prstGeom prst="rect">
            <a:avLst/>
          </a:prstGeom>
          <a:noFill/>
        </p:spPr>
        <p:txBody>
          <a:bodyPr wrap="square">
            <a:spAutoFit/>
          </a:bodyPr>
          <a:lstStyle/>
          <a:p>
            <a:pPr algn="l"/>
            <a:r>
              <a:rPr sz="788">
                <a:solidFill>
                  <a:srgbClr val="FFFFFF"/>
                </a:solidFill>
                <a:latin typeface="Times New Roman" panose="02020603050405020304" pitchFamily="18" charset="0"/>
                <a:cs typeface="Times New Roman" panose="02020603050405020304" pitchFamily="18" charset="0"/>
              </a:rPr>
              <a:t>▸  Open-architecture — integrates GitHub, Azure, OpenAI, email, K8s.</a:t>
            </a:r>
          </a:p>
        </p:txBody>
      </p:sp>
      <p:sp>
        <p:nvSpPr>
          <p:cNvPr id="32" name="TextBox 31"/>
          <p:cNvSpPr txBox="1"/>
          <p:nvPr/>
        </p:nvSpPr>
        <p:spPr>
          <a:xfrm>
            <a:off x="6241971" y="2290572"/>
            <a:ext cx="2619755" cy="334835"/>
          </a:xfrm>
          <a:prstGeom prst="rect">
            <a:avLst/>
          </a:prstGeom>
          <a:noFill/>
        </p:spPr>
        <p:txBody>
          <a:bodyPr wrap="square">
            <a:spAutoFit/>
          </a:bodyPr>
          <a:lstStyle/>
          <a:p>
            <a:pPr algn="l"/>
            <a:r>
              <a:rPr sz="788">
                <a:solidFill>
                  <a:srgbClr val="FFFFFF"/>
                </a:solidFill>
                <a:latin typeface="Times New Roman" panose="02020603050405020304" pitchFamily="18" charset="0"/>
                <a:cs typeface="Times New Roman" panose="02020603050405020304" pitchFamily="18" charset="0"/>
              </a:rPr>
              <a:t>▸  Modular agent design enables teams to add AWS, GCP agents easily.</a:t>
            </a:r>
          </a:p>
        </p:txBody>
      </p:sp>
      <p:sp>
        <p:nvSpPr>
          <p:cNvPr id="33" name="TextBox 32"/>
          <p:cNvSpPr txBox="1"/>
          <p:nvPr/>
        </p:nvSpPr>
        <p:spPr>
          <a:xfrm>
            <a:off x="6241971" y="2674620"/>
            <a:ext cx="2619755" cy="334835"/>
          </a:xfrm>
          <a:prstGeom prst="rect">
            <a:avLst/>
          </a:prstGeom>
          <a:noFill/>
        </p:spPr>
        <p:txBody>
          <a:bodyPr wrap="square">
            <a:spAutoFit/>
          </a:bodyPr>
          <a:lstStyle/>
          <a:p>
            <a:pPr algn="l"/>
            <a:r>
              <a:rPr sz="788">
                <a:solidFill>
                  <a:srgbClr val="FFFFFF"/>
                </a:solidFill>
                <a:latin typeface="Times New Roman" panose="02020603050405020304" pitchFamily="18" charset="0"/>
                <a:cs typeface="Times New Roman" panose="02020603050405020304" pitchFamily="18" charset="0"/>
              </a:rPr>
              <a:t>▸  Outputs (HTML reports, JSON) shareable with auditors &amp; partners.</a:t>
            </a:r>
          </a:p>
        </p:txBody>
      </p:sp>
      <p:sp>
        <p:nvSpPr>
          <p:cNvPr id="34" name="Rectangle 33"/>
          <p:cNvSpPr/>
          <p:nvPr/>
        </p:nvSpPr>
        <p:spPr>
          <a:xfrm>
            <a:off x="193215" y="4389120"/>
            <a:ext cx="8757666" cy="493776"/>
          </a:xfrm>
          <a:prstGeom prst="rect">
            <a:avLst/>
          </a:prstGeom>
          <a:solidFill>
            <a:srgbClr val="0A19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5" name="Rectangle 34"/>
          <p:cNvSpPr/>
          <p:nvPr/>
        </p:nvSpPr>
        <p:spPr>
          <a:xfrm>
            <a:off x="193215" y="4389120"/>
            <a:ext cx="8757666" cy="2743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6" name="TextBox 35"/>
          <p:cNvSpPr txBox="1"/>
          <p:nvPr/>
        </p:nvSpPr>
        <p:spPr>
          <a:xfrm>
            <a:off x="289227" y="4423411"/>
            <a:ext cx="2400300" cy="219291"/>
          </a:xfrm>
          <a:prstGeom prst="rect">
            <a:avLst/>
          </a:prstGeom>
          <a:noFill/>
        </p:spPr>
        <p:txBody>
          <a:bodyPr wrap="square">
            <a:spAutoFit/>
          </a:bodyPr>
          <a:lstStyle/>
          <a:p>
            <a:pPr algn="l"/>
            <a:r>
              <a:rPr sz="825" b="1">
                <a:solidFill>
                  <a:srgbClr val="3B82F6"/>
                </a:solidFill>
                <a:latin typeface="Times New Roman" panose="02020603050405020304" pitchFamily="18" charset="0"/>
                <a:cs typeface="Times New Roman" panose="02020603050405020304" pitchFamily="18" charset="0"/>
              </a:rPr>
              <a:t>Programme Outcomes (POs) Achieved:</a:t>
            </a:r>
          </a:p>
        </p:txBody>
      </p:sp>
      <p:sp>
        <p:nvSpPr>
          <p:cNvPr id="37" name="TextBox 36"/>
          <p:cNvSpPr txBox="1"/>
          <p:nvPr/>
        </p:nvSpPr>
        <p:spPr>
          <a:xfrm>
            <a:off x="2744391" y="4423411"/>
            <a:ext cx="6172200" cy="311752"/>
          </a:xfrm>
          <a:prstGeom prst="rect">
            <a:avLst/>
          </a:prstGeom>
          <a:noFill/>
        </p:spPr>
        <p:txBody>
          <a:bodyPr wrap="square">
            <a:spAutoFit/>
          </a:bodyPr>
          <a:lstStyle/>
          <a:p>
            <a:pPr algn="l"/>
            <a:r>
              <a:rPr sz="713">
                <a:solidFill>
                  <a:srgbClr val="FFFFFF"/>
                </a:solidFill>
                <a:latin typeface="Calibri"/>
              </a:rPr>
              <a:t>PO1 (Engineering Knowledge)  ·  PO2 (Problem Analysis)  ·  PO3 (Design/Development)  ·  PO4 (Investigation)  ·  PO5 (Modern Tools)  ·  PO9 (Individual &amp; Teamwork)  ·  PO10 (Communication)  ·  PO12 (Life-long Learning)</a:t>
            </a:r>
          </a:p>
        </p:txBody>
      </p:sp>
      <p:sp>
        <p:nvSpPr>
          <p:cNvPr id="39" name="TextBox 38">
            <a:extLst>
              <a:ext uri="{FF2B5EF4-FFF2-40B4-BE49-F238E27FC236}">
                <a16:creationId xmlns:a16="http://schemas.microsoft.com/office/drawing/2014/main" id="{C460626F-487E-35E9-DA36-155BB04D8340}"/>
              </a:ext>
            </a:extLst>
          </p:cNvPr>
          <p:cNvSpPr txBox="1"/>
          <p:nvPr/>
        </p:nvSpPr>
        <p:spPr>
          <a:xfrm>
            <a:off x="2451782" y="109638"/>
            <a:ext cx="4572000" cy="400110"/>
          </a:xfrm>
          <a:prstGeom prst="rect">
            <a:avLst/>
          </a:prstGeom>
          <a:noFill/>
        </p:spPr>
        <p:txBody>
          <a:bodyPr wrap="square">
            <a:spAutoFit/>
          </a:bodyPr>
          <a:lstStyle/>
          <a:p>
            <a:pPr algn="ctr"/>
            <a:r>
              <a:rPr lang="en-US" sz="2000" b="1" dirty="0">
                <a:solidFill>
                  <a:srgbClr val="083C92"/>
                </a:solidFill>
                <a:latin typeface="Bookman Old Style"/>
                <a:ea typeface="Bookman Old Style"/>
                <a:cs typeface="Bookman Old Style"/>
                <a:sym typeface="Bookman Old Style"/>
              </a:rPr>
              <a:t>SDG Mapping/ Outcomes </a:t>
            </a: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9">
          <a:extLst>
            <a:ext uri="{FF2B5EF4-FFF2-40B4-BE49-F238E27FC236}">
              <a16:creationId xmlns:a16="http://schemas.microsoft.com/office/drawing/2014/main" id="{6E16AAA3-DB41-0FD4-4B7C-660F078A6101}"/>
            </a:ext>
          </a:extLst>
        </p:cNvPr>
        <p:cNvGrpSpPr/>
        <p:nvPr/>
      </p:nvGrpSpPr>
      <p:grpSpPr>
        <a:xfrm>
          <a:off x="0" y="0"/>
          <a:ext cx="0" cy="0"/>
          <a:chOff x="0" y="0"/>
          <a:chExt cx="0" cy="0"/>
        </a:xfrm>
      </p:grpSpPr>
      <p:sp>
        <p:nvSpPr>
          <p:cNvPr id="120" name="Google Shape;120;p19">
            <a:extLst>
              <a:ext uri="{FF2B5EF4-FFF2-40B4-BE49-F238E27FC236}">
                <a16:creationId xmlns:a16="http://schemas.microsoft.com/office/drawing/2014/main" id="{AEAA3969-F0FF-03CF-2CE9-57EB14DA228B}"/>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24</a:t>
            </a:fld>
            <a:endParaRPr/>
          </a:p>
        </p:txBody>
      </p:sp>
      <p:sp>
        <p:nvSpPr>
          <p:cNvPr id="123" name="Google Shape;123;p19">
            <a:extLst>
              <a:ext uri="{FF2B5EF4-FFF2-40B4-BE49-F238E27FC236}">
                <a16:creationId xmlns:a16="http://schemas.microsoft.com/office/drawing/2014/main" id="{71204B61-E138-AFF7-7BA6-CB46F3CB4A21}"/>
              </a:ext>
            </a:extLst>
          </p:cNvPr>
          <p:cNvSpPr txBox="1">
            <a:spLocks noGrp="1"/>
          </p:cNvSpPr>
          <p:nvPr>
            <p:ph type="title"/>
          </p:nvPr>
        </p:nvSpPr>
        <p:spPr>
          <a:xfrm>
            <a:off x="2162014" y="207425"/>
            <a:ext cx="4538506" cy="397375"/>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US" sz="2000" b="1" i="1" dirty="0">
                <a:solidFill>
                  <a:srgbClr val="083C92"/>
                </a:solidFill>
                <a:latin typeface="Bookman Old Style" panose="02050604050505020204" pitchFamily="18" charset="0"/>
                <a:ea typeface="Playfair Display"/>
                <a:cs typeface="Playfair Display"/>
                <a:sym typeface="Playfair Display"/>
              </a:rPr>
              <a:t>Online Course Certification</a:t>
            </a:r>
            <a:br>
              <a:rPr lang="en-US" sz="2000" b="1" i="1" dirty="0">
                <a:solidFill>
                  <a:srgbClr val="083C92"/>
                </a:solidFill>
                <a:latin typeface="Bookman Old Style" panose="02050604050505020204" pitchFamily="18" charset="0"/>
                <a:ea typeface="Playfair Display"/>
                <a:cs typeface="Playfair Display"/>
                <a:sym typeface="Playfair Display"/>
              </a:rPr>
            </a:br>
            <a:endParaRPr sz="2000" b="1" i="1" dirty="0">
              <a:solidFill>
                <a:srgbClr val="083C92"/>
              </a:solidFill>
              <a:latin typeface="Bookman Old Style" panose="02050604050505020204" pitchFamily="18" charset="0"/>
              <a:ea typeface="Playfair Display"/>
              <a:cs typeface="Playfair Display"/>
              <a:sym typeface="Playfair Display"/>
            </a:endParaRPr>
          </a:p>
        </p:txBody>
      </p:sp>
      <p:sp>
        <p:nvSpPr>
          <p:cNvPr id="124" name="Google Shape;124;p19">
            <a:extLst>
              <a:ext uri="{FF2B5EF4-FFF2-40B4-BE49-F238E27FC236}">
                <a16:creationId xmlns:a16="http://schemas.microsoft.com/office/drawing/2014/main" id="{EF6FB51F-1829-9FB0-C212-3305C80E0236}"/>
              </a:ext>
            </a:extLst>
          </p:cNvPr>
          <p:cNvSpPr/>
          <p:nvPr/>
        </p:nvSpPr>
        <p:spPr>
          <a:xfrm>
            <a:off x="655545" y="1538511"/>
            <a:ext cx="7711559" cy="2703480"/>
          </a:xfrm>
          <a:prstGeom prst="rect">
            <a:avLst/>
          </a:prstGeom>
          <a:noFill/>
          <a:ln>
            <a:noFill/>
          </a:ln>
        </p:spPr>
        <p:txBody>
          <a:bodyPr spcFirstLastPara="1" wrap="square" lIns="91425" tIns="45700" rIns="91425" bIns="45700" anchor="ctr" anchorCtr="0">
            <a:noAutofit/>
          </a:bodyPr>
          <a:lstStyle/>
          <a:p>
            <a:r>
              <a:rPr lang="en-US" sz="1100" dirty="0">
                <a:latin typeface="Times New Roman" panose="02020603050405020304" pitchFamily="18" charset="0"/>
                <a:cs typeface="Times New Roman" panose="02020603050405020304" pitchFamily="18" charset="0"/>
              </a:rPr>
              <a:t>The NPTEL course on </a:t>
            </a:r>
            <a:r>
              <a:rPr lang="en-US" sz="1100" b="1" dirty="0">
                <a:latin typeface="Times New Roman" panose="02020603050405020304" pitchFamily="18" charset="0"/>
                <a:cs typeface="Times New Roman" panose="02020603050405020304" pitchFamily="18" charset="0"/>
              </a:rPr>
              <a:t>Project Management</a:t>
            </a:r>
            <a:r>
              <a:rPr lang="en-US" sz="1100" dirty="0">
                <a:latin typeface="Times New Roman" panose="02020603050405020304" pitchFamily="18" charset="0"/>
                <a:cs typeface="Times New Roman" panose="02020603050405020304" pitchFamily="18" charset="0"/>
              </a:rPr>
              <a:t> offered by IIT Roorkee is a comprehensive, industry-aligned program designed to equip learners with essential project management knowledge, techniques, and tools. </a:t>
            </a:r>
          </a:p>
          <a:p>
            <a:endParaRPr lang="en-US" sz="1100" dirty="0">
              <a:latin typeface="Times New Roman" panose="02020603050405020304" pitchFamily="18" charset="0"/>
              <a:cs typeface="Times New Roman" panose="02020603050405020304" pitchFamily="18" charset="0"/>
            </a:endParaRPr>
          </a:p>
          <a:p>
            <a:r>
              <a:rPr lang="en-US" sz="1100" b="1" dirty="0">
                <a:latin typeface="Times New Roman" panose="02020603050405020304" pitchFamily="18" charset="0"/>
                <a:cs typeface="Times New Roman" panose="02020603050405020304" pitchFamily="18" charset="0"/>
              </a:rPr>
              <a:t>Course Details</a:t>
            </a:r>
          </a:p>
          <a:p>
            <a:r>
              <a:rPr lang="en-US" sz="1100" b="1" dirty="0">
                <a:latin typeface="Times New Roman" panose="02020603050405020304" pitchFamily="18" charset="0"/>
                <a:cs typeface="Times New Roman" panose="02020603050405020304" pitchFamily="18" charset="0"/>
              </a:rPr>
              <a:t>Platform:</a:t>
            </a:r>
            <a:r>
              <a:rPr lang="en-US" sz="1100" dirty="0">
                <a:latin typeface="Times New Roman" panose="02020603050405020304" pitchFamily="18" charset="0"/>
                <a:cs typeface="Times New Roman" panose="02020603050405020304" pitchFamily="18" charset="0"/>
              </a:rPr>
              <a:t> NPTEL (Swayam)</a:t>
            </a:r>
          </a:p>
          <a:p>
            <a:r>
              <a:rPr lang="en-US" sz="1100" b="1" dirty="0">
                <a:latin typeface="Times New Roman" panose="02020603050405020304" pitchFamily="18" charset="0"/>
                <a:cs typeface="Times New Roman" panose="02020603050405020304" pitchFamily="18" charset="0"/>
              </a:rPr>
              <a:t>Instructor:</a:t>
            </a:r>
            <a:r>
              <a:rPr lang="en-US" sz="1100" dirty="0">
                <a:latin typeface="Times New Roman" panose="02020603050405020304" pitchFamily="18" charset="0"/>
                <a:cs typeface="Times New Roman" panose="02020603050405020304" pitchFamily="18" charset="0"/>
              </a:rPr>
              <a:t> Prof. Mukesh Kumar Barua / Dr. Romesh </a:t>
            </a:r>
            <a:r>
              <a:rPr lang="en-US" sz="1100" dirty="0" err="1">
                <a:latin typeface="Times New Roman" panose="02020603050405020304" pitchFamily="18" charset="0"/>
                <a:cs typeface="Times New Roman" panose="02020603050405020304" pitchFamily="18" charset="0"/>
              </a:rPr>
              <a:t>Anbanandam</a:t>
            </a:r>
            <a:r>
              <a:rPr lang="en-US" sz="1100" dirty="0">
                <a:latin typeface="Times New Roman" panose="02020603050405020304" pitchFamily="18" charset="0"/>
                <a:cs typeface="Times New Roman" panose="02020603050405020304" pitchFamily="18" charset="0"/>
              </a:rPr>
              <a:t> (Department of Management Studies, IIT Roorkee)</a:t>
            </a:r>
          </a:p>
          <a:p>
            <a:r>
              <a:rPr lang="en-US" sz="1100" b="1" dirty="0">
                <a:latin typeface="Times New Roman" panose="02020603050405020304" pitchFamily="18" charset="0"/>
                <a:cs typeface="Times New Roman" panose="02020603050405020304" pitchFamily="18" charset="0"/>
              </a:rPr>
              <a:t>Topic:</a:t>
            </a:r>
            <a:r>
              <a:rPr lang="en-US" sz="1100" dirty="0">
                <a:latin typeface="Times New Roman" panose="02020603050405020304" pitchFamily="18" charset="0"/>
                <a:cs typeface="Times New Roman" panose="02020603050405020304" pitchFamily="18" charset="0"/>
              </a:rPr>
              <a:t> Project Management Fundamentals (Project life cycle, selection, risk, cost, and quality management)</a:t>
            </a:r>
          </a:p>
          <a:p>
            <a:r>
              <a:rPr lang="en-US" sz="1100" b="1" dirty="0">
                <a:latin typeface="Times New Roman" panose="02020603050405020304" pitchFamily="18" charset="0"/>
                <a:cs typeface="Times New Roman" panose="02020603050405020304" pitchFamily="18" charset="0"/>
              </a:rPr>
              <a:t>Duration:</a:t>
            </a:r>
            <a:r>
              <a:rPr lang="en-US" sz="1100" dirty="0">
                <a:latin typeface="Times New Roman" panose="02020603050405020304" pitchFamily="18" charset="0"/>
                <a:cs typeface="Times New Roman" panose="02020603050405020304" pitchFamily="18" charset="0"/>
              </a:rPr>
              <a:t> 8 to 12 weeks (Typically Feb–Apr, or Jan-Apr/July-Oct cycles)</a:t>
            </a:r>
          </a:p>
          <a:p>
            <a:r>
              <a:rPr lang="en-US" sz="1100" b="1" dirty="0">
                <a:latin typeface="Times New Roman" panose="02020603050405020304" pitchFamily="18" charset="0"/>
                <a:cs typeface="Times New Roman" panose="02020603050405020304" pitchFamily="18" charset="0"/>
              </a:rPr>
              <a:t>Target Audience:</a:t>
            </a:r>
            <a:r>
              <a:rPr lang="en-US" sz="1100" dirty="0">
                <a:latin typeface="Times New Roman" panose="02020603050405020304" pitchFamily="18" charset="0"/>
                <a:cs typeface="Times New Roman" panose="02020603050405020304" pitchFamily="18" charset="0"/>
              </a:rPr>
              <a:t> Undergraduate/Postgraduate engineers, MBA students, and working professionals </a:t>
            </a:r>
          </a:p>
          <a:p>
            <a:endParaRPr lang="en-US" sz="1100" b="1" dirty="0">
              <a:latin typeface="Times New Roman" panose="02020603050405020304" pitchFamily="18" charset="0"/>
              <a:cs typeface="Times New Roman" panose="02020603050405020304" pitchFamily="18" charset="0"/>
            </a:endParaRPr>
          </a:p>
          <a:p>
            <a:r>
              <a:rPr lang="en-US" sz="1100" b="1" dirty="0">
                <a:latin typeface="Times New Roman" panose="02020603050405020304" pitchFamily="18" charset="0"/>
                <a:cs typeface="Times New Roman" panose="02020603050405020304" pitchFamily="18" charset="0"/>
              </a:rPr>
              <a:t>Learning Outcomes</a:t>
            </a:r>
          </a:p>
          <a:p>
            <a:r>
              <a:rPr lang="en-US" sz="1100" dirty="0">
                <a:latin typeface="Times New Roman" panose="02020603050405020304" pitchFamily="18" charset="0"/>
                <a:cs typeface="Times New Roman" panose="02020603050405020304" pitchFamily="18" charset="0"/>
              </a:rPr>
              <a:t>Upon completion, I was be able to:</a:t>
            </a:r>
          </a:p>
          <a:p>
            <a:r>
              <a:rPr lang="en-US" sz="1100" b="1" dirty="0">
                <a:latin typeface="Times New Roman" panose="02020603050405020304" pitchFamily="18" charset="0"/>
                <a:cs typeface="Times New Roman" panose="02020603050405020304" pitchFamily="18" charset="0"/>
              </a:rPr>
              <a:t>Define and Plan Projects:</a:t>
            </a:r>
            <a:r>
              <a:rPr lang="en-US" sz="1100" dirty="0">
                <a:latin typeface="Times New Roman" panose="02020603050405020304" pitchFamily="18" charset="0"/>
                <a:cs typeface="Times New Roman" panose="02020603050405020304" pitchFamily="18" charset="0"/>
              </a:rPr>
              <a:t> Apply formal project initiation, scope management, and planning techniques.</a:t>
            </a:r>
          </a:p>
          <a:p>
            <a:r>
              <a:rPr lang="en-US" sz="1100" b="1" dirty="0">
                <a:latin typeface="Times New Roman" panose="02020603050405020304" pitchFamily="18" charset="0"/>
                <a:cs typeface="Times New Roman" panose="02020603050405020304" pitchFamily="18" charset="0"/>
              </a:rPr>
              <a:t>Manage Constraints:</a:t>
            </a:r>
            <a:r>
              <a:rPr lang="en-US" sz="1100" dirty="0">
                <a:latin typeface="Times New Roman" panose="02020603050405020304" pitchFamily="18" charset="0"/>
                <a:cs typeface="Times New Roman" panose="02020603050405020304" pitchFamily="18" charset="0"/>
              </a:rPr>
              <a:t> Effectively balance the triple constraints of scope, time, and cost.</a:t>
            </a:r>
          </a:p>
          <a:p>
            <a:r>
              <a:rPr lang="en-US" sz="1100" b="1" dirty="0">
                <a:latin typeface="Times New Roman" panose="02020603050405020304" pitchFamily="18" charset="0"/>
                <a:cs typeface="Times New Roman" panose="02020603050405020304" pitchFamily="18" charset="0"/>
              </a:rPr>
              <a:t>Implement Tools:</a:t>
            </a:r>
            <a:r>
              <a:rPr lang="en-US" sz="1100" dirty="0">
                <a:latin typeface="Times New Roman" panose="02020603050405020304" pitchFamily="18" charset="0"/>
                <a:cs typeface="Times New Roman" panose="02020603050405020304" pitchFamily="18" charset="0"/>
              </a:rPr>
              <a:t> Utilize project management software and techniques such as PERT and CPM for scheduling.</a:t>
            </a:r>
          </a:p>
          <a:p>
            <a:r>
              <a:rPr lang="en-US" sz="1100" b="1" dirty="0">
                <a:latin typeface="Times New Roman" panose="02020603050405020304" pitchFamily="18" charset="0"/>
                <a:cs typeface="Times New Roman" panose="02020603050405020304" pitchFamily="18" charset="0"/>
              </a:rPr>
              <a:t>Mitigate Risks:</a:t>
            </a:r>
            <a:r>
              <a:rPr lang="en-US" sz="1100" dirty="0">
                <a:latin typeface="Times New Roman" panose="02020603050405020304" pitchFamily="18" charset="0"/>
                <a:cs typeface="Times New Roman" panose="02020603050405020304" pitchFamily="18" charset="0"/>
              </a:rPr>
              <a:t> Identify, evaluate, and manage project risks.</a:t>
            </a:r>
          </a:p>
          <a:p>
            <a:r>
              <a:rPr lang="en-US" sz="1100" b="1" dirty="0">
                <a:latin typeface="Times New Roman" panose="02020603050405020304" pitchFamily="18" charset="0"/>
                <a:cs typeface="Times New Roman" panose="02020603050405020304" pitchFamily="18" charset="0"/>
              </a:rPr>
              <a:t>Handle Procurement &amp; Quality:</a:t>
            </a:r>
            <a:r>
              <a:rPr lang="en-US" sz="1100" dirty="0">
                <a:latin typeface="Times New Roman" panose="02020603050405020304" pitchFamily="18" charset="0"/>
                <a:cs typeface="Times New Roman" panose="02020603050405020304" pitchFamily="18" charset="0"/>
              </a:rPr>
              <a:t> Apply quality management (e.g., Six Sigma tools) and procurement techniques to project closure. </a:t>
            </a:r>
          </a:p>
          <a:p>
            <a:endParaRPr lang="en-US" sz="1100" b="1" dirty="0">
              <a:latin typeface="Times New Roman" panose="02020603050405020304" pitchFamily="18" charset="0"/>
              <a:cs typeface="Times New Roman" panose="02020603050405020304" pitchFamily="18" charset="0"/>
            </a:endParaRPr>
          </a:p>
          <a:p>
            <a:r>
              <a:rPr lang="en-US" sz="1100" b="1" dirty="0">
                <a:latin typeface="Times New Roman" panose="02020603050405020304" pitchFamily="18" charset="0"/>
                <a:cs typeface="Times New Roman" panose="02020603050405020304" pitchFamily="18" charset="0"/>
              </a:rPr>
              <a:t>Relevance to Project Management Work</a:t>
            </a:r>
          </a:p>
          <a:p>
            <a:r>
              <a:rPr lang="en-US" sz="1100" b="1" dirty="0">
                <a:latin typeface="Times New Roman" panose="02020603050405020304" pitchFamily="18" charset="0"/>
                <a:cs typeface="Times New Roman" panose="02020603050405020304" pitchFamily="18" charset="0"/>
              </a:rPr>
              <a:t>Structured Methodology:</a:t>
            </a:r>
            <a:r>
              <a:rPr lang="en-US" sz="1100" dirty="0">
                <a:latin typeface="Times New Roman" panose="02020603050405020304" pitchFamily="18" charset="0"/>
                <a:cs typeface="Times New Roman" panose="02020603050405020304" pitchFamily="18" charset="0"/>
              </a:rPr>
              <a:t> Enables organizing tasks into projects with clear responsibility and authority for achieving specific goals.</a:t>
            </a:r>
          </a:p>
          <a:p>
            <a:r>
              <a:rPr lang="en-US" sz="1100" b="1" dirty="0">
                <a:latin typeface="Times New Roman" panose="02020603050405020304" pitchFamily="18" charset="0"/>
                <a:cs typeface="Times New Roman" panose="02020603050405020304" pitchFamily="18" charset="0"/>
              </a:rPr>
              <a:t>Improved Efficiency:</a:t>
            </a:r>
            <a:r>
              <a:rPr lang="en-US" sz="1100" dirty="0">
                <a:latin typeface="Times New Roman" panose="02020603050405020304" pitchFamily="18" charset="0"/>
                <a:cs typeface="Times New Roman" panose="02020603050405020304" pitchFamily="18" charset="0"/>
              </a:rPr>
              <a:t> Provides techniques for controlling project activities, reducing development time, and lowering costs.</a:t>
            </a:r>
          </a:p>
          <a:p>
            <a:r>
              <a:rPr lang="en-US" sz="1100" b="1" dirty="0">
                <a:latin typeface="Times New Roman" panose="02020603050405020304" pitchFamily="18" charset="0"/>
                <a:cs typeface="Times New Roman" panose="02020603050405020304" pitchFamily="18" charset="0"/>
              </a:rPr>
              <a:t>Broad Industry Application:</a:t>
            </a:r>
            <a:r>
              <a:rPr lang="en-US" sz="1100" dirty="0">
                <a:latin typeface="Times New Roman" panose="02020603050405020304" pitchFamily="18" charset="0"/>
                <a:cs typeface="Times New Roman" panose="02020603050405020304" pitchFamily="18" charset="0"/>
              </a:rPr>
              <a:t> Highly applicable to manufacturing, construction, software, and R&amp;D sectors.</a:t>
            </a:r>
          </a:p>
          <a:p>
            <a:r>
              <a:rPr lang="en-US" sz="1100" b="1" dirty="0">
                <a:latin typeface="Times New Roman" panose="02020603050405020304" pitchFamily="18" charset="0"/>
                <a:cs typeface="Times New Roman" panose="02020603050405020304" pitchFamily="18" charset="0"/>
              </a:rPr>
              <a:t>Enhanced Decision Making:</a:t>
            </a:r>
            <a:r>
              <a:rPr lang="en-US" sz="1100" dirty="0">
                <a:latin typeface="Times New Roman" panose="02020603050405020304" pitchFamily="18" charset="0"/>
                <a:cs typeface="Times New Roman" panose="02020603050405020304" pitchFamily="18" charset="0"/>
              </a:rPr>
              <a:t> Equips professionals with methods for project selection and appraisal to ensure alignment with organizational strategy and make such pretty </a:t>
            </a:r>
            <a:r>
              <a:rPr lang="en-US" sz="1100" dirty="0" err="1">
                <a:latin typeface="Times New Roman" panose="02020603050405020304" pitchFamily="18" charset="0"/>
                <a:cs typeface="Times New Roman" panose="02020603050405020304" pitchFamily="18" charset="0"/>
              </a:rPr>
              <a:t>Powerpoint</a:t>
            </a:r>
            <a:r>
              <a:rPr lang="en-US" sz="1100" dirty="0">
                <a:latin typeface="Times New Roman" panose="02020603050405020304" pitchFamily="18" charset="0"/>
                <a:cs typeface="Times New Roman" panose="02020603050405020304" pitchFamily="18" charset="0"/>
              </a:rPr>
              <a:t> slides </a:t>
            </a:r>
            <a:r>
              <a:rPr lang="en-US" sz="1100" dirty="0">
                <a:latin typeface="Times New Roman" panose="02020603050405020304" pitchFamily="18" charset="0"/>
                <a:cs typeface="Times New Roman" panose="02020603050405020304" pitchFamily="18" charset="0"/>
                <a:sym typeface="Wingdings" panose="05000000000000000000" pitchFamily="2" charset="2"/>
              </a:rPr>
              <a:t>.</a:t>
            </a:r>
            <a:endParaRPr lang="en-US" sz="1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757475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BFE7C0B-236D-0443-285A-66855A915E2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25</a:t>
            </a:fld>
            <a:endParaRPr lang="en-US"/>
          </a:p>
        </p:txBody>
      </p:sp>
      <p:pic>
        <p:nvPicPr>
          <p:cNvPr id="6" name="Picture 5">
            <a:extLst>
              <a:ext uri="{FF2B5EF4-FFF2-40B4-BE49-F238E27FC236}">
                <a16:creationId xmlns:a16="http://schemas.microsoft.com/office/drawing/2014/main" id="{1FC5021C-06EB-F174-5C16-7618D3BD30F0}"/>
              </a:ext>
            </a:extLst>
          </p:cNvPr>
          <p:cNvPicPr>
            <a:picLocks noChangeAspect="1"/>
          </p:cNvPicPr>
          <p:nvPr/>
        </p:nvPicPr>
        <p:blipFill>
          <a:blip r:embed="rId2"/>
          <a:srcRect l="14709" t="12164" r="15967" b="6166"/>
          <a:stretch>
            <a:fillRect/>
          </a:stretch>
        </p:blipFill>
        <p:spPr>
          <a:xfrm>
            <a:off x="770021" y="90229"/>
            <a:ext cx="7294574" cy="5053271"/>
          </a:xfrm>
          <a:prstGeom prst="rect">
            <a:avLst/>
          </a:prstGeom>
        </p:spPr>
      </p:pic>
    </p:spTree>
    <p:extLst>
      <p:ext uri="{BB962C8B-B14F-4D97-AF65-F5344CB8AC3E}">
        <p14:creationId xmlns:p14="http://schemas.microsoft.com/office/powerpoint/2010/main" val="5477923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84"/>
        <p:cNvGrpSpPr/>
        <p:nvPr/>
      </p:nvGrpSpPr>
      <p:grpSpPr>
        <a:xfrm>
          <a:off x="0" y="0"/>
          <a:ext cx="0" cy="0"/>
          <a:chOff x="0" y="0"/>
          <a:chExt cx="0" cy="0"/>
        </a:xfrm>
      </p:grpSpPr>
      <p:sp>
        <p:nvSpPr>
          <p:cNvPr id="185" name="Google Shape;185;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26</a:t>
            </a:fld>
            <a:endParaRPr/>
          </a:p>
        </p:txBody>
      </p:sp>
      <p:sp>
        <p:nvSpPr>
          <p:cNvPr id="187" name="Google Shape;187;p26"/>
          <p:cNvSpPr/>
          <p:nvPr/>
        </p:nvSpPr>
        <p:spPr>
          <a:xfrm>
            <a:off x="3103872" y="4570950"/>
            <a:ext cx="3188335"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200" b="0" i="0" u="none" strike="noStrike" cap="none" dirty="0">
                <a:solidFill>
                  <a:srgbClr val="888888"/>
                </a:solidFill>
                <a:latin typeface="Arial"/>
                <a:ea typeface="Arial"/>
                <a:cs typeface="Arial"/>
                <a:sym typeface="Arial"/>
              </a:rPr>
              <a:t>RV COLLEGE OF ENGINEERING</a:t>
            </a:r>
            <a:endParaRPr dirty="0"/>
          </a:p>
        </p:txBody>
      </p:sp>
      <p:sp>
        <p:nvSpPr>
          <p:cNvPr id="188" name="Google Shape;188;p26"/>
          <p:cNvSpPr txBox="1">
            <a:spLocks noGrp="1"/>
          </p:cNvSpPr>
          <p:nvPr>
            <p:ph type="title"/>
          </p:nvPr>
        </p:nvSpPr>
        <p:spPr>
          <a:xfrm>
            <a:off x="2162014" y="207425"/>
            <a:ext cx="4538506" cy="397375"/>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US" sz="2000" b="1">
                <a:solidFill>
                  <a:srgbClr val="083C92"/>
                </a:solidFill>
                <a:latin typeface="Bookman Old Style"/>
                <a:ea typeface="Bookman Old Style"/>
                <a:cs typeface="Bookman Old Style"/>
                <a:sym typeface="Bookman Old Style"/>
              </a:rPr>
              <a:t>References</a:t>
            </a:r>
            <a:endParaRPr/>
          </a:p>
        </p:txBody>
      </p:sp>
      <p:sp>
        <p:nvSpPr>
          <p:cNvPr id="189" name="Google Shape;189;p26"/>
          <p:cNvSpPr/>
          <p:nvPr/>
        </p:nvSpPr>
        <p:spPr>
          <a:xfrm>
            <a:off x="374923" y="2089701"/>
            <a:ext cx="8646235" cy="1291764"/>
          </a:xfrm>
          <a:prstGeom prst="rect">
            <a:avLst/>
          </a:prstGeom>
          <a:noFill/>
          <a:ln>
            <a:noFill/>
          </a:ln>
        </p:spPr>
        <p:txBody>
          <a:bodyPr spcFirstLastPara="1" wrap="square" lIns="91425" tIns="45700" rIns="91425" bIns="45700" anchor="ctr" anchorCtr="0">
            <a:noAutofit/>
          </a:bodyPr>
          <a:lstStyle/>
          <a:p>
            <a:r>
              <a:rPr lang="en-US" sz="800" b="0" i="0" u="none" strike="noStrike" cap="none" dirty="0">
                <a:solidFill>
                  <a:srgbClr val="000000"/>
                </a:solidFill>
                <a:latin typeface="Times New Roman" panose="02020603050405020304" pitchFamily="18" charset="0"/>
                <a:ea typeface="Bookman Old Style"/>
                <a:cs typeface="Times New Roman" panose="02020603050405020304" pitchFamily="18" charset="0"/>
                <a:sym typeface="Bookman Old Style"/>
              </a:rPr>
              <a:t>[1]Provide references in IEEE format, preferably in reverse chronological order : Books, Jour</a:t>
            </a:r>
            <a:r>
              <a:rPr lang="en-US" sz="800" b="1" dirty="0">
                <a:latin typeface="Times New Roman" panose="02020603050405020304" pitchFamily="18" charset="0"/>
                <a:cs typeface="Times New Roman" panose="02020603050405020304" pitchFamily="18" charset="0"/>
              </a:rPr>
              <a:t>[1]</a:t>
            </a:r>
            <a:r>
              <a:rPr lang="en-US" sz="800" dirty="0">
                <a:latin typeface="Times New Roman" panose="02020603050405020304" pitchFamily="18" charset="0"/>
                <a:cs typeface="Times New Roman" panose="02020603050405020304" pitchFamily="18" charset="0"/>
              </a:rPr>
              <a:t> </a:t>
            </a:r>
            <a:r>
              <a:rPr lang="en-US" sz="800" dirty="0" err="1">
                <a:latin typeface="Times New Roman" panose="02020603050405020304" pitchFamily="18" charset="0"/>
                <a:cs typeface="Times New Roman" panose="02020603050405020304" pitchFamily="18" charset="0"/>
              </a:rPr>
              <a:t>HashiCorp</a:t>
            </a:r>
            <a:r>
              <a:rPr lang="en-US" sz="800" dirty="0">
                <a:latin typeface="Times New Roman" panose="02020603050405020304" pitchFamily="18" charset="0"/>
                <a:cs typeface="Times New Roman" panose="02020603050405020304" pitchFamily="18" charset="0"/>
              </a:rPr>
              <a:t>, </a:t>
            </a:r>
            <a:r>
              <a:rPr lang="en-US" sz="800" i="1" dirty="0">
                <a:latin typeface="Times New Roman" panose="02020603050405020304" pitchFamily="18" charset="0"/>
                <a:cs typeface="Times New Roman" panose="02020603050405020304" pitchFamily="18" charset="0"/>
              </a:rPr>
              <a:t>Vault Secrets Management &amp; Dynamic Credentials</a:t>
            </a:r>
            <a:r>
              <a:rPr lang="en-US" sz="800" dirty="0">
                <a:latin typeface="Times New Roman" panose="02020603050405020304" pitchFamily="18" charset="0"/>
                <a:cs typeface="Times New Roman" panose="02020603050405020304" pitchFamily="18" charset="0"/>
              </a:rPr>
              <a:t>, </a:t>
            </a:r>
            <a:r>
              <a:rPr lang="en-US" sz="800" dirty="0" err="1">
                <a:latin typeface="Times New Roman" panose="02020603050405020304" pitchFamily="18" charset="0"/>
                <a:cs typeface="Times New Roman" panose="02020603050405020304" pitchFamily="18" charset="0"/>
              </a:rPr>
              <a:t>HashiCorp</a:t>
            </a:r>
            <a:r>
              <a:rPr lang="en-US" sz="800" dirty="0">
                <a:latin typeface="Times New Roman" panose="02020603050405020304" pitchFamily="18" charset="0"/>
                <a:cs typeface="Times New Roman" panose="02020603050405020304" pitchFamily="18" charset="0"/>
              </a:rPr>
              <a:t> Vault Documentation, v1.15, </a:t>
            </a:r>
            <a:r>
              <a:rPr lang="en-US" sz="800" dirty="0" err="1">
                <a:latin typeface="Times New Roman" panose="02020603050405020304" pitchFamily="18" charset="0"/>
                <a:cs typeface="Times New Roman" panose="02020603050405020304" pitchFamily="18" charset="0"/>
              </a:rPr>
              <a:t>HashiCorp</a:t>
            </a:r>
            <a:r>
              <a:rPr lang="en-US" sz="800" dirty="0">
                <a:latin typeface="Times New Roman" panose="02020603050405020304" pitchFamily="18" charset="0"/>
                <a:cs typeface="Times New Roman" panose="02020603050405020304" pitchFamily="18" charset="0"/>
              </a:rPr>
              <a:t> Inc., San Francisco, CA, USA, 2023. [Online]. Available: </a:t>
            </a:r>
            <a:r>
              <a:rPr lang="en-US" sz="800" dirty="0">
                <a:latin typeface="Times New Roman" panose="02020603050405020304" pitchFamily="18" charset="0"/>
                <a:cs typeface="Times New Roman" panose="02020603050405020304" pitchFamily="18" charset="0"/>
                <a:hlinkClick r:id="rId4"/>
              </a:rPr>
              <a:t>https://developer.hashicorp.com/vault/docs</a:t>
            </a:r>
            <a:endParaRPr lang="en-US" sz="800" dirty="0">
              <a:latin typeface="Times New Roman" panose="02020603050405020304" pitchFamily="18" charset="0"/>
              <a:cs typeface="Times New Roman" panose="02020603050405020304" pitchFamily="18" charset="0"/>
            </a:endParaRPr>
          </a:p>
          <a:p>
            <a:endParaRPr lang="en-US" sz="800" dirty="0">
              <a:latin typeface="Times New Roman" panose="02020603050405020304" pitchFamily="18" charset="0"/>
              <a:cs typeface="Times New Roman" panose="02020603050405020304" pitchFamily="18" charset="0"/>
            </a:endParaRPr>
          </a:p>
          <a:p>
            <a:r>
              <a:rPr lang="en-US" sz="800" b="1" dirty="0">
                <a:latin typeface="Times New Roman" panose="02020603050405020304" pitchFamily="18" charset="0"/>
                <a:cs typeface="Times New Roman" panose="02020603050405020304" pitchFamily="18" charset="0"/>
              </a:rPr>
              <a:t>[2]</a:t>
            </a:r>
            <a:r>
              <a:rPr lang="en-US" sz="800" dirty="0">
                <a:latin typeface="Times New Roman" panose="02020603050405020304" pitchFamily="18" charset="0"/>
                <a:cs typeface="Times New Roman" panose="02020603050405020304" pitchFamily="18" charset="0"/>
              </a:rPr>
              <a:t> M. </a:t>
            </a:r>
            <a:r>
              <a:rPr lang="en-US" sz="800" dirty="0" err="1">
                <a:latin typeface="Times New Roman" panose="02020603050405020304" pitchFamily="18" charset="0"/>
                <a:cs typeface="Times New Roman" panose="02020603050405020304" pitchFamily="18" charset="0"/>
              </a:rPr>
              <a:t>Souppaya</a:t>
            </a:r>
            <a:r>
              <a:rPr lang="en-US" sz="800" dirty="0">
                <a:latin typeface="Times New Roman" panose="02020603050405020304" pitchFamily="18" charset="0"/>
                <a:cs typeface="Times New Roman" panose="02020603050405020304" pitchFamily="18" charset="0"/>
              </a:rPr>
              <a:t> and K. Mrugala, </a:t>
            </a:r>
            <a:r>
              <a:rPr lang="en-US" sz="800" i="1" dirty="0">
                <a:latin typeface="Times New Roman" panose="02020603050405020304" pitchFamily="18" charset="0"/>
                <a:cs typeface="Times New Roman" panose="02020603050405020304" pitchFamily="18" charset="0"/>
              </a:rPr>
              <a:t>Application Container Security Guide</a:t>
            </a:r>
            <a:r>
              <a:rPr lang="en-US" sz="800" dirty="0">
                <a:latin typeface="Times New Roman" panose="02020603050405020304" pitchFamily="18" charset="0"/>
                <a:cs typeface="Times New Roman" panose="02020603050405020304" pitchFamily="18" charset="0"/>
              </a:rPr>
              <a:t>, NIST Special Publication 800-190, National Institute of Standards and Technology (NIST), Gaithersburg, MD, USA, 2022. </a:t>
            </a:r>
            <a:r>
              <a:rPr lang="en-US" sz="800" dirty="0" err="1">
                <a:latin typeface="Times New Roman" panose="02020603050405020304" pitchFamily="18" charset="0"/>
                <a:cs typeface="Times New Roman" panose="02020603050405020304" pitchFamily="18" charset="0"/>
              </a:rPr>
              <a:t>doi</a:t>
            </a:r>
            <a:r>
              <a:rPr lang="en-US" sz="800" dirty="0">
                <a:latin typeface="Times New Roman" panose="02020603050405020304" pitchFamily="18" charset="0"/>
                <a:cs typeface="Times New Roman" panose="02020603050405020304" pitchFamily="18" charset="0"/>
              </a:rPr>
              <a:t>: 10.6028/NIST.SP.800-190</a:t>
            </a:r>
          </a:p>
          <a:p>
            <a:endParaRPr lang="en-US" sz="800" dirty="0">
              <a:latin typeface="Times New Roman" panose="02020603050405020304" pitchFamily="18" charset="0"/>
              <a:cs typeface="Times New Roman" panose="02020603050405020304" pitchFamily="18" charset="0"/>
            </a:endParaRPr>
          </a:p>
          <a:p>
            <a:r>
              <a:rPr lang="en-US" sz="800" b="1" dirty="0">
                <a:latin typeface="Times New Roman" panose="02020603050405020304" pitchFamily="18" charset="0"/>
                <a:cs typeface="Times New Roman" panose="02020603050405020304" pitchFamily="18" charset="0"/>
              </a:rPr>
              <a:t>[3]</a:t>
            </a:r>
            <a:r>
              <a:rPr lang="en-US" sz="800" dirty="0">
                <a:latin typeface="Times New Roman" panose="02020603050405020304" pitchFamily="18" charset="0"/>
                <a:cs typeface="Times New Roman" panose="02020603050405020304" pitchFamily="18" charset="0"/>
              </a:rPr>
              <a:t> Microsoft Corporation, </a:t>
            </a:r>
            <a:r>
              <a:rPr lang="en-US" sz="800" i="1" dirty="0">
                <a:latin typeface="Times New Roman" panose="02020603050405020304" pitchFamily="18" charset="0"/>
                <a:cs typeface="Times New Roman" panose="02020603050405020304" pitchFamily="18" charset="0"/>
              </a:rPr>
              <a:t>Microsoft Identity Platform &amp; Azure MSAL SDK</a:t>
            </a:r>
            <a:r>
              <a:rPr lang="en-US" sz="800" dirty="0">
                <a:latin typeface="Times New Roman" panose="02020603050405020304" pitchFamily="18" charset="0"/>
                <a:cs typeface="Times New Roman" panose="02020603050405020304" pitchFamily="18" charset="0"/>
              </a:rPr>
              <a:t>, Azure Identity SDK v1.7, Microsoft Developer Documentation, Redmond, WA, USA, 2023. [Online]. Available: </a:t>
            </a:r>
            <a:r>
              <a:rPr lang="en-US" sz="800" dirty="0">
                <a:latin typeface="Times New Roman" panose="02020603050405020304" pitchFamily="18" charset="0"/>
                <a:cs typeface="Times New Roman" panose="02020603050405020304" pitchFamily="18" charset="0"/>
                <a:hlinkClick r:id="rId4"/>
              </a:rPr>
              <a:t>https://learn.microsoft.com/en-us/azure/active-directory/develop/</a:t>
            </a:r>
            <a:endParaRPr lang="en-US" sz="800" dirty="0">
              <a:latin typeface="Times New Roman" panose="02020603050405020304" pitchFamily="18" charset="0"/>
              <a:cs typeface="Times New Roman" panose="02020603050405020304" pitchFamily="18" charset="0"/>
            </a:endParaRPr>
          </a:p>
          <a:p>
            <a:endParaRPr lang="en-US" sz="800" dirty="0">
              <a:latin typeface="Times New Roman" panose="02020603050405020304" pitchFamily="18" charset="0"/>
              <a:cs typeface="Times New Roman" panose="02020603050405020304" pitchFamily="18" charset="0"/>
            </a:endParaRPr>
          </a:p>
          <a:p>
            <a:r>
              <a:rPr lang="en-US" sz="800" b="1" dirty="0">
                <a:latin typeface="Times New Roman" panose="02020603050405020304" pitchFamily="18" charset="0"/>
                <a:cs typeface="Times New Roman" panose="02020603050405020304" pitchFamily="18" charset="0"/>
              </a:rPr>
              <a:t>[4]</a:t>
            </a:r>
            <a:r>
              <a:rPr lang="en-US" sz="800" dirty="0">
                <a:latin typeface="Times New Roman" panose="02020603050405020304" pitchFamily="18" charset="0"/>
                <a:cs typeface="Times New Roman" panose="02020603050405020304" pitchFamily="18" charset="0"/>
              </a:rPr>
              <a:t> H. Chase et al. (</a:t>
            </a:r>
            <a:r>
              <a:rPr lang="en-US" sz="800" dirty="0" err="1">
                <a:latin typeface="Times New Roman" panose="02020603050405020304" pitchFamily="18" charset="0"/>
                <a:cs typeface="Times New Roman" panose="02020603050405020304" pitchFamily="18" charset="0"/>
              </a:rPr>
              <a:t>LangChain</a:t>
            </a:r>
            <a:r>
              <a:rPr lang="en-US" sz="800" dirty="0">
                <a:latin typeface="Times New Roman" panose="02020603050405020304" pitchFamily="18" charset="0"/>
                <a:cs typeface="Times New Roman" panose="02020603050405020304" pitchFamily="18" charset="0"/>
              </a:rPr>
              <a:t> Team), </a:t>
            </a:r>
            <a:r>
              <a:rPr lang="en-US" sz="800" i="1" dirty="0">
                <a:latin typeface="Times New Roman" panose="02020603050405020304" pitchFamily="18" charset="0"/>
                <a:cs typeface="Times New Roman" panose="02020603050405020304" pitchFamily="18" charset="0"/>
              </a:rPr>
              <a:t>Tool-Calling LLM Agents for Security Automation</a:t>
            </a:r>
            <a:r>
              <a:rPr lang="en-US" sz="800" dirty="0">
                <a:latin typeface="Times New Roman" panose="02020603050405020304" pitchFamily="18" charset="0"/>
                <a:cs typeface="Times New Roman" panose="02020603050405020304" pitchFamily="18" charset="0"/>
              </a:rPr>
              <a:t>, </a:t>
            </a:r>
            <a:r>
              <a:rPr lang="en-US" sz="800" dirty="0" err="1">
                <a:latin typeface="Times New Roman" panose="02020603050405020304" pitchFamily="18" charset="0"/>
                <a:cs typeface="Times New Roman" panose="02020603050405020304" pitchFamily="18" charset="0"/>
              </a:rPr>
              <a:t>LangChain</a:t>
            </a:r>
            <a:r>
              <a:rPr lang="en-US" sz="800" dirty="0">
                <a:latin typeface="Times New Roman" panose="02020603050405020304" pitchFamily="18" charset="0"/>
                <a:cs typeface="Times New Roman" panose="02020603050405020304" pitchFamily="18" charset="0"/>
              </a:rPr>
              <a:t> &amp; OpenAI Technical Report, </a:t>
            </a:r>
            <a:r>
              <a:rPr lang="en-US" sz="800" dirty="0" err="1">
                <a:latin typeface="Times New Roman" panose="02020603050405020304" pitchFamily="18" charset="0"/>
                <a:cs typeface="Times New Roman" panose="02020603050405020304" pitchFamily="18" charset="0"/>
              </a:rPr>
              <a:t>LangChain</a:t>
            </a:r>
            <a:r>
              <a:rPr lang="en-US" sz="800" dirty="0">
                <a:latin typeface="Times New Roman" panose="02020603050405020304" pitchFamily="18" charset="0"/>
                <a:cs typeface="Times New Roman" panose="02020603050405020304" pitchFamily="18" charset="0"/>
              </a:rPr>
              <a:t> Inc., San Francisco, CA, USA, 2024. [Online]. Available: </a:t>
            </a:r>
            <a:r>
              <a:rPr lang="en-US" sz="800" dirty="0">
                <a:latin typeface="Times New Roman" panose="02020603050405020304" pitchFamily="18" charset="0"/>
                <a:cs typeface="Times New Roman" panose="02020603050405020304" pitchFamily="18" charset="0"/>
                <a:hlinkClick r:id="rId4"/>
              </a:rPr>
              <a:t>https://docs.langchain.com</a:t>
            </a:r>
            <a:endParaRPr lang="en-US" sz="800" dirty="0">
              <a:latin typeface="Times New Roman" panose="02020603050405020304" pitchFamily="18" charset="0"/>
              <a:cs typeface="Times New Roman" panose="02020603050405020304" pitchFamily="18" charset="0"/>
            </a:endParaRPr>
          </a:p>
          <a:p>
            <a:endParaRPr lang="en-US" sz="800" dirty="0">
              <a:latin typeface="Times New Roman" panose="02020603050405020304" pitchFamily="18" charset="0"/>
              <a:cs typeface="Times New Roman" panose="02020603050405020304" pitchFamily="18" charset="0"/>
            </a:endParaRPr>
          </a:p>
          <a:p>
            <a:r>
              <a:rPr lang="en-US" sz="800" b="1" dirty="0">
                <a:latin typeface="Times New Roman" panose="02020603050405020304" pitchFamily="18" charset="0"/>
                <a:cs typeface="Times New Roman" panose="02020603050405020304" pitchFamily="18" charset="0"/>
              </a:rPr>
              <a:t>[5]</a:t>
            </a:r>
            <a:r>
              <a:rPr lang="en-US" sz="800" dirty="0">
                <a:latin typeface="Times New Roman" panose="02020603050405020304" pitchFamily="18" charset="0"/>
                <a:cs typeface="Times New Roman" panose="02020603050405020304" pitchFamily="18" charset="0"/>
              </a:rPr>
              <a:t> R. Syed, A. Khan, and M. Iqbal, "ML-Based Anomaly Detection in IAM Access Logs using Isolation Forest," </a:t>
            </a:r>
            <a:r>
              <a:rPr lang="en-US" sz="800" i="1" dirty="0">
                <a:latin typeface="Times New Roman" panose="02020603050405020304" pitchFamily="18" charset="0"/>
                <a:cs typeface="Times New Roman" panose="02020603050405020304" pitchFamily="18" charset="0"/>
              </a:rPr>
              <a:t>International Journal of Computer Science and Information Security (IJCSIS)</a:t>
            </a:r>
            <a:r>
              <a:rPr lang="en-US" sz="800" dirty="0">
                <a:latin typeface="Times New Roman" panose="02020603050405020304" pitchFamily="18" charset="0"/>
                <a:cs typeface="Times New Roman" panose="02020603050405020304" pitchFamily="18" charset="0"/>
              </a:rPr>
              <a:t>, vol. 19, no. 4, pp. 45–53, Apr. 2021.</a:t>
            </a:r>
          </a:p>
          <a:p>
            <a:endParaRPr lang="en-US" sz="800" dirty="0">
              <a:latin typeface="Times New Roman" panose="02020603050405020304" pitchFamily="18" charset="0"/>
              <a:cs typeface="Times New Roman" panose="02020603050405020304" pitchFamily="18" charset="0"/>
            </a:endParaRPr>
          </a:p>
          <a:p>
            <a:r>
              <a:rPr lang="en-US" sz="800" b="1" dirty="0">
                <a:latin typeface="Times New Roman" panose="02020603050405020304" pitchFamily="18" charset="0"/>
                <a:cs typeface="Times New Roman" panose="02020603050405020304" pitchFamily="18" charset="0"/>
              </a:rPr>
              <a:t>[6]</a:t>
            </a:r>
            <a:r>
              <a:rPr lang="en-US" sz="800" dirty="0">
                <a:latin typeface="Times New Roman" panose="02020603050405020304" pitchFamily="18" charset="0"/>
                <a:cs typeface="Times New Roman" panose="02020603050405020304" pitchFamily="18" charset="0"/>
              </a:rPr>
              <a:t> CyberArk Software Ltd., </a:t>
            </a:r>
            <a:r>
              <a:rPr lang="en-US" sz="800" i="1" dirty="0">
                <a:latin typeface="Times New Roman" panose="02020603050405020304" pitchFamily="18" charset="0"/>
                <a:cs typeface="Times New Roman" panose="02020603050405020304" pitchFamily="18" charset="0"/>
              </a:rPr>
              <a:t>CyberArk Privileged Access Manager (PAM) — Service Account Management</a:t>
            </a:r>
            <a:r>
              <a:rPr lang="en-US" sz="800" dirty="0">
                <a:latin typeface="Times New Roman" panose="02020603050405020304" pitchFamily="18" charset="0"/>
                <a:cs typeface="Times New Roman" panose="02020603050405020304" pitchFamily="18" charset="0"/>
              </a:rPr>
              <a:t>, CyberArk PAM Documentation, v13.2, Newton, MA, USA, 2023. [Online]. Available: </a:t>
            </a:r>
            <a:r>
              <a:rPr lang="en-US" sz="800" dirty="0">
                <a:latin typeface="Times New Roman" panose="02020603050405020304" pitchFamily="18" charset="0"/>
                <a:cs typeface="Times New Roman" panose="02020603050405020304" pitchFamily="18" charset="0"/>
                <a:hlinkClick r:id="rId4"/>
              </a:rPr>
              <a:t>https://docs.cyberark.com/pam</a:t>
            </a:r>
            <a:endParaRPr lang="en-US" sz="800" dirty="0">
              <a:latin typeface="Times New Roman" panose="02020603050405020304" pitchFamily="18" charset="0"/>
              <a:cs typeface="Times New Roman" panose="02020603050405020304" pitchFamily="18" charset="0"/>
            </a:endParaRPr>
          </a:p>
          <a:p>
            <a:endParaRPr lang="en-US" sz="800" dirty="0">
              <a:latin typeface="Times New Roman" panose="02020603050405020304" pitchFamily="18" charset="0"/>
              <a:cs typeface="Times New Roman" panose="02020603050405020304" pitchFamily="18" charset="0"/>
            </a:endParaRPr>
          </a:p>
          <a:p>
            <a:r>
              <a:rPr lang="en-US" sz="800" b="1" dirty="0">
                <a:latin typeface="Times New Roman" panose="02020603050405020304" pitchFamily="18" charset="0"/>
                <a:cs typeface="Times New Roman" panose="02020603050405020304" pitchFamily="18" charset="0"/>
              </a:rPr>
              <a:t>[7]</a:t>
            </a:r>
            <a:r>
              <a:rPr lang="en-US" sz="800" dirty="0">
                <a:latin typeface="Times New Roman" panose="02020603050405020304" pitchFamily="18" charset="0"/>
                <a:cs typeface="Times New Roman" panose="02020603050405020304" pitchFamily="18" charset="0"/>
              </a:rPr>
              <a:t> D. Hardt (Ed.), </a:t>
            </a:r>
            <a:r>
              <a:rPr lang="en-US" sz="800" i="1" dirty="0">
                <a:latin typeface="Times New Roman" panose="02020603050405020304" pitchFamily="18" charset="0"/>
                <a:cs typeface="Times New Roman" panose="02020603050405020304" pitchFamily="18" charset="0"/>
              </a:rPr>
              <a:t>The OAuth 2.0 Authorization Framework</a:t>
            </a:r>
            <a:r>
              <a:rPr lang="en-US" sz="800" dirty="0">
                <a:latin typeface="Times New Roman" panose="02020603050405020304" pitchFamily="18" charset="0"/>
                <a:cs typeface="Times New Roman" panose="02020603050405020304" pitchFamily="18" charset="0"/>
              </a:rPr>
              <a:t>, RFC 6749, Internet Engineering Task Force (IETF), Oct. 2012. [Online]. Available: </a:t>
            </a:r>
            <a:r>
              <a:rPr lang="en-US" sz="800" dirty="0">
                <a:latin typeface="Times New Roman" panose="02020603050405020304" pitchFamily="18" charset="0"/>
                <a:cs typeface="Times New Roman" panose="02020603050405020304" pitchFamily="18" charset="0"/>
                <a:hlinkClick r:id="rId4"/>
              </a:rPr>
              <a:t>https://www.rfc-editor.org/rfc/rfc6749</a:t>
            </a:r>
            <a:endParaRPr lang="en-US" sz="800" dirty="0">
              <a:latin typeface="Times New Roman" panose="02020603050405020304" pitchFamily="18" charset="0"/>
              <a:cs typeface="Times New Roman" panose="02020603050405020304" pitchFamily="18" charset="0"/>
            </a:endParaRPr>
          </a:p>
          <a:p>
            <a:endParaRPr lang="en-US" sz="800" dirty="0">
              <a:latin typeface="Times New Roman" panose="02020603050405020304" pitchFamily="18" charset="0"/>
              <a:cs typeface="Times New Roman" panose="02020603050405020304" pitchFamily="18" charset="0"/>
            </a:endParaRPr>
          </a:p>
          <a:p>
            <a:r>
              <a:rPr lang="en-US" sz="800" b="1" dirty="0">
                <a:latin typeface="Times New Roman" panose="02020603050405020304" pitchFamily="18" charset="0"/>
                <a:cs typeface="Times New Roman" panose="02020603050405020304" pitchFamily="18" charset="0"/>
              </a:rPr>
              <a:t>[8]</a:t>
            </a:r>
            <a:r>
              <a:rPr lang="en-US" sz="800" dirty="0">
                <a:latin typeface="Times New Roman" panose="02020603050405020304" pitchFamily="18" charset="0"/>
                <a:cs typeface="Times New Roman" panose="02020603050405020304" pitchFamily="18" charset="0"/>
              </a:rPr>
              <a:t> The Kubernetes Authors, </a:t>
            </a:r>
            <a:r>
              <a:rPr lang="en-US" sz="800" i="1" dirty="0">
                <a:latin typeface="Times New Roman" panose="02020603050405020304" pitchFamily="18" charset="0"/>
                <a:cs typeface="Times New Roman" panose="02020603050405020304" pitchFamily="18" charset="0"/>
              </a:rPr>
              <a:t>Kubernetes RBAC &amp; Service Account Governance</a:t>
            </a:r>
            <a:r>
              <a:rPr lang="en-US" sz="800" dirty="0">
                <a:latin typeface="Times New Roman" panose="02020603050405020304" pitchFamily="18" charset="0"/>
                <a:cs typeface="Times New Roman" panose="02020603050405020304" pitchFamily="18" charset="0"/>
              </a:rPr>
              <a:t>, Kubernetes Official Documentation, v1.29, Cloud Native Computing Foundation (CNCF), 2023. [Online]. Available: </a:t>
            </a:r>
            <a:r>
              <a:rPr lang="en-US" sz="800" dirty="0">
                <a:latin typeface="Times New Roman" panose="02020603050405020304" pitchFamily="18" charset="0"/>
                <a:cs typeface="Times New Roman" panose="02020603050405020304" pitchFamily="18" charset="0"/>
                <a:hlinkClick r:id="rId4"/>
              </a:rPr>
              <a:t>https://kubernetes.io/docs/reference/access-authn-authz/rbac/</a:t>
            </a:r>
            <a:endParaRPr lang="en-US" sz="800" dirty="0">
              <a:latin typeface="Times New Roman" panose="02020603050405020304" pitchFamily="18" charset="0"/>
              <a:cs typeface="Times New Roman" panose="02020603050405020304" pitchFamily="18" charset="0"/>
            </a:endParaRPr>
          </a:p>
          <a:p>
            <a:endParaRPr lang="en-US" sz="800" dirty="0">
              <a:latin typeface="Times New Roman" panose="02020603050405020304" pitchFamily="18" charset="0"/>
              <a:cs typeface="Times New Roman" panose="02020603050405020304" pitchFamily="18" charset="0"/>
            </a:endParaRPr>
          </a:p>
          <a:p>
            <a:r>
              <a:rPr lang="en-US" sz="800" b="1" dirty="0">
                <a:latin typeface="Times New Roman" panose="02020603050405020304" pitchFamily="18" charset="0"/>
                <a:cs typeface="Times New Roman" panose="02020603050405020304" pitchFamily="18" charset="0"/>
              </a:rPr>
              <a:t>[9]</a:t>
            </a:r>
            <a:r>
              <a:rPr lang="en-US" sz="800" dirty="0">
                <a:latin typeface="Times New Roman" panose="02020603050405020304" pitchFamily="18" charset="0"/>
                <a:cs typeface="Times New Roman" panose="02020603050405020304" pitchFamily="18" charset="0"/>
              </a:rPr>
              <a:t> S. Rose, O. Borchert, S. Mitchell, and S. Connelly, </a:t>
            </a:r>
            <a:r>
              <a:rPr lang="en-US" sz="800" i="1" dirty="0">
                <a:latin typeface="Times New Roman" panose="02020603050405020304" pitchFamily="18" charset="0"/>
                <a:cs typeface="Times New Roman" panose="02020603050405020304" pitchFamily="18" charset="0"/>
              </a:rPr>
              <a:t>Zero Trust Architecture</a:t>
            </a:r>
            <a:r>
              <a:rPr lang="en-US" sz="800" dirty="0">
                <a:latin typeface="Times New Roman" panose="02020603050405020304" pitchFamily="18" charset="0"/>
                <a:cs typeface="Times New Roman" panose="02020603050405020304" pitchFamily="18" charset="0"/>
              </a:rPr>
              <a:t>, NIST Special Publication 800-207, National Institute of Standards and Technology (NIST), Gaithersburg, MD, USA, Aug. 2020. </a:t>
            </a:r>
            <a:r>
              <a:rPr lang="en-US" sz="800" dirty="0" err="1">
                <a:latin typeface="Times New Roman" panose="02020603050405020304" pitchFamily="18" charset="0"/>
                <a:cs typeface="Times New Roman" panose="02020603050405020304" pitchFamily="18" charset="0"/>
              </a:rPr>
              <a:t>doi</a:t>
            </a:r>
            <a:r>
              <a:rPr lang="en-US" sz="800" dirty="0">
                <a:latin typeface="Times New Roman" panose="02020603050405020304" pitchFamily="18" charset="0"/>
                <a:cs typeface="Times New Roman" panose="02020603050405020304" pitchFamily="18" charset="0"/>
              </a:rPr>
              <a:t>: 10.6028/NIST.SP.800-207</a:t>
            </a:r>
          </a:p>
          <a:p>
            <a:endParaRPr lang="en-US" sz="800" dirty="0">
              <a:latin typeface="Times New Roman" panose="02020603050405020304" pitchFamily="18" charset="0"/>
              <a:cs typeface="Times New Roman" panose="02020603050405020304" pitchFamily="18" charset="0"/>
            </a:endParaRPr>
          </a:p>
          <a:p>
            <a:r>
              <a:rPr lang="en-US" sz="800" b="1" dirty="0">
                <a:latin typeface="Times New Roman" panose="02020603050405020304" pitchFamily="18" charset="0"/>
                <a:cs typeface="Times New Roman" panose="02020603050405020304" pitchFamily="18" charset="0"/>
              </a:rPr>
              <a:t>[10]</a:t>
            </a:r>
            <a:r>
              <a:rPr lang="en-US" sz="800" dirty="0">
                <a:latin typeface="Times New Roman" panose="02020603050405020304" pitchFamily="18" charset="0"/>
                <a:cs typeface="Times New Roman" panose="02020603050405020304" pitchFamily="18" charset="0"/>
              </a:rPr>
              <a:t> OWASP Foundation, </a:t>
            </a:r>
            <a:r>
              <a:rPr lang="en-US" sz="800" i="1" dirty="0">
                <a:latin typeface="Times New Roman" panose="02020603050405020304" pitchFamily="18" charset="0"/>
                <a:cs typeface="Times New Roman" panose="02020603050405020304" pitchFamily="18" charset="0"/>
              </a:rPr>
              <a:t>OWASP Non-Human Identities Top 10 Security Risks</a:t>
            </a:r>
            <a:r>
              <a:rPr lang="en-US" sz="800" dirty="0">
                <a:latin typeface="Times New Roman" panose="02020603050405020304" pitchFamily="18" charset="0"/>
                <a:cs typeface="Times New Roman" panose="02020603050405020304" pitchFamily="18" charset="0"/>
              </a:rPr>
              <a:t>, OWASP NHI Top 10 Project, OWASP Foundation, 2024. [Online]. Available: </a:t>
            </a:r>
            <a:r>
              <a:rPr lang="en-US" sz="800" dirty="0">
                <a:latin typeface="Times New Roman" panose="02020603050405020304" pitchFamily="18" charset="0"/>
                <a:cs typeface="Times New Roman" panose="02020603050405020304" pitchFamily="18" charset="0"/>
                <a:hlinkClick r:id="rId4"/>
              </a:rPr>
              <a:t>https://owasp.org/www-project-non-human-identities-top-10/</a:t>
            </a:r>
            <a:endParaRPr lang="en-US" sz="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93"/>
        <p:cNvGrpSpPr/>
        <p:nvPr/>
      </p:nvGrpSpPr>
      <p:grpSpPr>
        <a:xfrm>
          <a:off x="0" y="0"/>
          <a:ext cx="0" cy="0"/>
          <a:chOff x="0" y="0"/>
          <a:chExt cx="0" cy="0"/>
        </a:xfrm>
      </p:grpSpPr>
      <p:sp>
        <p:nvSpPr>
          <p:cNvPr id="194" name="Google Shape;194;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27</a:t>
            </a:fld>
            <a:endParaRPr/>
          </a:p>
        </p:txBody>
      </p:sp>
      <p:sp>
        <p:nvSpPr>
          <p:cNvPr id="195" name="Google Shape;195;p27"/>
          <p:cNvSpPr/>
          <p:nvPr/>
        </p:nvSpPr>
        <p:spPr>
          <a:xfrm>
            <a:off x="311785" y="4483735"/>
            <a:ext cx="212598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1200" b="0" i="0" u="none" strike="noStrike" cap="none" dirty="0">
                <a:solidFill>
                  <a:srgbClr val="888888"/>
                </a:solidFill>
                <a:latin typeface="Arial"/>
                <a:ea typeface="Arial"/>
                <a:cs typeface="Arial"/>
                <a:sym typeface="Arial"/>
              </a:rPr>
              <a:t>Date : 5/6/2026</a:t>
            </a:r>
            <a:endParaRPr dirty="0"/>
          </a:p>
        </p:txBody>
      </p:sp>
      <p:sp>
        <p:nvSpPr>
          <p:cNvPr id="196" name="Google Shape;196;p27"/>
          <p:cNvSpPr/>
          <p:nvPr/>
        </p:nvSpPr>
        <p:spPr>
          <a:xfrm>
            <a:off x="3512185" y="4483735"/>
            <a:ext cx="3188335"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200" b="0" i="0" u="none" strike="noStrike" cap="none">
                <a:solidFill>
                  <a:srgbClr val="888888"/>
                </a:solidFill>
                <a:latin typeface="Arial"/>
                <a:ea typeface="Arial"/>
                <a:cs typeface="Arial"/>
                <a:sym typeface="Arial"/>
              </a:rPr>
              <a:t>RV COLLEGE OF ENGINEERING</a:t>
            </a:r>
            <a:endParaRPr/>
          </a:p>
        </p:txBody>
      </p:sp>
      <p:sp>
        <p:nvSpPr>
          <p:cNvPr id="197" name="Google Shape;197;p27"/>
          <p:cNvSpPr txBox="1"/>
          <p:nvPr/>
        </p:nvSpPr>
        <p:spPr>
          <a:xfrm>
            <a:off x="3175301" y="2094551"/>
            <a:ext cx="3732677" cy="648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3600" b="1" i="1" u="none" strike="noStrike" cap="none" dirty="0">
                <a:solidFill>
                  <a:srgbClr val="083C92"/>
                </a:solidFill>
                <a:latin typeface="Bookman Old Style"/>
                <a:ea typeface="Bookman Old Style"/>
                <a:cs typeface="Bookman Old Style"/>
                <a:sym typeface="Bookman Old Style"/>
              </a:rPr>
              <a:t>Thank you</a:t>
            </a:r>
            <a:endParaRPr dirty="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d546e5e1-5d42-4630-bacd-c69bfdcbd5e8}" enabled="1" method="Standard" siteId="{96ece526-9c7d-48b0-8daf-8b93c90a5d18}" removed="0"/>
</clbl:labelList>
</file>

<file path=docProps/app.xml><?xml version="1.0" encoding="utf-8"?>
<Properties xmlns="http://schemas.openxmlformats.org/officeDocument/2006/extended-properties" xmlns:vt="http://schemas.openxmlformats.org/officeDocument/2006/docPropsVTypes">
  <TotalTime>134</TotalTime>
  <Words>4017</Words>
  <Application>Microsoft Office PowerPoint</Application>
  <PresentationFormat>On-screen Show (16:9)</PresentationFormat>
  <Paragraphs>530</Paragraphs>
  <Slides>27</Slides>
  <Notes>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Bookman Old Style</vt:lpstr>
      <vt:lpstr>Playfair Display</vt:lpstr>
      <vt:lpstr>Arial</vt:lpstr>
      <vt:lpstr>Times New Roman</vt:lpstr>
      <vt:lpstr>Helvetica Neue</vt:lpstr>
      <vt:lpstr>Calibri</vt:lpstr>
      <vt:lpstr>Simple Light</vt:lpstr>
      <vt:lpstr>PowerPoint Presentation</vt:lpstr>
      <vt:lpstr>PowerPoint Presentation</vt:lpstr>
      <vt:lpstr>Agenda</vt:lpstr>
      <vt:lpstr>Introduction</vt:lpstr>
      <vt:lpstr>Literature Review </vt:lpstr>
      <vt:lpstr>Literature Review </vt:lpstr>
      <vt:lpstr>PowerPoint Presentation</vt:lpstr>
      <vt:lpstr>Motivation</vt:lpstr>
      <vt:lpstr>Problem Statement</vt:lpstr>
      <vt:lpstr>Objectives</vt:lpstr>
      <vt:lpstr>Specifications</vt:lpstr>
      <vt:lpstr>PowerPoint Presentation</vt:lpstr>
      <vt:lpstr>PowerPoint Presentation</vt:lpstr>
      <vt:lpstr>PowerPoint Presentation</vt:lpstr>
      <vt:lpstr>PowerPoint Presentation</vt:lpstr>
      <vt:lpstr>PowerPoint Presentation</vt:lpstr>
      <vt:lpstr>PowerPoint Presentation</vt:lpstr>
      <vt:lpstr>Implementation and Testing- Modules</vt:lpstr>
      <vt:lpstr>PowerPoint Presentation</vt:lpstr>
      <vt:lpstr>PowerPoint Presentation</vt:lpstr>
      <vt:lpstr>PowerPoint Presentation</vt:lpstr>
      <vt:lpstr>PowerPoint Presentation</vt:lpstr>
      <vt:lpstr>PowerPoint Presentation</vt:lpstr>
      <vt:lpstr>Online Course Certification </vt:lpstr>
      <vt:lpstr>PowerPoint Presentation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Mishra, Umang</cp:lastModifiedBy>
  <cp:revision>3</cp:revision>
  <dcterms:modified xsi:type="dcterms:W3CDTF">2026-06-04T18:14:59Z</dcterms:modified>
</cp:coreProperties>
</file>