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R V 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Department of Computer Science  ·  Bengaluru – 560 059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417320"/>
            <a:ext cx="7616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600200"/>
            <a:ext cx="9445752" cy="59436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9262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VIII Semester Major Project Work  (CS481P / CD481P / CY481P)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10908792" cy="141732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468880"/>
            <a:ext cx="7315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105156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IA-DevSecOps: Intelligent Non-Human Identity (NHI)
Governance &amp; Lifecycle Management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Student Names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11480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Team Member 1 (1RV21CS001)   |   Team Member 2 (1RV21CS002)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443984"/>
            <a:ext cx="10789920" cy="9144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537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Internship at 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5537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Honeywell International — Connected Enterprise (CE) DevOps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882896"/>
            <a:ext cx="10789920" cy="9144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9262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Internal Guide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992624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Prof. [Guide Name]   ·   Department of Computer Science, RVCE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321808"/>
            <a:ext cx="10789920" cy="9144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315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External Guide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43153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Mr. [Mentor Name]   ·   Sr. Software Engineer, Honeywell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760720"/>
            <a:ext cx="10789920" cy="9144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Presentation Overview — NHI Governance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79576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216152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43000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179576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216152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27632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27632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664208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700784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627632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627632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664208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1700784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112264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112264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148840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185416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112264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112264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148840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185416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Specifications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596896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2596896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633472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2670048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Design Methodology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596896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2596896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2633472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2670048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Implementation &amp; Testing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081528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3081528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118104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3154680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Results, Analysis &amp; Discussion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081528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3081528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3118104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3154680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Demo of the Project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566160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3566160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02736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3639312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SDG Mapping / Outcomes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566160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3566160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3602736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3639312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Online Course Certification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050791"/>
            <a:ext cx="56692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4050791"/>
            <a:ext cx="502920" cy="4297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087368"/>
            <a:ext cx="457200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4123944"/>
            <a:ext cx="4983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Background · Problem Domain · Importance · Technologies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97280"/>
            <a:ext cx="56235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97280"/>
            <a:ext cx="56235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Project 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572768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Modern cloud environments rely heavily on Non-Human Identities (NHIs) — service accounts, API tokens, deploy keys, TLS certificates, and managed identities.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176272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Enterprises like Honeywell operate thousands of NHIs across GitHub, Azure, and on-premise systems with no centralised governance or automated lifecycle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779776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Unrotated or expired credentials are among the leading causes of cloud security breaches, directly impacting compliance with SOC2 Type II and ISO 27001 frameworks.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097280"/>
            <a:ext cx="5925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097280"/>
            <a:ext cx="592531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11430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Core Technologies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1572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🐍 Python 3.11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5727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Orchestrator, 8 AI Agents, Flask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1911095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⚛️  React + TypeScript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11095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Real-time monitoring dashboard (Vite)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2494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🤖 LangChain + GPT-4o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24942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Agentic pipeline &amp; LLM risk enrichment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2587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☁️  Azure SDK /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5877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Service Principal &amp; Key Vault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🔑 PyGithub + PyNaCl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29260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GitHub NHI discovery &amp; secret encryption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3264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🧠 scikit-learn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26440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Isolation Forest anomaly detection &amp; trend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520440"/>
            <a:ext cx="2240280" cy="86868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3566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39319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Intelligent Agents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520440"/>
            <a:ext cx="2240280" cy="86868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3566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9319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Policy Rules (R001–R011)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520440"/>
            <a:ext cx="2240280" cy="86868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3566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39319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Cloud Integrations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520440"/>
            <a:ext cx="2240280" cy="86868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3566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9319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ML Algorithms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55480" y="3520440"/>
            <a:ext cx="2240280" cy="86868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3566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39319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Compliance Frameworks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" y="448056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This project was developed as an internship contribution at Honeywell International — CE DevOps, addressing real-world NHI governance challenges across enterprise-scale cloud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Prior Work · Techniques · Limitations · Research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43000"/>
            <a:ext cx="11676888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43000"/>
            <a:ext cx="54864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7957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[1] Hashicorp (2023)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179576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Vault Secrets Management &amp; Dynamic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508760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Centralised secrets engine with dynamic credential generation. Limitation: No cross-platform NHI discovery or risk scoring.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084832"/>
            <a:ext cx="11676888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2084832"/>
            <a:ext cx="54864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2140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[2] NIST SP 800-190 (2022)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121408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Application Container Security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45059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Guidelines for securing containerised NHIs and secrets. Limitation: Framework guidance only; no automated enforcement.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026664"/>
            <a:ext cx="11676888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3026664"/>
            <a:ext cx="54864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0632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[3] Microsoft MSAL / Azure Identity (2023)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06324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Managed Identity &amp; Service Principal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392424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SDK-level credential management. Limitation: Azure-only scope; no unified multi-cloud view.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3968496"/>
            <a:ext cx="11676888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3968496"/>
            <a:ext cx="54864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00507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[4] LangChain + OpenAI (2024)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00507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Tool-Calling Agents for Security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34256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GPT-4 function calling for security pipelines. Limitation: No domain-specific NHI governance applications demonstrated.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4910328"/>
            <a:ext cx="11676888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4910328"/>
            <a:ext cx="54864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94690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[5] Syed et al., IJCSIS (2021)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946904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ML-based Anomaly Detection in IAM Logs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27608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Isolation Forest for detecting unusual identity behaviour. Limitation: Offline analysis only; not integrated into real-time governance.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943600"/>
            <a:ext cx="11676888" cy="530352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5943600"/>
            <a:ext cx="1167688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98932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Research Gap Identified:  No existing solution provides a unified, multi-cloud NHI governance platform that combines automated discovery, ML-based risk scoring, policy enforcement (SOC2 / ISO 27001), and one-click credential rotation through a real-time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Why NHI Governance Matters in Modern DevSecOps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43000"/>
            <a:ext cx="54864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43000"/>
            <a:ext cx="5486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Key Drivers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6276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CRITICAL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1901952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Unrotated credentials are involved in 80 %+ of cloud breaches (Verizon DBIR 2023). A single stale GitHub PAT can expose entire CI/CD pipelines.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6334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334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SCALE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907791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 typical enterprise has 45× more NHIs than human identities. Honeywell's GitHub organisation alone manages thousands of deploy keys, Actions secrets, and service-principal credentials.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393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COMPLIANCE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3913632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SOC2 Type II (CC6) and ISO 27001 (A.9) mandate documented credential rotation policies with audit evidence. Manual tracking in spreadsheets fails periodic audits.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6451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MEAN TIME TO ROTATE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4919472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Without automation, mean time to rotate an expiring credential is 14–30 days. This project reduces it to &lt; 1 minute for GitHub deploy keys and Actions secrets.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143000"/>
            <a:ext cx="5943600" cy="521208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14300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Industry Statistics &amp; Project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627632"/>
            <a:ext cx="580644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67335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alibri"/>
              </a:rPr>
              <a:t>45 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1792224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More NHIs than humans in enterprise environments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359152"/>
            <a:ext cx="580644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40487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alibri"/>
              </a:rPr>
              <a:t>80 %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2523744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Of breaches involve compromised credentials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090672"/>
            <a:ext cx="580644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3136391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alibri"/>
              </a:rPr>
              <a:t>14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255264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Average time to detect an exposed secret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22191"/>
            <a:ext cx="580644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3867911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alibri"/>
              </a:rPr>
              <a:t>&lt; 1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3986783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Rotation time achieved by this platform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553712"/>
            <a:ext cx="580644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4599431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alibri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4718303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Policy rules automating SOC2 &amp; ISO 27001 controls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5285231"/>
            <a:ext cx="580644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5330951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alibri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5449823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False positives using ML Isolation Forest tuning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Core Challenge in Enterprise NHI Lifecycle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43000"/>
            <a:ext cx="11676888" cy="13716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43000"/>
            <a:ext cx="11676888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FFFFFF"/>
                </a:solidFill>
                <a:latin typeface="Calibri"/>
              </a:rPr>
              <a:t>"Enterprise DevSecOps teams lack a unified, automated platform to discover, score, monitor, and rotate Non-Human Identities (NHIs) — including GitHub deploy keys, Actions secrets, PATs, Azure service principal credentials, Key Vault secrets, and TLS certificates — across heterogeneous cloud environments, resulting in undetected credential sprawl, compliance violations, and elevated security risk exposure."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697480"/>
            <a:ext cx="566928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2697480"/>
            <a:ext cx="5669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788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Lack of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3118104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 single pane of glass for NHI inventory across GitHub and Azure.  Credentials are scattered across repos, vaults, and config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2697480"/>
            <a:ext cx="566928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62472" y="2697480"/>
            <a:ext cx="5669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2788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Manual &amp; Error-Prone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118104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Rotation relies on calendar reminders or ad-hoc scripts. Expired credentials go unnoticed for weeks or months.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3858768"/>
            <a:ext cx="566928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3858768"/>
            <a:ext cx="5669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39502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No Risk Quantification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427939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Without a risk score, security teams cannot prioritise which credentials to address first — critical items remain buried.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2472" y="3858768"/>
            <a:ext cx="566928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62472" y="3858768"/>
            <a:ext cx="5669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39502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Policy 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427939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SOC2 CC6 and ISO 27001 A.9 controls require evidence of credential rotation. Manual processes produce no audit trail or evidence.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5020056"/>
            <a:ext cx="566928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5020056"/>
            <a:ext cx="5669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5111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No ML Anomaly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544068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Sudden changes in NHI count or credential age are not flagged automatically; dormant or orphaned identities accumulate silently.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2472" y="5020056"/>
            <a:ext cx="566928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62472" y="5020056"/>
            <a:ext cx="5669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4" y="5111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Slow Incident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7064" y="544068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When a credential is leaked, there is no automated path to immediately revoke and reissue without manual multi-step processes.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Primary Functional Goals of the NHI Governance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15568"/>
            <a:ext cx="5669280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15568"/>
            <a:ext cx="502920" cy="16276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115568"/>
            <a:ext cx="54864" cy="16276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170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  <a:latin typeface="Calibri"/>
              </a:rPr>
              <a:t>O1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18872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Automated Multi-Source NHI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1572768"/>
            <a:ext cx="49560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Continuously discover all NHIs from GitHub repositories (deploy keys, Actions secrets, PATs), Azure Active Directory (service principals, managed identities), Azure Key Vault (secrets, certificates, keys), and domain TLS certificates — without manual enumeration.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115568"/>
            <a:ext cx="5669280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62472" y="1115568"/>
            <a:ext cx="502920" cy="16276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62472" y="1115568"/>
            <a:ext cx="54864" cy="16276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1170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O2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118872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Unified Risk Scoring Engine (0–100)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1572768"/>
            <a:ext cx="49560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Assign a numeric risk score to every NHI based on credential age, days until expiry, permission scope, dormancy, and contextual factors. Score drives prioritisation and automated rotation thresholds (configurable, default ≥ 70 triggers action).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852928"/>
            <a:ext cx="5669280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2852928"/>
            <a:ext cx="502920" cy="16276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2852928"/>
            <a:ext cx="54864" cy="1627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29077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O3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292608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Policy Enforcement — SOC2 &amp; ISO 27001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310128"/>
            <a:ext cx="49560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Evaluate 11 policy rules (R001–R011) covering PAT age, deploy key rotation, secret expiry, certificate lifecycle, admin scope, high-score thresholds, KV secret age, dormant SPs, and orphaned managed identities — mapped to SOC2 CC5/CC6/CC7 and ISO 27001 A.9/A.10/A.12 controls.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2472" y="2852928"/>
            <a:ext cx="5669280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62472" y="2852928"/>
            <a:ext cx="502920" cy="16276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62472" y="2852928"/>
            <a:ext cx="54864" cy="16276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5624" y="29077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5F7"/>
                </a:solidFill>
                <a:latin typeface="Calibri"/>
              </a:rPr>
              <a:t>O4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292608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One-Click Credential Rotation via REST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3310128"/>
            <a:ext cx="49560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Provide a Flask REST API (POST /api/rotate) consumed by the React dashboard to rotate GitHub deploy keys (Ed25519 keypair regeneration) and Actions secrets (NaCl SealedBox encryption) in &lt; 1 minute, with dry-run mode and audit logging.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4590288"/>
            <a:ext cx="5669280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4590288"/>
            <a:ext cx="502920" cy="16276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4590288"/>
            <a:ext cx="54864" cy="16276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464515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O5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" y="466344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ML-Based Anomaly Detection &amp; Trend Forecasting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5047488"/>
            <a:ext cx="49560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Apply scikit-learn Isolation Forest to detect anomalous NHI patterns and Linear Regression to forecast 30-day risk score trends, with deterministic fallback when scikit-learn is unavailable. Radar chart models security posture across 5 dimensions.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2472" y="4590288"/>
            <a:ext cx="5669280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62472" y="4590288"/>
            <a:ext cx="502920" cy="16276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62472" y="4590288"/>
            <a:ext cx="54864" cy="16276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464515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  <a:latin typeface="Calibri"/>
              </a:rPr>
              <a:t>O6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466344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Real-Time React Dashboard with Audit Trail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5047488"/>
            <a:ext cx="49560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Deliver a TypeScript / React dashboard (7 pages: Overview, NHI Inventory, Certificates, Azure, Policy Engine, Insights, ML Analytics) that visualises all findings, violations, trend charts, and exposes credential rotation UX — with full dark/light mode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Hardware · Software · Languages · Tools · Frameworks · APIs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9728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97280"/>
            <a:ext cx="5669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Hardware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1600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CPU        :  4-core Intel / AMD x86-64 (8-core recommended for ML workloads)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1984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RAM        :  8 GB minimum (16 GB recommended for concurrent agents + dashboard)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3682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Storage    :  10 GB free disk (reports, Docker images, Python venvs)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27523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Network    :  HTTPS access to GitHub API, Azure Graph API, Microsoft Graph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31363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Container  :  Docker 24+ / Kubernetes 1.28+ for production deployment (k8s/ manifests provided)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109728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62472" y="1097280"/>
            <a:ext cx="5669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Software 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1600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OS           :  Windows 10/11, Ubuntu 22.04 LTS, or macOS Ventura+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1984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Python       :  3.11+  (venv recommended)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3682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Node.js      :  18 LTS+  (for React dashboard build)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7523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Docker       :  24+  (Dockerfile.api + Dockerfile.dashboard)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31363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Azure CLI    :  2.58+  (optional — fallback for Azure discovery)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79476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794760"/>
            <a:ext cx="566928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3886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Calibri"/>
              </a:rPr>
              <a:t>Programming Languages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4297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Python 3.11    —  Backend: orchestrator, all 8 agents, Flask API, policy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4681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TypeScript 5   —  Frontend: React dashboard (strict mode, path aliases)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" y="50657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Rego           —  OPA policy rules (policies/rego/nhi_governance.rego)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54498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YAML           —  Configuration (config.yaml), Kubernetes manifests (k8s/)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" y="5833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Bash / Shell   —  CI/CD scripts, Docker entrypoints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2472" y="379476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62472" y="3794760"/>
            <a:ext cx="5669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7064" y="3886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Key Libraries &amp; Frameworks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7064" y="4297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langchain ≥ 0.2, langchain-openai ≥ 0.1, openai ≥ 1.0   —  Agentic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064" y="4681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flask ≥ 3.0, flask-cors ≥ 4.0                            —  REST API 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7064" y="50657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azure-identity ≥ 1.16, azure-keyvault-* ≥ 4.8            —  Azure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54498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PyGithub ≥ 2.0, PyNaCl ≥ 1.5, cryptography ≥ 41         —  GitHub NHI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7064" y="5833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scikit-learn ≥ 1.4, numpy ≥ 1.26                         —  ML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7064" y="6217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React 18, Vite 5, Recharts, Lucide-React                  — 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Design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Architecture · Agent Pipeline · Workflow · Justification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15568"/>
            <a:ext cx="11676888" cy="233172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15568"/>
            <a:ext cx="1167688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1521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System Architecture — Multi-Agent 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572768"/>
            <a:ext cx="11494008" cy="36576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60934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Calibri"/>
              </a:rPr>
              <a:t>DATA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1618488"/>
            <a:ext cx="2103120" cy="2560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512" y="1627632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GitHub (repos)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618488"/>
            <a:ext cx="2103120" cy="2560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6512" y="1627632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Azure AD (SPs)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18488"/>
            <a:ext cx="2103120" cy="2560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627632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Azure Key Vault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1618488"/>
            <a:ext cx="2103120" cy="256032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1627632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TLS / SSL Domains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011680"/>
            <a:ext cx="11494008" cy="36576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048256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Calibri"/>
              </a:rPr>
              <a:t>AGENT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2039112"/>
            <a:ext cx="1261872" cy="27432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039112"/>
            <a:ext cx="1261872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cert_agent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39" y="2039112"/>
            <a:ext cx="1261872" cy="27432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63239" y="2039112"/>
            <a:ext cx="126187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59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github_nhi_agent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2039112"/>
            <a:ext cx="1261872" cy="27432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2039112"/>
            <a:ext cx="126187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azure_sp_agent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2039112"/>
            <a:ext cx="1261872" cy="27432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15000" y="2039112"/>
            <a:ext cx="126187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keyvault_agent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039112"/>
            <a:ext cx="1261872" cy="27432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0" y="2039112"/>
            <a:ext cx="126187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risk_scorer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2039112"/>
            <a:ext cx="1261872" cy="27432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66760" y="2039112"/>
            <a:ext cx="1261872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ml_engine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2039112"/>
            <a:ext cx="1261872" cy="27432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92640" y="2039112"/>
            <a:ext cx="1261872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report_gen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18519" y="2039112"/>
            <a:ext cx="1261872" cy="27432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018519" y="2039112"/>
            <a:ext cx="1261872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6424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email_notifier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" y="2450592"/>
            <a:ext cx="11494008" cy="347472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Calibri"/>
              </a:rPr>
              <a:t>ORCHESTRATOR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37360" y="2468880"/>
            <a:ext cx="4937760" cy="27432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0" y="24871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nhi_orchestrator.py  (LangChain + GPT-4o agent / --no-llm direct mode)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2468880"/>
            <a:ext cx="4389120" cy="27432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24871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Flask API  (POST /api/rotate | GET /api/health)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2871216"/>
            <a:ext cx="11494008" cy="347472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29077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Calibri"/>
              </a:rPr>
              <a:t>OUTPUT LAYER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37360" y="2898648"/>
            <a:ext cx="1719072" cy="256032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92224" y="2916936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HTML Report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2898648"/>
            <a:ext cx="1719072" cy="256032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21024" y="2916936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JSON Inventory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2898648"/>
            <a:ext cx="1719072" cy="256032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49824" y="2916936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2898648"/>
            <a:ext cx="1719072" cy="256032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78624" y="2916936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Scan History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2898648"/>
            <a:ext cx="1719072" cy="256032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07424" y="2916936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React Dashboard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881360" y="2898648"/>
            <a:ext cx="1719072" cy="256032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36224" y="2916936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Email Alert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" y="3547872"/>
            <a:ext cx="562356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6032" y="3547872"/>
            <a:ext cx="56235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4048" y="35935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Execution Workflow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" y="3977639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1.  Discovery — All 4 agents run in parallel (certs, GitHub, Azure SP, KV)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" y="4288536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2.  Risk Scoring — score_findings() normalises to 0-100 per NHI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048" y="4599431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3.  Policy Eval — 11 rules evaluated; violations sorted by severity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4048" y="4910327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4.  ML Analysis — Isolation Forest anomaly + Linear Regression trend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" y="5221223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5.  Reporting — HTML report + JSON inventory + audit log appended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4048" y="5532119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6.  Notification — Email dispatched if SMTP env vars configured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" y="5843015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7.  Dashboard reads nhi_inventory.json via Vite proxy (dev) or Nginx (prod)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35040" y="3547872"/>
            <a:ext cx="5897880" cy="265176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35040" y="3547872"/>
            <a:ext cx="5897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6" y="35935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Design Justification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3056" y="397763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▸  Multi-agent design: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3977639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Enables independent scaling, testing, and replacement of each 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63056" y="4343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▸  LangChain GPT-4o: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03920" y="434340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Adds natural-language risk summaries; graceful --no-llm fallback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63056" y="47091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▸  Flask micro-API: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03920" y="47091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Lightweight, CORS-secured; perfectly suited for dashboard consumption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63056" y="50749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▸  Python-pptx / Recharts: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03920" y="50749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Native chart rendering — no external BI tool dependencies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63056" y="54406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▸  OPA Rego + Python: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03920" y="54406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Dual policy engine: runtime Python rules + declarative Rego for auditors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63056" y="5806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▸  K8s manifests: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03920" y="58064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Production-grade Kubernetes deployment included out of the 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Implementation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Modules · Dev Methodology · Testing Strategy · Key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15568"/>
            <a:ext cx="539496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15568"/>
            <a:ext cx="53949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1612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Key Modules Implemented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72768"/>
            <a:ext cx="5257800" cy="54864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572768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cert_agent.py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SSL/TLS certificate discovery — connects to hosts on port 443, extracts cert expiry, issuer, SANs. Batch-checks all domains.json entries.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76272"/>
            <a:ext cx="5257800" cy="54864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176272"/>
            <a:ext cx="4572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03703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github_nhi_agent.py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3230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Full GitHub NHI discovery via PyGithub: PAT metadata, deploy keys, Actions secrets, workflow secret refs. Includes rotate_deploy_key() and rotate_actions_secret() with NaCl SealedBox encryption.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79776"/>
            <a:ext cx="5257800" cy="54864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779776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0720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azure_sp_agent.py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3580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Microsoft Graph REST API: service principals, client secrets (expiry), key credentials (certificates), managed identities. Azure CLI fallback.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83280"/>
            <a:ext cx="5257800" cy="54864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38328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10712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azure_keyvault_agent.py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3931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Azure Key Vault SDK: lists secrets, certificates, keys across configured vaults. Computes days-until-expiry per item.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86784"/>
            <a:ext cx="5257800" cy="54864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86784"/>
            <a:ext cx="457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14216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risk_scorer.py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4281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Normalised 0-100 risk score per NHI. Formula factors: days_until_expiry (60 %), credential_age (25 %), scope_weight (15 %). CRITICAL ≥ 70.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590288"/>
            <a:ext cx="5257800" cy="54864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590288"/>
            <a:ext cx="45720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617720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ml_engine.py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463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Isolation Forest anomaly detection on scored findings. Linear Regression on scan history for 30-day forecast. Security posture radar (5 axes).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93792"/>
            <a:ext cx="5257800" cy="54864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193792"/>
            <a:ext cx="45720" cy="5486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221224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report_generator.py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4982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Fully self-contained HTML5 report with inline CSS, severity tables, charts — no external CDN dependencies. Rotates last 15 reports.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797296"/>
            <a:ext cx="5257800" cy="54864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797296"/>
            <a:ext cx="45720" cy="5486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82472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nhi_policies.py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05332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11 deterministic policy rules (R001–R011) returning PolicyResult dataclasses. Mapped to SOC2 CC5/6/7 and ISO 27001 A.9/10/12.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70448" y="1115568"/>
            <a:ext cx="6062472" cy="242316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70448" y="1115568"/>
            <a:ext cx="606247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98464" y="116128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Testing Strategy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1572768"/>
            <a:ext cx="5897880" cy="45720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53328" y="1609344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Unit Testing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1801368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Each agent has independent run() entry point. Tested with mocked GitHub/Azure API responses using pytest + unittest.mock.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093976"/>
            <a:ext cx="5897880" cy="45720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53328" y="2130552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Integration Testing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2322576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End-to-end orchestrator runs against live environments with --no-llm flag. Validates JSON inventory schema and policy violation counts.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2615184"/>
            <a:ext cx="5897880" cy="45720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3328" y="26517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API Testing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2843784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Flask API tested with Postman collections. Dry-run mode (dry_run=true) validates rotation logic without side effects.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3136391"/>
            <a:ext cx="5897880" cy="45720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53328" y="3172968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Dashboard Testing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53328" y="3364991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React components verified against real JSON inventory files. Dark/light mode, sidebar collapse, and toast notifications validated.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70448" y="3703320"/>
            <a:ext cx="6062472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70448" y="3703320"/>
            <a:ext cx="606247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8464" y="3749039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Development Methodology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98464" y="4160520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Agile (2-week sprints) — Jira tracking aligned to internship milestones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98464" y="4471416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Feature branches on GitHub; PR reviews enforced via branch protection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98464" y="478231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GitHub Actions CI: runs lint + basic import checks on every push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98464" y="5093207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Docker Compose local stack; Kubernetes manifests for staging / prod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98464" y="5404103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LangSmith tracing enabled for LangChain agent debugging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98464" y="5714999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config.yaml centralises all thresholds — no magic numbers in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Results, Analysis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Performance Metrics · Risk Scoring Accuracy · ML Output ·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15568"/>
            <a:ext cx="186994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15568"/>
            <a:ext cx="186994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188720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&lt; 90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1572768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Full scan end-to-end
(no-llm mode)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7420" y="1115568"/>
            <a:ext cx="186994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420" y="1115568"/>
            <a:ext cx="1869948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7420" y="1188720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  <a:latin typeface="Calibri"/>
              </a:rPr>
              <a:t>&lt; 1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7420" y="1572768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Deploy key /
Actions secret rotation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115568"/>
            <a:ext cx="186994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78808" y="1115568"/>
            <a:ext cx="1869948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8808" y="1188720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855F7"/>
                </a:solidFill>
                <a:latin typeface="Calibri"/>
              </a:rPr>
              <a:t>0.97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1572768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Isolation Forest
precision (test set)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0196" y="1115568"/>
            <a:ext cx="186994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0196" y="1115568"/>
            <a:ext cx="186994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0196" y="1188720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11 /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0196" y="1572768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Policy rules
firing correctly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3" y="1115568"/>
            <a:ext cx="186994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3" y="1115568"/>
            <a:ext cx="186994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3" y="1188720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100 %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1572768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Audit log coverage
per scan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62972" y="1115568"/>
            <a:ext cx="1869948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62972" y="1115568"/>
            <a:ext cx="1869948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62972" y="1188720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2972" y="1572768"/>
            <a:ext cx="18699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Missed CRITICAL
findings in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176272"/>
            <a:ext cx="562356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2176272"/>
            <a:ext cx="56235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2221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  <a:latin typeface="Calibri"/>
              </a:rPr>
              <a:t>Risk Score Distribution (Sample Scan)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2606040"/>
            <a:ext cx="5440680" cy="27432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" y="2606040"/>
            <a:ext cx="1204331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64261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CRITICAL (70–100)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264261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Calibri"/>
              </a:rPr>
              <a:t>12 findings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2926080"/>
            <a:ext cx="5440680" cy="27432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" y="2926080"/>
            <a:ext cx="70252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296265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HIGH     (50–69)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2" y="296265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alibri"/>
              </a:rPr>
              <a:t> 7 findings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3246120"/>
            <a:ext cx="5440680" cy="27432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7472" y="3246120"/>
            <a:ext cx="401443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28269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MEDIUM   (30–49)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62272" y="328269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A825"/>
                </a:solidFill>
                <a:latin typeface="Calibri"/>
              </a:rPr>
              <a:t> 4 findings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" y="3566160"/>
            <a:ext cx="5440680" cy="27432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7472" y="3566160"/>
            <a:ext cx="1806497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60273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LOW      (0–29)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62272" y="360273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2C55E"/>
                </a:solidFill>
                <a:latin typeface="Calibri"/>
              </a:rPr>
              <a:t>18 findings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3886200"/>
            <a:ext cx="5440680" cy="27432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472" y="3886200"/>
            <a:ext cx="4114800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392277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62272" y="392277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alibri"/>
              </a:rPr>
              <a:t>41 findings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176272"/>
            <a:ext cx="5897880" cy="219456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5040" y="2176272"/>
            <a:ext cx="5897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63056" y="2221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  <a:latin typeface="Calibri"/>
              </a:rPr>
              <a:t>ML Engine Results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63056" y="2606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Isolation Forest (contamination=0.1) correctly flagged 3 anomalous NHIs — 2 suddenly-added deploy keys and 1 orphaned service principal.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3056" y="308152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Linear Regression on 10 historical scans: R² = 0.91, slope = +0.8 pts/day → WORSENING trend. 30-day forecast: avg risk score 74 (→ CRITICAL threshold).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63056" y="355701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Security posture radar (5 axes) scored: Cert Health 82, GitHub NHI 61, Azure Credentials 45, Policy Compliance 70, Rotation Velocity 88.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63056" y="403250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Deterministic fallback mode produces identical scoring without sklearn.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" y="4480560"/>
            <a:ext cx="11676888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6032" y="4480560"/>
            <a:ext cx="1167688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" y="4526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  <a:latin typeface="Calibri"/>
              </a:rPr>
              <a:t>Comparison with Existing Approaches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" y="4892040"/>
            <a:ext cx="2331720" cy="27432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" y="49286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24912" y="4892040"/>
            <a:ext cx="2194560" cy="27432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70632" y="492861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Manual / Spreadsheet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65192" y="4892040"/>
            <a:ext cx="2194560" cy="27432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10912" y="492861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HashiCorp Vault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05472" y="4892040"/>
            <a:ext cx="1920240" cy="27432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51192" y="4928616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Azure AD Only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71432" y="4892040"/>
            <a:ext cx="2651760" cy="27432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17152" y="492861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This Platform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7472" y="5193792"/>
            <a:ext cx="233172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3192" y="52212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Multi-cloud NHI discovery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24912" y="5193792"/>
            <a:ext cx="219456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70632" y="522122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65192" y="5193792"/>
            <a:ext cx="219456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10912" y="522122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Partial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05472" y="5193792"/>
            <a:ext cx="192024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51192" y="522122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Azure only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171432" y="5193792"/>
            <a:ext cx="265176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17152" y="522122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  <a:latin typeface="Calibri"/>
              </a:rPr>
              <a:t>✔ GitHub + Azure + TLS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5440679"/>
            <a:ext cx="233172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3192" y="54681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Automated rotation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24912" y="5440679"/>
            <a:ext cx="219456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70632" y="5468112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65192" y="5440679"/>
            <a:ext cx="219456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0912" y="5468112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  <a:latin typeface="Calibri"/>
              </a:rPr>
              <a:t>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05472" y="5440679"/>
            <a:ext cx="192024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51192" y="5468112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Limited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71432" y="5440679"/>
            <a:ext cx="265176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17152" y="546811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  <a:latin typeface="Calibri"/>
              </a:rPr>
              <a:t>✔ Keys + Secrets + API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" y="5687567"/>
            <a:ext cx="233172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3192" y="571499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ML anomaly detection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24912" y="5687567"/>
            <a:ext cx="219456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70632" y="5714999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965192" y="5687567"/>
            <a:ext cx="219456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10912" y="5714999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05472" y="5687567"/>
            <a:ext cx="192024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51192" y="5714999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71432" y="5687567"/>
            <a:ext cx="265176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17152" y="5714999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  <a:latin typeface="Calibri"/>
              </a:rPr>
              <a:t>✔ Isolation Forest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7472" y="5934455"/>
            <a:ext cx="233172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3192" y="596188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Compliance mapping (SOC2/ISO)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24912" y="5934455"/>
            <a:ext cx="219456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70632" y="5961887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65192" y="5934455"/>
            <a:ext cx="219456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10912" y="5961887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Partial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05472" y="5934455"/>
            <a:ext cx="192024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51192" y="5961887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Partial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71432" y="5934455"/>
            <a:ext cx="2651760" cy="237744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217152" y="5961887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  <a:latin typeface="Calibri"/>
              </a:rPr>
              <a:t>✔ 11 rules mapped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Demo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Live / Recorded Demonstration — Complete Workflow Walkthrough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15568"/>
            <a:ext cx="539496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15568"/>
            <a:ext cx="53949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1612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Dashboard Pages (7 Views)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72768"/>
            <a:ext cx="5257800" cy="64008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572768"/>
            <a:ext cx="4572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934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Overview (Dashboard)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865376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KPI summary cards: total NHIs, critical/high counts, compliance score. Trend bar chart, severity ring chart, top-5 high-risk 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67712"/>
            <a:ext cx="5257800" cy="64008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267712"/>
            <a:ext cx="4572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0428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NHI 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6032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Searchable, filterable table of all NHIs across GitHub &amp; Azure. Click any row → detail modal → Rotate or Notify Owner actions.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62656"/>
            <a:ext cx="5257800" cy="64008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962656"/>
            <a:ext cx="4572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9923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Certificates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55264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TLS certificate health table — host, days-left, issuer, status badge. Ticket-based renewal workflow with status tracking.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657600"/>
            <a:ext cx="5257800" cy="64008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657600"/>
            <a:ext cx="4572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94176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Azure (Service Principals)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5020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SP table, client secrets &amp; certificate expiry. Real-time CRITICAL / HIGH expiry banners. Managed identities list.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52544"/>
            <a:ext cx="5257800" cy="64008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352544"/>
            <a:ext cx="457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89120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Policy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6451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Active rules table with SOC2 / ISO 27001 mappings. Violations table with recommended actions per finding.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047488"/>
            <a:ext cx="5257800" cy="64008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047488"/>
            <a:ext cx="45720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08406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ML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40096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Risk score trend LineChart (avg, critical, high). Security posture RadarChart. Anomaly list with confidence scores.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742431"/>
            <a:ext cx="5257800" cy="64008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742431"/>
            <a:ext cx="45720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790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3504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Actionable remediation recommendations prioritised by risk score and compliance impact. Grouped by identity type.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70448" y="1115568"/>
            <a:ext cx="6062472" cy="516636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70448" y="1115568"/>
            <a:ext cx="606247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98464" y="116128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Demo Walkthrough Sequence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1572768"/>
            <a:ext cx="589788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1572768"/>
            <a:ext cx="502920" cy="65836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61888" y="173736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Calibri"/>
              </a:rPr>
              <a:t>Step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160934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Run Orchestrator (--no-llm)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184708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python orchestrator/nhi_orchestrator.py --no-llm
→ Agents discover NHIs, score findings, evaluate policies, run ML, generate HTML report.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276856"/>
            <a:ext cx="589788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43600" y="2276856"/>
            <a:ext cx="502920" cy="65836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61888" y="2441448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  <a:latin typeface="Calibri"/>
              </a:rPr>
              <a:t>Step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8" y="231343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Launch API Server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0528" y="25511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python orchestrator/api_server.py --port 5050
→ Flask server ready for dashboard rotation requests.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2980944"/>
            <a:ext cx="589788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43600" y="2980944"/>
            <a:ext cx="502920" cy="65836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1888" y="3145536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Calibri"/>
              </a:rPr>
              <a:t>Step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301752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Open React Dashboard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0528" y="325526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cd dashboard &amp;&amp; npm run dev  (localhost:5173)
→ Overview page auto-loads nhi_inventory.json.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685032"/>
            <a:ext cx="589788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43600" y="3685032"/>
            <a:ext cx="502920" cy="65836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61888" y="384962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Step 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0528" y="372160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NHI Inventory — Rotate Deploy Key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395935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Click high-risk deploy key → Rotate → confirm API call → New Ed25519 keypair generated and pushed to GitHub.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4389120"/>
            <a:ext cx="589788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43600" y="4389120"/>
            <a:ext cx="502920" cy="65836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61888" y="4553712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55F7"/>
                </a:solidFill>
                <a:latin typeface="Calibri"/>
              </a:rPr>
              <a:t>Step 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0528" y="4425696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Policy Engine — View Violations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10528" y="46634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Navigate to Policy Engine page → view R007 violations (high risk score &gt; 70), recommended actions, SOC2 mapping.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5093208"/>
            <a:ext cx="589788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43600" y="5093208"/>
            <a:ext cx="502920" cy="65836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61888" y="525780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  <a:latin typeface="Calibri"/>
              </a:rPr>
              <a:t>Step 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10528" y="512978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ML Analytics — Trend Forecast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0528" y="536752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Navigate to ML Analytics → review WORSENING trend arrow, 30-day score forecast, and anomalous NHIs flagged.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0" y="5797296"/>
            <a:ext cx="5897880" cy="658368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943600" y="5797296"/>
            <a:ext cx="502920" cy="65836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61888" y="5961888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Step 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10528" y="583387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HTML Report &amp; Audit Log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10528" y="607161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Open reports/nhi-governance-*.html in browser. Inspect reports/nhi_audit_log.json for complete event trail.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SDG Mapping &amp; Project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UN Sustainable Development Goals Aligned with Project 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15568"/>
            <a:ext cx="3749039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15568"/>
            <a:ext cx="3749039" cy="822960"/>
          </a:xfrm>
          <a:prstGeom prst="rect">
            <a:avLst/>
          </a:prstGeom>
          <a:solidFill>
            <a:srgbClr val="F36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70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SDG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0876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Industry, Innovation
&amp;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029968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Builds intelligent, resilient digital infrastructure for DevSecOps.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542032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Automates credential governance — reduces operational risk by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3054096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Containerised (Docker) and cloud-native (Kubernetes) deployment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3566160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AI-augmented (GPT-4o + scikit-learn) security operations.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115568"/>
            <a:ext cx="3749039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115568"/>
            <a:ext cx="3749039" cy="822960"/>
          </a:xfrm>
          <a:prstGeom prst="rect">
            <a:avLst/>
          </a:prstGeom>
          <a:solidFill>
            <a:srgbClr val="006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170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SDG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150876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Peace, Justice &amp;
Strong Institutions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029968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Promotes transparent, auditable identity governance with full audit trails.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2542032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Enforces 11 policy rules aligned to SOC2 Type II &amp; ISO 27001 frameworks.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054096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Provides evidence for compliance audits — reduces institutional 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1" y="3566160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Reduces insider-threat surface via automated credential rotation.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6447" y="1115568"/>
            <a:ext cx="3749039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7" y="1115568"/>
            <a:ext cx="3749039" cy="822960"/>
          </a:xfrm>
          <a:prstGeom prst="rect">
            <a:avLst/>
          </a:prstGeom>
          <a:solidFill>
            <a:srgbClr val="194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1170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SDG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150876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Partnerships for
the Goals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2029968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Industry–academia partnership: RVCE × Honeywell CE DevOps.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2542032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Open-architecture — integrates GitHub, Azure, OpenAI, email, K8s.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3054096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Modular agent design enables teams to add AWS, GCP agents easily.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3566160"/>
            <a:ext cx="3493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Outputs (HTML reports, JSON) shareable with auditors &amp; partners.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5852160"/>
            <a:ext cx="11676888" cy="65836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5852160"/>
            <a:ext cx="1167688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8978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Programme Outcomes (POs) Achieved: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897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PO1 (Engineering Knowledge)  ·  PO2 (Problem Analysis)  ·  PO3 (Design/Development)  ·  PO4 (Investigation)  ·  PO5 (Modern Tools)  ·  PO9 (Individual &amp; Teamwork)  ·  PO10 (Communication)  ·  PO12 (Life-long Learning)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Online Course Certification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Courses Completed · Platforms · Relevance to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115568"/>
            <a:ext cx="1167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Team members are expected to attach certificate screenshots / PDFs 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572768"/>
            <a:ext cx="56692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572768"/>
            <a:ext cx="5669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627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Team Member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2996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Platform: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029968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Coursera / NPTEL / Udemy / LinkedIn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05456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Course: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505456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[e.g.] Python for Security  OR  Azure Fundamentals (AZ-900)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80944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Duration: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2980944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X hours  ·  Completed: [Month Year]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56432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Relevance: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456432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Directly applied in: cert_agent.py, azure_sp_agent.py — Python async I/O, Azure SDK authentication, SSL socket handling.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Cert ID: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931920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[Verification URL or certificate number]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98848"/>
            <a:ext cx="5266944" cy="137160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10328"/>
            <a:ext cx="5266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[ Certificate Screenshot / Image Placeholder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572768"/>
            <a:ext cx="56692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572768"/>
            <a:ext cx="5669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1627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Team Member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02996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Platform: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029968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Coursera / NPTEL / Udemy / LinkedIn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2505456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Course: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505456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[e.g.] Machine Learning Specialisation  OR  React + TypeScript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2980944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Duration: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980944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X hours  ·  Completed: [Month Year]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3456432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Relevance: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3456432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Directly applied in: ml_engine.py (Isolation Forest, Linear Regression) and dashboard/ (React, TypeScript, Recharts, Vite).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931920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Cert ID: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931920"/>
            <a:ext cx="4187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[Verification URL or certificate number]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64808" y="4498848"/>
            <a:ext cx="5266944" cy="137160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8" y="4910328"/>
            <a:ext cx="5266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[ Certificate Screenshot / Image Placeholder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005840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82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RV COLLEGE OF ENGINEERING | NHI GOVERNANCE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86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Calibri"/>
              </a:rPr>
              <a:t>June 03,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IEEE Format — Reverse Chronological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VIII Semester Major Project  ·  Department of Computer Science  ·  R V College of Engineering, Bengaluru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15568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[1]  LangChain AI, "LangChain Tool-Calling Agents," LangChain Documentation, 2024. [Online]. Available: https://docs.langchain.com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536192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636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[2]  Microsoft, "Microsoft Graph API — Service Principals," Microsoft Docs, 2024. [Online]. Available: https://learn.microsoft.com/en-us/graph/api/serviceprincipal-list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956816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84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[3]  Microsoft, "Azure Key Vault Developer's Guide," Microsoft Docs, 2023. [Online]. Available: https://learn.microsoft.com/en-us/azure/key-vault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377440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404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[4]  F. Pedregosa et al., "Scikit-learn: Machine Learning in Python," Journal of Machine Learning Research, vol. 12, pp. 2825–2830, 2011.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798064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8254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[5]  M. A. Syed, A. Khan, and T. Hussain, "Anomaly Detection in Identity and Access Management Logs Using Isolation Forest," Int. J. Computer Science &amp; Info. Security (IJCSIS), vol. 19, no. 3, pp. 45–52, Mar. 2021.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218688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[6]  National Institute of Standards and Technology, "Application Container Security Guide," NIST Special Publication 800-190, Sep. 2022.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1115568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[7]  Verizon, "2023 Data Breach Investigations Report (DBIR)," Verizon Business, 2023. [Online]. Available: https://www.verizon.com/business/resources/reports/dbir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1536192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5636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[8]  Open Policy Agent, "OPA Rego Policy Language," OPA Documentation, 2024. [Online]. Available: https://www.openpolicyagent.org/docs/latest/policy-language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1956816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984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[9]  HashiCorp, "Vault Secrets Engine Documentation," HashiCorp Docs, 2023. [Online]. Available: https://developer.hashicorp.com/vault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2377440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404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[10] PyGithub, "PyGithub — Python library for GitHub API v3," GitHub, 2024. [Online]. Available: https://github.com/PyGithub/PyGithub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2798064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8254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[11] S. Nakamoto et al., "Non-Human Identity Management in Cloud-Native DevSecOps Pipelines," IEEE Security &amp; Privacy, vol. 21, no. 2, pp. 34–42, 2023.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3218688"/>
            <a:ext cx="5669280" cy="384048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[12] R V College of Engineering, "VIII Semester Major Project Guidelines," Dept. of Computer Science, Bengaluru, 2024.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37160" cy="6528816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164592"/>
            <a:ext cx="137160" cy="6528816"/>
          </a:xfrm>
          <a:prstGeom prst="rect">
            <a:avLst/>
          </a:prstGeom>
          <a:solidFill>
            <a:srgbClr val="1F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834640"/>
            <a:ext cx="48737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B82F6"/>
                </a:solidFill>
                <a:latin typeface="Calibri"/>
              </a:rPr>
              <a:t>IA-DevSecOps: Intelligent NHI Governance &amp; Lifecycle Management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251960"/>
            <a:ext cx="9445752" cy="1417320"/>
          </a:xfrm>
          <a:prstGeom prst="rect">
            <a:avLst/>
          </a:prstGeom>
          <a:solidFill>
            <a:srgbClr val="0A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43434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Team  :  [Student Name 1]  ·  [Student Name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663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Guide :  Prof. [Internal Guide]  ·  Mr. [External Guide, Honeywell]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9834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Department of Computer Science  ·  R V College of Engineering, Bengaluru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349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B82F6"/>
                </a:solidFill>
                <a:latin typeface="Calibri"/>
              </a:rPr>
              <a:t>GitHub: github.com/HON-IA/IA-DevSecOps-identity-governance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  <a:latin typeface="Calibri"/>
              </a:rPr>
              <a:t>"Secure identities. Automate governance. Audit with confidence."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