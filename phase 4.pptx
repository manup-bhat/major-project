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79" r:id="rId6"/>
    <p:sldId id="262" r:id="rId7"/>
    <p:sldId id="271" r:id="rId8"/>
    <p:sldId id="274" r:id="rId9"/>
    <p:sldId id="272" r:id="rId10"/>
    <p:sldId id="275" r:id="rId11"/>
    <p:sldId id="276" r:id="rId12"/>
    <p:sldId id="261" r:id="rId13"/>
    <p:sldId id="277" r:id="rId14"/>
    <p:sldId id="273" r:id="rId15"/>
    <p:sldId id="264" r:id="rId16"/>
    <p:sldId id="280" r:id="rId17"/>
    <p:sldId id="278" r:id="rId18"/>
    <p:sldId id="265" r:id="rId19"/>
  </p:sldIdLst>
  <p:sldSz cx="9144000" cy="5143500" type="screen16x9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87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44"/>
      </p:cViewPr>
      <p:guideLst>
        <p:guide orient="horz" pos="15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Umang" userId="9dd0017a-eb54-41bb-b59c-4b537b2a4289" providerId="ADAL" clId="{18C4EE36-312D-42BA-814C-C23EED858C6B}"/>
    <pc:docChg chg="modSld">
      <pc:chgData name="Mishra, Umang" userId="9dd0017a-eb54-41bb-b59c-4b537b2a4289" providerId="ADAL" clId="{18C4EE36-312D-42BA-814C-C23EED858C6B}" dt="2026-05-22T15:58:53.241" v="15" actId="14100"/>
      <pc:docMkLst>
        <pc:docMk/>
      </pc:docMkLst>
      <pc:sldChg chg="modSp mod">
        <pc:chgData name="Mishra, Umang" userId="9dd0017a-eb54-41bb-b59c-4b537b2a4289" providerId="ADAL" clId="{18C4EE36-312D-42BA-814C-C23EED858C6B}" dt="2026-05-22T05:17:10.021" v="11" actId="1076"/>
        <pc:sldMkLst>
          <pc:docMk/>
          <pc:sldMk cId="0" sldId="256"/>
        </pc:sldMkLst>
        <pc:spChg chg="mod">
          <ac:chgData name="Mishra, Umang" userId="9dd0017a-eb54-41bb-b59c-4b537b2a4289" providerId="ADAL" clId="{18C4EE36-312D-42BA-814C-C23EED858C6B}" dt="2026-05-22T05:17:03.084" v="10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22T05:17:10.021" v="11" actId="1076"/>
          <ac:spMkLst>
            <pc:docMk/>
            <pc:sldMk cId="0" sldId="256"/>
            <ac:spMk id="51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22T15:58:53.241" v="15" actId="14100"/>
        <pc:sldMkLst>
          <pc:docMk/>
          <pc:sldMk cId="926022234" sldId="273"/>
        </pc:sldMkLst>
        <pc:spChg chg="mod">
          <ac:chgData name="Mishra, Umang" userId="9dd0017a-eb54-41bb-b59c-4b537b2a4289" providerId="ADAL" clId="{18C4EE36-312D-42BA-814C-C23EED858C6B}" dt="2026-05-22T15:58:44.070" v="13" actId="14100"/>
          <ac:spMkLst>
            <pc:docMk/>
            <pc:sldMk cId="926022234" sldId="273"/>
            <ac:spMk id="4" creationId="{DE2CE97F-94C5-65F5-5197-2F2ED9B1B096}"/>
          </ac:spMkLst>
        </pc:spChg>
        <pc:spChg chg="mod">
          <ac:chgData name="Mishra, Umang" userId="9dd0017a-eb54-41bb-b59c-4b537b2a4289" providerId="ADAL" clId="{18C4EE36-312D-42BA-814C-C23EED858C6B}" dt="2026-05-22T15:58:53.241" v="15" actId="14100"/>
          <ac:spMkLst>
            <pc:docMk/>
            <pc:sldMk cId="926022234" sldId="273"/>
            <ac:spMk id="97" creationId="{AB80F21F-AF8E-5A43-74D5-5AD0FF4674FF}"/>
          </ac:spMkLst>
        </pc:spChg>
      </pc:sldChg>
      <pc:sldChg chg="modSp mod">
        <pc:chgData name="Mishra, Umang" userId="9dd0017a-eb54-41bb-b59c-4b537b2a4289" providerId="ADAL" clId="{18C4EE36-312D-42BA-814C-C23EED858C6B}" dt="2026-05-22T05:10:52.418" v="9" actId="20577"/>
        <pc:sldMkLst>
          <pc:docMk/>
          <pc:sldMk cId="0" sldId="278"/>
        </pc:sldMkLst>
        <pc:spChg chg="mod">
          <ac:chgData name="Mishra, Umang" userId="9dd0017a-eb54-41bb-b59c-4b537b2a4289" providerId="ADAL" clId="{18C4EE36-312D-42BA-814C-C23EED858C6B}" dt="2026-05-22T05:10:52.418" v="9" actId="20577"/>
          <ac:spMkLst>
            <pc:docMk/>
            <pc:sldMk cId="0" sldId="278"/>
            <ac:spMk id="17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22T05:10:32" v="4" actId="20577"/>
          <ac:spMkLst>
            <pc:docMk/>
            <pc:sldMk cId="0" sldId="278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E1787FA-608D-BB99-EBF1-CB15CDA8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14ACEAFB-5268-E5EE-379C-E6D670816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95E86E4-B0BF-98B0-CB46-9363E4E3B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188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F15F568-24C5-519A-0718-83507533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5A563CE-E161-1F5D-C6DD-206321E46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C843FC9-55CA-4E52-D4E5-2977C6BDD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59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2FADF19-3B78-A52E-4F88-593111C3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>
            <a:extLst>
              <a:ext uri="{FF2B5EF4-FFF2-40B4-BE49-F238E27FC236}">
                <a16:creationId xmlns:a16="http://schemas.microsoft.com/office/drawing/2014/main" id="{3C9C75B7-6D59-8B61-96F5-96205FBCF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EB48DDDA-C3BB-D592-4CB5-23D0C2362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052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1C22A61-EA03-6AC9-B262-BA987C33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>
            <a:extLst>
              <a:ext uri="{FF2B5EF4-FFF2-40B4-BE49-F238E27FC236}">
                <a16:creationId xmlns:a16="http://schemas.microsoft.com/office/drawing/2014/main" id="{2196DD0E-D277-550B-1060-83D86FF49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>
            <a:extLst>
              <a:ext uri="{FF2B5EF4-FFF2-40B4-BE49-F238E27FC236}">
                <a16:creationId xmlns:a16="http://schemas.microsoft.com/office/drawing/2014/main" id="{EAD22AC1-0AF9-41AC-A318-0B172A3EE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10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30FABA0-8F1E-E3BB-F2D6-50E696624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>
            <a:extLst>
              <a:ext uri="{FF2B5EF4-FFF2-40B4-BE49-F238E27FC236}">
                <a16:creationId xmlns:a16="http://schemas.microsoft.com/office/drawing/2014/main" id="{EB9A65F6-FDE2-1B93-1133-44633E850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9:notes">
            <a:extLst>
              <a:ext uri="{FF2B5EF4-FFF2-40B4-BE49-F238E27FC236}">
                <a16:creationId xmlns:a16="http://schemas.microsoft.com/office/drawing/2014/main" id="{6520CED2-DF04-54B9-C263-020CED581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146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00" tIns="94200" rIns="94200" bIns="94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3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file://vscode-app/c:/Users/H661523/AppData/Local/Programs/Microsoft%20VS%20Code/f6cfa2ea24/resources/app/out/vs/code/electron-browser/workbench/workbench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file://vscode-app/c:/Users/H661523/AppData/Local/Programs/Microsoft%20VS%20Code/f6cfa2ea24/resources/app/out/vs/code/electron-browser/workbench/workbench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077839" y="4576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927274" y="1357027"/>
            <a:ext cx="7289451" cy="115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VIII Semester Major Project Work </a:t>
            </a:r>
            <a:r>
              <a:rPr lang="en-US" sz="3200" b="0" i="0" u="none" strike="noStrike" cap="none" dirty="0">
                <a:solidFill>
                  <a:srgbClr val="083C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</a:t>
            </a:r>
            <a:r>
              <a:rPr lang="en-US" sz="3200" b="0" i="0" u="none" strike="noStrike" cap="none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CSP8</a:t>
            </a:r>
            <a:r>
              <a:rPr lang="en-US" sz="3200" b="0" i="0" u="none" strike="noStrike" cap="none" dirty="0">
                <a:solidFill>
                  <a:srgbClr val="083C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strike="noStrike" cap="none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 dirty="0"/>
          </a:p>
        </p:txBody>
      </p:sp>
      <p:sp>
        <p:nvSpPr>
          <p:cNvPr id="51" name="Google Shape;51;p11"/>
          <p:cNvSpPr txBox="1"/>
          <p:nvPr/>
        </p:nvSpPr>
        <p:spPr>
          <a:xfrm>
            <a:off x="2165898" y="2635384"/>
            <a:ext cx="5091229" cy="5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Computer Science,  </a:t>
            </a:r>
            <a:endParaRPr dirty="0"/>
          </a:p>
          <a:p>
            <a:pPr marL="12700" marR="0" lvl="0" indent="0" algn="ctr" rtl="0">
              <a:lnSpc>
                <a:spcPct val="100000"/>
              </a:lnSpc>
              <a:spcBef>
                <a:spcPts val="88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V College of  Engineering, Bengaluru.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7" name="Google Shape;57;p12"/>
          <p:cNvSpPr/>
          <p:nvPr/>
        </p:nvSpPr>
        <p:spPr>
          <a:xfrm>
            <a:off x="311785" y="4483735"/>
            <a:ext cx="21259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/>
          </a:p>
        </p:txBody>
      </p:sp>
      <p:sp>
        <p:nvSpPr>
          <p:cNvPr id="58" name="Google Shape;58;p12"/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59" name="Google Shape;59;p12"/>
          <p:cNvSpPr txBox="1"/>
          <p:nvPr/>
        </p:nvSpPr>
        <p:spPr>
          <a:xfrm>
            <a:off x="2830387" y="1121007"/>
            <a:ext cx="3985028" cy="113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NHI Governance </a:t>
            </a:r>
            <a:r>
              <a:rPr lang="en-US" sz="2000" b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000" b="1" i="0" u="none" strike="noStrike" cap="none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 i="0" u="none" strike="noStrike" cap="none" dirty="0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600" b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Umang Mishra (1RV22CS220)</a:t>
            </a:r>
            <a:endParaRPr sz="1600" dirty="0"/>
          </a:p>
        </p:txBody>
      </p:sp>
      <p:sp>
        <p:nvSpPr>
          <p:cNvPr id="60" name="Google Shape;60;p12"/>
          <p:cNvSpPr txBox="1"/>
          <p:nvPr/>
        </p:nvSpPr>
        <p:spPr>
          <a:xfrm>
            <a:off x="2085638" y="2422134"/>
            <a:ext cx="5474525" cy="92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Internship / Inhouse :  </a:t>
            </a:r>
            <a:r>
              <a:rPr lang="en-US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Honeywell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ctr" rtl="0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6D6E71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pPr marL="12700" marR="0" lvl="0" indent="0" algn="ctr" rtl="0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Internal Guide  : </a:t>
            </a:r>
            <a:r>
              <a:rPr lang="en-US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Dr Chethana Murthy, Associate Professor </a:t>
            </a:r>
            <a:endParaRPr sz="1400" b="0" i="0" u="none" strike="noStrike" cap="none" dirty="0">
              <a:solidFill>
                <a:srgbClr val="6D6E71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pPr marL="12700" marR="0" lvl="0" indent="0" algn="ctr" rtl="0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External Guide : Tejeshwar Rao, </a:t>
            </a:r>
            <a:r>
              <a:rPr lang="en-US" sz="1400" b="0" i="0" u="none" strike="noStrike" cap="none" dirty="0" err="1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DevSecOps</a:t>
            </a:r>
            <a:r>
              <a:rPr lang="en-US" sz="1400" b="0" i="0" u="none" strike="noStrike" cap="none" dirty="0">
                <a:solidFill>
                  <a:srgbClr val="6D6E7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&amp; Cloud - Manager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311785" y="4483735"/>
            <a:ext cx="21259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Incorporation of Suggestions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48761" y="1355608"/>
            <a:ext cx="8646235" cy="170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Continued the project to completion and started working on the correct documentation, reports and paper.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Added all 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diagrams shown in before phases to the report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CAE446B-083E-4408-4E1A-C2B51928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8444FB64-BD9E-7D4E-6A25-BEC28B602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4ADC02CD-228D-5348-CEF8-161F1264C1E6}"/>
              </a:ext>
            </a:extLst>
          </p:cNvPr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EDBA5A60-388C-DC35-1D36-B561E98B2E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and Testing- Modules</a:t>
            </a:r>
            <a:endParaRPr sz="2000" b="1" i="1" dirty="0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02D84-B504-E8EF-EF0B-D5F1AE1579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42" t="17778" r="7815" b="5729"/>
          <a:stretch>
            <a:fillRect/>
          </a:stretch>
        </p:blipFill>
        <p:spPr>
          <a:xfrm>
            <a:off x="1163780" y="831273"/>
            <a:ext cx="7077695" cy="393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9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8351" y="226761"/>
            <a:ext cx="843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Module-wise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221" y="835222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 dirty="0">
                <a:solidFill>
                  <a:srgbClr val="06B6D4"/>
                </a:solidFill>
              </a:rPr>
              <a:t>All 14 modules fully implemented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877946"/>
              </p:ext>
            </p:extLst>
          </p:nvPr>
        </p:nvGraphicFramePr>
        <p:xfrm>
          <a:off x="138351" y="1094189"/>
          <a:ext cx="864108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Functionality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Orchestrator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nhi_orchestrator.py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 GPT-4o agent; coordinates all 6 agents; --no-llm / --skip-github flags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Cert Agent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cert_agent.py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Python-native TLS check; CRITICAL/WARNING/OK classification; no openssl binary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NHI Agent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github_nhi_agent.py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PATs, Deploy Keys, Actions Secrets, workflow refs; rotation helpers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SP Agent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azure_sp_agent.py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Principals, client secrets, certs via Graph API; graceful fallback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KV Agent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azure_keyvault_agent.py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Vault secrets/certs/keys; expiry scoring; per-vault error isolation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Monitor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azure_monitor_agent.py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Sign-in activity; dormancy detection beyond unused_identity_days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Scorer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risk_scorer.py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0–100: age(40) + type(30) + privilege(20) + SSL(10)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Engine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nhi_policies.py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rules R001–R011: PAT/key/secret/cert/KV/dormant/orphaned identities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OPA Rego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nhi_governance.rego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11 rules in Open Policy Agent Rego; auditable declarative governance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Engine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ml_engine.py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anomaly (9-dim); Linear Regression 30d forecast; SOC2 compliance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Generator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report_generator.py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Styled HTML: banner, summary cards, violations + SSL + GitHub tables; XSS-safe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Notifier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email_notifier.py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SMTP TLS; HTML+plaintext multipart; report attachment; skips if env vars absent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api_server.py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Flask: GET /api/health, POST /api/rotate; CORS; input validation; dry-run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Dashboard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dashboard/src/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TypeScript pages; Recharts; </a:t>
                      </a:r>
                      <a:r>
                        <a:rPr sz="70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DataContext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polling </a:t>
                      </a:r>
                      <a:r>
                        <a:rPr sz="70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nhi_inventory.json</a:t>
                      </a:r>
                      <a:endParaRPr sz="70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702" y="111895"/>
            <a:ext cx="843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Testing Methods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380" y="512005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 dirty="0">
                <a:solidFill>
                  <a:srgbClr val="06B6D4"/>
                </a:solidFill>
              </a:rPr>
              <a:t>3-tier test pyramid: Unit → Integration →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41221" y="822960"/>
            <a:ext cx="2743200" cy="3977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Rectangle 7"/>
          <p:cNvSpPr/>
          <p:nvPr/>
        </p:nvSpPr>
        <p:spPr>
          <a:xfrm>
            <a:off x="241221" y="822960"/>
            <a:ext cx="2743200" cy="34290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9" name="TextBox 8"/>
          <p:cNvSpPr txBox="1"/>
          <p:nvPr/>
        </p:nvSpPr>
        <p:spPr>
          <a:xfrm>
            <a:off x="309800" y="836676"/>
            <a:ext cx="260604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091" y="1234440"/>
            <a:ext cx="25374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function tests. No external I/O. Core logic isolated with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unittest.mock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Modules: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cert_agent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risk_scorer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policy engine,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ml_engine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azure agents.
Tools: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9.0.3, Python 3.14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0160" y="822960"/>
            <a:ext cx="2743200" cy="3977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ectangle 11"/>
          <p:cNvSpPr/>
          <p:nvPr/>
        </p:nvSpPr>
        <p:spPr>
          <a:xfrm>
            <a:off x="3190160" y="822960"/>
            <a:ext cx="2743200" cy="342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TextBox 12"/>
          <p:cNvSpPr txBox="1"/>
          <p:nvPr/>
        </p:nvSpPr>
        <p:spPr>
          <a:xfrm>
            <a:off x="3258740" y="836676"/>
            <a:ext cx="260604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3031" y="1234440"/>
            <a:ext cx="2537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Multi-module pipeline composition tests.
Scoring → Policy Eval → Report Generation as a chain.
Data persistence validation against real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nhi_inventory.json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scan_history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Tools: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tempfile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real JSON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9100" y="822960"/>
            <a:ext cx="2743200" cy="3977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ectangle 15"/>
          <p:cNvSpPr/>
          <p:nvPr/>
        </p:nvSpPr>
        <p:spPr>
          <a:xfrm>
            <a:off x="6139100" y="822960"/>
            <a:ext cx="2743200" cy="342900"/>
          </a:xfrm>
          <a:prstGeom prst="rect">
            <a:avLst/>
          </a:prstGeom>
          <a:solidFill>
            <a:srgbClr val="0E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6207680" y="836676"/>
            <a:ext cx="260604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1971" y="1234440"/>
            <a:ext cx="2537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test client end-to-end tests.
Health endpoint, input validation (400/500), mocked rotation calls.
Verifies CORS, JSON content-type, auth guard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sz="900" dirty="0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Tools: Flask test client, </a:t>
            </a:r>
            <a:r>
              <a:rPr sz="900" dirty="0" err="1">
                <a:solidFill>
                  <a:srgbClr val="F3F6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unittest.mock</a:t>
            </a:r>
            <a:endParaRPr sz="900" dirty="0">
              <a:solidFill>
                <a:srgbClr val="F3F6F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1221" y="4869181"/>
            <a:ext cx="864108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06B6D4"/>
                </a:solidFill>
              </a:rPr>
              <a:t>Total: 133 tests collected  ·  86 passed  ·  47 failed (test-harness mismatches, not code bugs)  ·  35.75s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28570F7-4177-BA57-926B-4BD83B0F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3AC2980E-B9DE-85A6-AECD-9AB8BBC8A8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B0D8E927-9AAC-B5A8-8086-A0F926AC0A3B}"/>
              </a:ext>
            </a:extLst>
          </p:cNvPr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96B49489-AEE2-2758-FB82-0455A88C9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and Testing</a:t>
            </a:r>
            <a:endParaRPr sz="2000" b="1" i="1" dirty="0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15F04-C33F-DBED-3BE1-2C82321DF056}"/>
              </a:ext>
            </a:extLst>
          </p:cNvPr>
          <p:cNvSpPr txBox="1"/>
          <p:nvPr/>
        </p:nvSpPr>
        <p:spPr>
          <a:xfrm>
            <a:off x="758751" y="840278"/>
            <a:ext cx="7988057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(</a:t>
            </a:r>
            <a:r>
              <a:rPr lang="en-US" sz="11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Pure function tests with no external I/O — each module's core logic tested in isolation using 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unittest.mock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patch network calls, file system, and Azure SDK: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test_cert_agent.py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en-US" sz="1100" b="0" i="0" u="none" strike="noStrike" dirty="0">
                <a:solidFill>
                  <a:srgbClr val="0097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</a:t>
            </a:r>
            <a:r>
              <a:rPr lang="en-US" sz="1100" b="0" i="0" u="none" strike="noStrike" dirty="0" err="1">
                <a:solidFill>
                  <a:srgbClr val="0097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assign_status</a:t>
            </a:r>
            <a:r>
              <a:rPr lang="en-US" sz="11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boundary tests (expired / critical / warning / OK / None)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test_risk_scorer.py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scoring logic per NHI type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test_policy_engine.py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each of 7 rules (R001–R007) with positive + negative cases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test_ml_engine.py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en-US" sz="1100" b="0" i="0" u="none" strike="noStrike" dirty="0">
                <a:solidFill>
                  <a:srgbClr val="0097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</a:t>
            </a:r>
            <a:r>
              <a:rPr lang="en-US" sz="1100" b="0" i="0" u="none" strike="noStrike" dirty="0" err="1">
                <a:solidFill>
                  <a:srgbClr val="0097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finding_features</a:t>
            </a:r>
            <a:r>
              <a:rPr lang="en-US" sz="11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vector shape/values; </a:t>
            </a:r>
            <a:r>
              <a:rPr lang="en-US" sz="1100" b="0" i="0" u="none" strike="noStrike" dirty="0" err="1">
                <a:solidFill>
                  <a:srgbClr val="0097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run_ml_analysis</a:t>
            </a:r>
            <a:r>
              <a:rPr lang="en-US" sz="11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structure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test_azure_agents.py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graceful fallback with no Azure credentials; config YAML validation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Tests that compose multiple modules into a pipeline: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test_integration_pipeline.py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scoring → policy eval → report generation as a chain; data persistence validation against real </a:t>
            </a:r>
            <a:r>
              <a:rPr lang="en-US" sz="11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nhi_inventory.json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1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nhi_scan_history.json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1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nhi_audit_log.json</a:t>
            </a:r>
            <a:endParaRPr lang="en-US" sz="11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test client tests: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test_api_server.py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health endpoint, input validation (400s), mocked rotation calls, missing token (500)</a:t>
            </a:r>
          </a:p>
          <a:p>
            <a:pPr>
              <a:buNone/>
            </a:pPr>
            <a:b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7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1221" y="93666"/>
            <a:ext cx="843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Test Results — Module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221" y="493776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>
                <a:solidFill>
                  <a:srgbClr val="06B6D4"/>
                </a:solidFill>
              </a:rPr>
              <a:t>133 tests · 86 passed · 35.75s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140302"/>
              </p:ext>
            </p:extLst>
          </p:nvPr>
        </p:nvGraphicFramePr>
        <p:xfrm>
          <a:off x="309801" y="814952"/>
          <a:ext cx="8366760" cy="3700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9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Failed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Pass Rate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68580" marR="68580" marT="34290" marB="34290">
                    <a:solidFill>
                      <a:srgbClr val="1F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Policy Engine (R001–R007)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All 7 policy rules verified: PAT, key, secret, cert, admin:org, high-score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SSL Status Classification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expired/critical/warning/ok/boundary/none — all correct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ML Feature Extraction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9-dim vectors: dormant flag, write access, scope count, age cap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Azure Key Vault Agent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Empty lists, KV total ≥ 0, SDK fallback, config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Azure Monitor Agent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Empty SP → empty dict; no SDK → dormancy = None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Config Loading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config.yaml valid; yellow &gt; red; policy values positive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Data Persistence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22C55E"/>
                          </a:solidFill>
                        </a:rPr>
                        <a:t>100%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Inventory parseable; 10 history entries valid; 11 HTML reports exist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ML Analysis Pipeline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59E0B"/>
                          </a:solidFill>
                        </a:rPr>
                        <a:t>91%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 field name difference (anomaly_rank vs rank) — minor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API Server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59E0B"/>
                          </a:solidFill>
                        </a:rPr>
                        <a:t>91%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 failure: PAT rotation with empty repo → 400 (correct behaviour)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Integration Pipeline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40%*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score_findings() signature mismatch in test — production code correct</a:t>
                      </a: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59E0B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endParaRPr sz="70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>
                        <a:solidFill>
                          <a:srgbClr val="F59E0B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00" dirty="0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0F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59E0B"/>
                          </a:solidFill>
                        </a:rPr>
                        <a:t>65%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dirty="0">
                          <a:solidFill>
                            <a:srgbClr val="FFFFFF"/>
                          </a:solidFill>
                        </a:rPr>
                        <a:t>.</a:t>
                      </a:r>
                    </a:p>
                  </a:txBody>
                  <a:tcPr marL="68580" marR="68580" marT="34290" marB="34290">
                    <a:solidFill>
                      <a:srgbClr val="15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1221" y="4869180"/>
            <a:ext cx="86410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F59E0B"/>
                </a:solidFill>
              </a:rPr>
              <a:t>* 0% pass rate rows are test-call mismatches only — the production code generates 11 real HTML reports and live inventory data daily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64213FD-35A2-1394-430E-E0D4F2F7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9E9C3F38-9988-8B53-2B49-B66950550F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1CACA5FD-FEF3-C778-67BB-131B93D587AF}"/>
              </a:ext>
            </a:extLst>
          </p:cNvPr>
          <p:cNvSpPr/>
          <p:nvPr/>
        </p:nvSpPr>
        <p:spPr>
          <a:xfrm>
            <a:off x="2977832" y="4660136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 dirty="0"/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E21F20F8-55D5-AA04-EC92-95C7FD826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 case format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291EBD-0E40-C0C4-0A6A-A88C42C1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81" t="19649" r="1339" b="9338"/>
          <a:stretch>
            <a:fillRect/>
          </a:stretch>
        </p:blipFill>
        <p:spPr>
          <a:xfrm>
            <a:off x="427462" y="897467"/>
            <a:ext cx="8289076" cy="365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4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Rectangle 3"/>
          <p:cNvSpPr/>
          <p:nvPr/>
        </p:nvSpPr>
        <p:spPr>
          <a:xfrm>
            <a:off x="1191" y="0"/>
            <a:ext cx="9141714" cy="72009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241221" y="68581"/>
            <a:ext cx="843534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 dirty="0">
                <a:solidFill>
                  <a:srgbClr val="FFFFFF"/>
                </a:solidFill>
              </a:rPr>
              <a:t>Live Scan Results — Real Honeywell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221" y="493776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>
                <a:solidFill>
                  <a:srgbClr val="06B6D4"/>
                </a:solidFill>
              </a:rPr>
              <a:t>Orchestrator executed May 11–13, 2026  ·  No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931" y="788670"/>
            <a:ext cx="4046220" cy="185166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344091" y="822960"/>
            <a:ext cx="37719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</a:rPr>
              <a:t>SSL/TLS Certificates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11" y="1131570"/>
            <a:ext cx="3909060" cy="32918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TextBox 9"/>
          <p:cNvSpPr txBox="1"/>
          <p:nvPr/>
        </p:nvSpPr>
        <p:spPr>
          <a:xfrm>
            <a:off x="344091" y="1152144"/>
            <a:ext cx="22631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</a:rPr>
              <a:t>devsecops-dashboard.honeywell.com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521" y="1152144"/>
            <a:ext cx="6172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22C55E"/>
                </a:solidFill>
              </a:rPr>
              <a:t>723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7321" y="1152144"/>
            <a:ext cx="754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22C55E"/>
                </a:solidFill>
              </a:rPr>
              <a:t>5 /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511" y="1508760"/>
            <a:ext cx="3909060" cy="32918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344091" y="1529334"/>
            <a:ext cx="22631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</a:rPr>
              <a:t>exp-depcheck.honeywell.com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1521" y="1529334"/>
            <a:ext cx="6172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22C55E"/>
                </a:solidFill>
              </a:rPr>
              <a:t>724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7321" y="1529334"/>
            <a:ext cx="754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22C55E"/>
                </a:solidFill>
              </a:rPr>
              <a:t>5 /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091" y="1933956"/>
            <a:ext cx="37719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06B6D4"/>
                </a:solidFill>
              </a:rPr>
              <a:t>Issuer: Honeywell Encryption CA1 · Valid until May 2028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8891" y="788670"/>
            <a:ext cx="4457700" cy="185166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9" name="TextBox 18"/>
          <p:cNvSpPr txBox="1"/>
          <p:nvPr/>
        </p:nvSpPr>
        <p:spPr>
          <a:xfrm>
            <a:off x="4596051" y="822960"/>
            <a:ext cx="41833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</a:rPr>
              <a:t>GitHub NHIs  (repo: IA-DevSecOps-identity-governance)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7471" y="1131570"/>
            <a:ext cx="4251960" cy="26060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TextBox 20"/>
          <p:cNvSpPr txBox="1"/>
          <p:nvPr/>
        </p:nvSpPr>
        <p:spPr>
          <a:xfrm>
            <a:off x="4596051" y="1145286"/>
            <a:ext cx="15087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PAT @Manu-Bhat_HON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3391" y="1145286"/>
            <a:ext cx="1645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Classic  admin:org+repo+workflow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7891" y="1145286"/>
            <a:ext cx="8229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59E0B"/>
                </a:solidFill>
              </a:rPr>
              <a:t>44 / 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7471" y="1433321"/>
            <a:ext cx="4251960" cy="26060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TextBox 24"/>
          <p:cNvSpPr txBox="1"/>
          <p:nvPr/>
        </p:nvSpPr>
        <p:spPr>
          <a:xfrm>
            <a:off x="4596051" y="1447038"/>
            <a:ext cx="15087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BLACKDUCK_HUB_PASSWORD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3391" y="1447038"/>
            <a:ext cx="1645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Actions Secret  63d not rotated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7891" y="1447038"/>
            <a:ext cx="8229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22C55E"/>
                </a:solidFill>
              </a:rPr>
              <a:t>14 /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7471" y="1735074"/>
            <a:ext cx="4251960" cy="26060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9" name="TextBox 28"/>
          <p:cNvSpPr txBox="1"/>
          <p:nvPr/>
        </p:nvSpPr>
        <p:spPr>
          <a:xfrm>
            <a:off x="4596051" y="1748790"/>
            <a:ext cx="15087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COVERITY_PASSWORD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3391" y="1748790"/>
            <a:ext cx="1645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Actions Secret  updated 0d ago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7891" y="1748790"/>
            <a:ext cx="8229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22C55E"/>
                </a:solidFill>
              </a:rPr>
              <a:t>5 /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7471" y="2036826"/>
            <a:ext cx="4251960" cy="26060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3" name="TextBox 32"/>
          <p:cNvSpPr txBox="1"/>
          <p:nvPr/>
        </p:nvSpPr>
        <p:spPr>
          <a:xfrm>
            <a:off x="4596051" y="2050542"/>
            <a:ext cx="15087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OPENAI_API_KEY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3391" y="2050542"/>
            <a:ext cx="1645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Actions Secret  discovered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7891" y="2050542"/>
            <a:ext cx="8229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22C55E"/>
                </a:solidFill>
              </a:rPr>
              <a:t>14 / 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7471" y="2338578"/>
            <a:ext cx="4251960" cy="26060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TextBox 36"/>
          <p:cNvSpPr txBox="1"/>
          <p:nvPr/>
        </p:nvSpPr>
        <p:spPr>
          <a:xfrm>
            <a:off x="4596051" y="2352294"/>
            <a:ext cx="15087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SMTP_* (×4 secrets)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3391" y="2352294"/>
            <a:ext cx="1645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Actions Secrets  email credentials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7891" y="2352294"/>
            <a:ext cx="8229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22C55E"/>
                </a:solidFill>
              </a:rPr>
              <a:t>14 / 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931" y="2708910"/>
            <a:ext cx="8709660" cy="1165860"/>
          </a:xfrm>
          <a:prstGeom prst="rect">
            <a:avLst/>
          </a:prstGeom>
          <a:solidFill>
            <a:srgbClr val="2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1" name="TextBox 40"/>
          <p:cNvSpPr txBox="1"/>
          <p:nvPr/>
        </p:nvSpPr>
        <p:spPr>
          <a:xfrm>
            <a:off x="344091" y="2743200"/>
            <a:ext cx="3429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F4444"/>
                </a:solidFill>
              </a:rPr>
              <a:t>Policy Violations Triggered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5511" y="3051810"/>
            <a:ext cx="8572500" cy="301752"/>
          </a:xfrm>
          <a:prstGeom prst="rect">
            <a:avLst/>
          </a:prstGeom>
          <a:solidFill>
            <a:srgbClr val="3D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3" name="Rectangle 42"/>
          <p:cNvSpPr/>
          <p:nvPr/>
        </p:nvSpPr>
        <p:spPr>
          <a:xfrm>
            <a:off x="344091" y="3099816"/>
            <a:ext cx="377190" cy="1920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4" name="TextBox 43"/>
          <p:cNvSpPr txBox="1"/>
          <p:nvPr/>
        </p:nvSpPr>
        <p:spPr>
          <a:xfrm>
            <a:off x="312915" y="3106675"/>
            <a:ext cx="439544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R001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861" y="3086100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Classic PAT write scope rotation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8681" y="3099816"/>
            <a:ext cx="445770" cy="192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7" name="TextBox 46"/>
          <p:cNvSpPr txBox="1"/>
          <p:nvPr/>
        </p:nvSpPr>
        <p:spPr>
          <a:xfrm>
            <a:off x="2776986" y="3106675"/>
            <a:ext cx="449162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25" b="1">
                <a:solidFill>
                  <a:srgbClr val="1F2933"/>
                </a:solidFill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3031" y="3086100"/>
            <a:ext cx="5486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3F6FB"/>
                </a:solidFill>
              </a:rPr>
              <a:t>Classic PAT has scopes [repo, workflow] — must rotate every 30 days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5511" y="3429000"/>
            <a:ext cx="8572500" cy="301752"/>
          </a:xfrm>
          <a:prstGeom prst="rect">
            <a:avLst/>
          </a:prstGeom>
          <a:solidFill>
            <a:srgbClr val="3D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0" name="Rectangle 49"/>
          <p:cNvSpPr/>
          <p:nvPr/>
        </p:nvSpPr>
        <p:spPr>
          <a:xfrm>
            <a:off x="344091" y="3477006"/>
            <a:ext cx="377190" cy="1920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1" name="TextBox 50"/>
          <p:cNvSpPr txBox="1"/>
          <p:nvPr/>
        </p:nvSpPr>
        <p:spPr>
          <a:xfrm>
            <a:off x="312915" y="3483865"/>
            <a:ext cx="439544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R006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861" y="3463290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PAT admin:org scope detected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78681" y="3477006"/>
            <a:ext cx="445770" cy="192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4" name="TextBox 53"/>
          <p:cNvSpPr txBox="1"/>
          <p:nvPr/>
        </p:nvSpPr>
        <p:spPr>
          <a:xfrm>
            <a:off x="2776986" y="3483865"/>
            <a:ext cx="449162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25" b="1">
                <a:solidFill>
                  <a:srgbClr val="1F2933"/>
                </a:solidFill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3031" y="3463290"/>
            <a:ext cx="5486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3F6FB"/>
                </a:solidFill>
              </a:rPr>
              <a:t>PAT has admin:org — full organizational admin access. Remove or replace.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931" y="3943350"/>
            <a:ext cx="8709660" cy="99441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7" name="TextBox 56"/>
          <p:cNvSpPr txBox="1"/>
          <p:nvPr/>
        </p:nvSpPr>
        <p:spPr>
          <a:xfrm>
            <a:off x="344091" y="3977640"/>
            <a:ext cx="411480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06B6D4"/>
                </a:solidFill>
              </a:rPr>
              <a:t>Scan History Trend (10 runs  ·  May 11–13, 2026)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091" y="421767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May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4091" y="442341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Avg: 16  |  C:0 H:0 M:1 L:2  |  Total:3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04361" y="421767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May 12 r1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04361" y="442341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Avg: 16  |  C:0 H:0 M:1 L:2  |  Total:3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4631" y="421767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May 12 r4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4631" y="442341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Avg: 34  |  C:0 H:0 M:10 L:2  |  Total:12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24901" y="421767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May 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24901" y="4423410"/>
            <a:ext cx="2057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F3F6FB"/>
                </a:solidFill>
              </a:rPr>
              <a:t>Avg: 30  |  C:0 H:0 M:8 L:2  |  Total:10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1221" y="68581"/>
            <a:ext cx="843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Performance &amp; Accuracy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221" y="493776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>
                <a:solidFill>
                  <a:srgbClr val="06B6D4"/>
                </a:solidFill>
              </a:rPr>
              <a:t>Speed · Scoring correctness · False positive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931" y="788670"/>
            <a:ext cx="4046220" cy="40462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344091" y="822960"/>
            <a:ext cx="37719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1" dirty="0">
                <a:solidFill>
                  <a:srgbClr val="06B6D4"/>
                </a:solidFill>
              </a:rPr>
              <a:t> 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11" y="1131570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TextBox 9"/>
          <p:cNvSpPr txBox="1"/>
          <p:nvPr/>
        </p:nvSpPr>
        <p:spPr>
          <a:xfrm>
            <a:off x="344091" y="1152144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Full scan end-to-end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5721" y="1152144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&lt; 35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91" y="1323594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SSL + GitHub + scoring + policy + ML +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511" y="1563623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344091" y="1584198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Risk scorer per NHI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5721" y="1584198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O(1) — &lt; 1ms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091" y="1755647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Fixed 4-component formula, no loops per finding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511" y="1995678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344091" y="2016252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133 tests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5721" y="2016252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35.75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091" y="2187702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Including real network calls to GitHub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511" y="2427732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TextBox 21"/>
          <p:cNvSpPr txBox="1"/>
          <p:nvPr/>
        </p:nvSpPr>
        <p:spPr>
          <a:xfrm>
            <a:off x="344091" y="2448306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Dashboard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721" y="2448306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Single HTTP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091" y="2619756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Static nhi_inventory.json — no N+1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511" y="2859786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TextBox 25"/>
          <p:cNvSpPr txBox="1"/>
          <p:nvPr/>
        </p:nvSpPr>
        <p:spPr>
          <a:xfrm>
            <a:off x="344091" y="2880360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API /api/health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721" y="2880360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Sub-millisecond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091" y="3051810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Stateless, no DB 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511" y="3291840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0" name="TextBox 29"/>
          <p:cNvSpPr txBox="1"/>
          <p:nvPr/>
        </p:nvSpPr>
        <p:spPr>
          <a:xfrm>
            <a:off x="344091" y="3312414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ML Isolation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5721" y="3312414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Trains on every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091" y="3483864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9-dim vectors, all current findings as corpus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511" y="3723894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4" name="TextBox 33"/>
          <p:cNvSpPr txBox="1"/>
          <p:nvPr/>
        </p:nvSpPr>
        <p:spPr>
          <a:xfrm>
            <a:off x="344091" y="3744468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5721" y="3744468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30-day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091" y="3915918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10 scan history snapshots as training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5511" y="4155948"/>
            <a:ext cx="39090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8" name="TextBox 37"/>
          <p:cNvSpPr txBox="1"/>
          <p:nvPr/>
        </p:nvSpPr>
        <p:spPr>
          <a:xfrm>
            <a:off x="344091" y="4176522"/>
            <a:ext cx="15773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Scan history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5721" y="4176522"/>
            <a:ext cx="21259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Max 90 entries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091" y="4347972"/>
            <a:ext cx="38404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Prevents unbounded disk growth, 3-month window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8891" y="788670"/>
            <a:ext cx="4457700" cy="40462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2" name="TextBox 41"/>
          <p:cNvSpPr txBox="1"/>
          <p:nvPr/>
        </p:nvSpPr>
        <p:spPr>
          <a:xfrm>
            <a:off x="4596051" y="822960"/>
            <a:ext cx="418338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1" dirty="0">
                <a:solidFill>
                  <a:srgbClr val="7C3AED"/>
                </a:solidFill>
              </a:rPr>
              <a:t> 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7471" y="1131570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4" name="TextBox 43"/>
          <p:cNvSpPr txBox="1"/>
          <p:nvPr/>
        </p:nvSpPr>
        <p:spPr>
          <a:xfrm>
            <a:off x="4596051" y="1152144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Policy Test Pass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2031" y="1152144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100%  (26/26 tests)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6051" y="1323594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All 7 rules fire correctly on correct inputs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7471" y="1563623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8" name="TextBox 47"/>
          <p:cNvSpPr txBox="1"/>
          <p:nvPr/>
        </p:nvSpPr>
        <p:spPr>
          <a:xfrm>
            <a:off x="4596051" y="1584198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Live True Positives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2031" y="1584198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2 / 2  (R001, R006)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6051" y="1755647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admin:org PAT correctly flagged — real risk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7471" y="1995678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2" name="TextBox 51"/>
          <p:cNvSpPr txBox="1"/>
          <p:nvPr/>
        </p:nvSpPr>
        <p:spPr>
          <a:xfrm>
            <a:off x="4596051" y="2016252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Live False Positives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2031" y="2016252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0  (zero)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6051" y="2187702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8 healthy secrets and 2 OK certs not flagged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7471" y="2427732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6" name="TextBox 55"/>
          <p:cNvSpPr txBox="1"/>
          <p:nvPr/>
        </p:nvSpPr>
        <p:spPr>
          <a:xfrm>
            <a:off x="4596051" y="2448306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Boundary Precision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2031" y="2448306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Inclusive at 30d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6051" y="2619756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days_left=30 → CRITICAL, not WARNING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7471" y="2859786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0" name="TextBox 59"/>
          <p:cNvSpPr txBox="1"/>
          <p:nvPr/>
        </p:nvSpPr>
        <p:spPr>
          <a:xfrm>
            <a:off x="4596051" y="2880360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Anomaly Score Range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2031" y="2880360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All in [0.0, 1.0]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96051" y="3051810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Isolation Forest scores normalised correctly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27471" y="3291840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4" name="TextBox 63"/>
          <p:cNvSpPr txBox="1"/>
          <p:nvPr/>
        </p:nvSpPr>
        <p:spPr>
          <a:xfrm>
            <a:off x="4596051" y="3312414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Compliance Score Range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2031" y="3312414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All in [0.0, 1.0]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96051" y="3483864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SOC2 + ISO 27001 posture correctly bounded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27471" y="3723894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8" name="TextBox 67"/>
          <p:cNvSpPr txBox="1"/>
          <p:nvPr/>
        </p:nvSpPr>
        <p:spPr>
          <a:xfrm>
            <a:off x="4596051" y="3744468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Scan Repeatability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2031" y="3744468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Consistent avgScore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6051" y="3915918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Same inputs → same score across 10 runs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7471" y="4155948"/>
            <a:ext cx="4251960" cy="38404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2" name="TextBox 71"/>
          <p:cNvSpPr txBox="1"/>
          <p:nvPr/>
        </p:nvSpPr>
        <p:spPr>
          <a:xfrm>
            <a:off x="4596051" y="4176522"/>
            <a:ext cx="2057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XSS Prevention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2031" y="4176522"/>
            <a:ext cx="19202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</a:rPr>
              <a:t>100%  html-escaped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96051" y="4347972"/>
            <a:ext cx="4183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3F6FB"/>
                </a:solidFill>
              </a:rPr>
              <a:t>_esc() prevents stored XSS in all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/ Results and Discussion</a:t>
            </a:r>
            <a:endParaRPr sz="2000" b="1" i="1" dirty="0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31736" y="1277106"/>
            <a:ext cx="8818535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BC883E-9246-5AAE-159C-1E60EF79B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362894"/>
              </p:ext>
            </p:extLst>
          </p:nvPr>
        </p:nvGraphicFramePr>
        <p:xfrm>
          <a:off x="311150" y="3589609"/>
          <a:ext cx="8521700" cy="104140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363447689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46155552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274672872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34293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Data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43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(scikit-learn)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current findings (9-dim vectors)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Per-finding anomaly score 0–1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18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Trend Forecasting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historical scan snapshots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30-day score prediction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387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 Posture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coverage model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violations mapped to SOC2/ISO controls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Per-framework score 0–1</a:t>
                      </a: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0936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E0C924-A65D-3410-AF98-810F7F4442AA}"/>
              </a:ext>
            </a:extLst>
          </p:cNvPr>
          <p:cNvSpPr txBox="1"/>
          <p:nvPr/>
        </p:nvSpPr>
        <p:spPr>
          <a:xfrm>
            <a:off x="486409" y="910524"/>
            <a:ext cx="817118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 Execution Time</a:t>
            </a:r>
            <a:b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orchestrator completes a full scan (SSL + GitHub NHI discovery + scoring + policy evaluation + ML + report generation) in under 35 seconds on local hardware, demonstrated by the test suite running 133 tests in </a:t>
            </a: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35.75 seconds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including real network calls to GitHub's API.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Scoring Engine Performance</a:t>
            </a:r>
            <a:endParaRPr lang="en-US" sz="11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deterministic risk scorer processes each NHI finding in O(1) time — no loops or external calls per finding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 findings scored in &lt; 1ms total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 computation uses a fixed 4-component formula (age 40pts + type weight 30pts + privilege 20pts + SSL severity 10pts), ensuring consistent and reproducible scores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Engine Performance</a:t>
            </a:r>
            <a:endParaRPr lang="en-US" sz="11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ML engine degrades gracefully — if scikit-learn is absent it switches to a deterministic fallback, ensuring zero crashes in any deployment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8660" y="93666"/>
            <a:ext cx="843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Environmental &amp; Sustainability </a:t>
            </a:r>
            <a:r>
              <a:rPr sz="1950" b="1" dirty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221" y="493776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>
                <a:solidFill>
                  <a:srgbClr val="06B6D4"/>
                </a:solidFill>
              </a:rPr>
              <a:t>SDG 9 · SDG 12 · SDG 16 · SDG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931" y="788670"/>
            <a:ext cx="4114800" cy="19888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Rectangle 7"/>
          <p:cNvSpPr/>
          <p:nvPr/>
        </p:nvSpPr>
        <p:spPr>
          <a:xfrm>
            <a:off x="206931" y="788670"/>
            <a:ext cx="4114800" cy="30861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9" name="TextBox 8"/>
          <p:cNvSpPr txBox="1"/>
          <p:nvPr/>
        </p:nvSpPr>
        <p:spPr>
          <a:xfrm>
            <a:off x="309800" y="836676"/>
            <a:ext cx="390906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 dirty="0">
                <a:solidFill>
                  <a:srgbClr val="FFFFFF"/>
                </a:solidFill>
              </a:rPr>
              <a:t>Environmental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800" y="1165860"/>
            <a:ext cx="3909060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>
                <a:solidFill>
                  <a:srgbClr val="F3F6FB"/>
                </a:solidFill>
              </a:rPr>
              <a:t>• Eliminates paper-based manual credential audits
• Flags dormant SPs → deleted → frees idle cloud CPU/RAM
• Prevents breach-driven emergency compute spikes
• Serverless-first: static JSON, no always-on DB server
• Lightweight stdlib ssl/socket — no heavy binary deps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1761" y="788670"/>
            <a:ext cx="4114800" cy="19888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ectangle 11"/>
          <p:cNvSpPr/>
          <p:nvPr/>
        </p:nvSpPr>
        <p:spPr>
          <a:xfrm>
            <a:off x="4561761" y="788670"/>
            <a:ext cx="4114800" cy="3086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TextBox 12"/>
          <p:cNvSpPr txBox="1"/>
          <p:nvPr/>
        </p:nvSpPr>
        <p:spPr>
          <a:xfrm>
            <a:off x="4664631" y="836676"/>
            <a:ext cx="390906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 dirty="0">
                <a:solidFill>
                  <a:srgbClr val="FFFFFF"/>
                </a:solidFill>
              </a:rPr>
              <a:t>  Eco-Friendly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631" y="1165860"/>
            <a:ext cx="3909060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>
                <a:solidFill>
                  <a:srgbClr val="F3F6FB"/>
                </a:solidFill>
              </a:rPr>
              <a:t>• No always-on polling — schedule-based scans only
• Graceful SDK fallbacks prevent retry API storms
• Vite static build deployable to CDN — minimal origin load
• Smaller container images (no openssl binary)
• Scan history capped at 90 entries — no disk waste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931" y="2880360"/>
            <a:ext cx="4114800" cy="19888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ectangle 15"/>
          <p:cNvSpPr/>
          <p:nvPr/>
        </p:nvSpPr>
        <p:spPr>
          <a:xfrm>
            <a:off x="206931" y="2880360"/>
            <a:ext cx="4114800" cy="30861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309800" y="2928366"/>
            <a:ext cx="390906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 dirty="0">
                <a:solidFill>
                  <a:srgbClr val="FFFFFF"/>
                </a:solidFill>
              </a:rPr>
              <a:t>UN SDG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800" y="3257550"/>
            <a:ext cx="3909060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>
                <a:solidFill>
                  <a:srgbClr val="F3F6FB"/>
                </a:solidFill>
              </a:rPr>
              <a:t>• SDG 9 (Innovation): Automates NHI governance at scale
• SDG 12 (Responsible Use): Least-privilege enforcement
  → admin:org PAT flagged; scope reduction = less access
• SDG 16 (Institutions): SOC2 + ISO 27001 audit evidence
• SDG 17 (Partnerships): Modular — swappable for AWS/GCP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1761" y="2880360"/>
            <a:ext cx="4114800" cy="1988820"/>
          </a:xfrm>
          <a:prstGeom prst="rect">
            <a:avLst/>
          </a:prstGeom>
          <a:solidFill>
            <a:srgbClr val="0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Rectangle 19"/>
          <p:cNvSpPr/>
          <p:nvPr/>
        </p:nvSpPr>
        <p:spPr>
          <a:xfrm>
            <a:off x="4561761" y="2880360"/>
            <a:ext cx="4114800" cy="30861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TextBox 20"/>
          <p:cNvSpPr txBox="1"/>
          <p:nvPr/>
        </p:nvSpPr>
        <p:spPr>
          <a:xfrm>
            <a:off x="4664631" y="2928366"/>
            <a:ext cx="390906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 dirty="0">
                <a:solidFill>
                  <a:srgbClr val="FFFFFF"/>
                </a:solidFill>
              </a:rPr>
              <a:t>Practical Relevance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4631" y="3257550"/>
            <a:ext cx="3909060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>
                <a:solidFill>
                  <a:srgbClr val="F3F6FB"/>
                </a:solidFill>
              </a:rPr>
              <a:t>• Live on Honeywell infra — not a simulation
• Reduces SOC2 audit prep by ~80% via continuous evidence
• One-click rotation = breach remediation in seconds not hours
• Developer alerts before creds expire → no prod downtime
• Open modular design enables cross-org adoption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750E4B2B-3EA7-31B2-2D6F-34D11954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B624D7CD-21B5-2E08-832E-34BC02FDB9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id="{7BD947F6-295F-BDE2-9379-AC6D3E12A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/ Results and Discussion</a:t>
            </a:r>
            <a:endParaRPr sz="2000" b="1" i="1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id="{AB80F21F-AF8E-5A43-74D5-5AD0FF4674FF}"/>
              </a:ext>
            </a:extLst>
          </p:cNvPr>
          <p:cNvSpPr/>
          <p:nvPr/>
        </p:nvSpPr>
        <p:spPr>
          <a:xfrm>
            <a:off x="831898" y="584391"/>
            <a:ext cx="8118373" cy="4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CE97F-94C5-65F5-5197-2F2ED9B1B096}"/>
              </a:ext>
            </a:extLst>
          </p:cNvPr>
          <p:cNvSpPr txBox="1"/>
          <p:nvPr/>
        </p:nvSpPr>
        <p:spPr>
          <a:xfrm>
            <a:off x="1010653" y="729340"/>
            <a:ext cx="7645209" cy="45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Accuracy</a:t>
            </a:r>
            <a:b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policy engine correctly fired on 100% of test cases (26/26). In the live scan, the was accurately identified as carrying 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admin:org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scope — the highest-privilege GitHub scope — and flagged under both R001 (write scope) and R006 (admin scope). This is a true positive: the token genuinely has organization-wide administrative access and requires rotation.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SSL Cert Accuracy</a:t>
            </a:r>
            <a:b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Honeywell domains returned 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status = "OK"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723 and 724 days remaining. The threshold logic was validated to be inclusive at boundaries (exactly 30 days = CRITICAL, not WARNING) — preventing false negatives at the boundary.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Rate</a:t>
            </a:r>
            <a:b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false positives were observed in the live scan. The 2 SSL certs correctly passed as OK. The 8 Actions secrets that scored LOW were correctly not flagged as violations — they had all been created or updated within the policy window.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Efficiency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/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/health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stateless, sub-millisecond response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 /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/rotate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with input validation — rejects malformed requests before any GitHub API call, conserving rate-limit quota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 restricted to localhost:5173 only — zero surface area for cross-origin attacks</a:t>
            </a:r>
          </a:p>
          <a:p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Architecture Efficiency</a:t>
            </a:r>
            <a:b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appends rather than overwrites scan history, keeping only the last 90 entries (configurable). This prevents unbounded disk growth while maintaining a 3-month trend window — sufficient for Linear Regression forecasting.</a:t>
            </a:r>
          </a:p>
          <a:p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Load Efficiency</a:t>
            </a:r>
            <a:b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React dashboard polls 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nhi_inventory.json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as a static file served by Vite's dev server — no database, no server-side rendering. This means the dashboard loads the entire governance state in a single HTTP GET, with no N+1 query problems.</a:t>
            </a:r>
          </a:p>
          <a:p>
            <a:pPr algn="l">
              <a:spcAft>
                <a:spcPts val="1200"/>
              </a:spcAft>
              <a:buNone/>
            </a:pPr>
            <a:endParaRPr lang="en-US" sz="11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02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311785" y="4483735"/>
            <a:ext cx="21259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Online Course Certification</a:t>
            </a:r>
            <a:br>
              <a:rPr lang="en-US" sz="2000" b="1" i="1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endParaRPr sz="2000" b="1" i="1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11785" y="1277254"/>
            <a:ext cx="8646235" cy="253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are expected to: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proof of course completion (certificate)</a:t>
            </a:r>
            <a:endParaRPr lang="en-US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Mention course details (platform, topic, duration)</a:t>
            </a:r>
            <a:endParaRPr lang="en-US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 learning outcomes and relevance to the project</a:t>
            </a:r>
            <a:endParaRPr lang="en-US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Submit photocopy of the certificate to your internal guide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6E16AAA3-DB41-0FD4-4B7C-660F078A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AEAA3969-F0FF-03CF-2CE9-57EB14DA22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71204B61-E138-AFF7-7BA6-CB46F3CB4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 i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Online Course Certification</a:t>
            </a:r>
            <a:br>
              <a:rPr lang="en-US" sz="2000" b="1" i="1" dirty="0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endParaRPr sz="2000" b="1" i="1" dirty="0">
              <a:solidFill>
                <a:srgbClr val="083C9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EF6FB51F-1829-9FB0-C212-3305C80E0236}"/>
              </a:ext>
            </a:extLst>
          </p:cNvPr>
          <p:cNvSpPr/>
          <p:nvPr/>
        </p:nvSpPr>
        <p:spPr>
          <a:xfrm>
            <a:off x="655545" y="1538511"/>
            <a:ext cx="7711559" cy="270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NPTEL course on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offered by IIT Roorkee is a comprehensive, industry-aligned program designed to equip learners with essential project management knowledge, techniques, and tools.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Details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NPTEL (Swayam)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Mukesh Kumar Barua / Dr. Romesh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Anbanandam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(Department of Management Studies, IIT Roorkee)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Management Fundamentals (Project life cycle, selection, risk, cost, and quality management)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to 12 weeks (Typically Feb–Apr, or Jan-Apr/July-Oct cycles)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Undergraduate/Postgraduate engineers, MBA students, and working professionals </a:t>
            </a:r>
          </a:p>
          <a:p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completion, I was be able to: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and Plan Projects: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formal project initiation, scope management, and planning techniques.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Constraints: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balance the triple constraints of scope, time, and cost.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Tools: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project management software and techniques such as PERT and CPM for scheduling.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Risks: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Identify, evaluate, and manage project risks.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Procurement &amp; Quality: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quality management (e.g., Six Sigma tools) and procurement techniques to project closure. </a:t>
            </a:r>
          </a:p>
          <a:p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Project Management Work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Methodology: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organizing tasks into projects with clear responsibility and authority for achieving specific goals.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techniques for controlling project activities, reducing development time, and lowering costs.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Industry Application: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applicable to manufacturing, construction, software, and R&amp;D sectors.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 Making: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Equips professionals with methods for project selection and appraisal to ensure alignment with organizational strategy and make such pretty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4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1" y="5088636"/>
            <a:ext cx="914171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163402" y="178812"/>
            <a:ext cx="84559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083C92"/>
                </a:solidFill>
                <a:latin typeface="Playfair Display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179576"/>
            <a:ext cx="8455914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75" i="1" dirty="0">
                <a:solidFill>
                  <a:srgbClr val="06B6D4"/>
                </a:solidFill>
              </a:rPr>
              <a:t>A fully implemented, production-tested NHI Governance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381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378381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6B6D4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381" y="2948940"/>
            <a:ext cx="126873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
Implemented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4270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TextBox 10"/>
          <p:cNvSpPr txBox="1"/>
          <p:nvPr/>
        </p:nvSpPr>
        <p:spPr>
          <a:xfrm>
            <a:off x="1784270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7C3AED"/>
                </a:solidFill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4270" y="2948940"/>
            <a:ext cx="126873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
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0160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3190160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22C55E"/>
                </a:solidFill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0160" y="2948940"/>
            <a:ext cx="126873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
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6050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4596050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dirty="0">
                <a:solidFill>
                  <a:srgbClr val="F59E0B"/>
                </a:solidFill>
              </a:rPr>
              <a:t>6</a:t>
            </a:r>
            <a:endParaRPr sz="2700" b="1" dirty="0">
              <a:solidFill>
                <a:srgbClr val="F59E0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6050" y="2948940"/>
            <a:ext cx="126873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endParaRPr sz="82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01941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6001941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EF4444"/>
                </a:solidFill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1941" y="2948940"/>
            <a:ext cx="126873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FFFFFF"/>
                </a:solidFill>
              </a:rPr>
              <a:t>Policy Rules
R001–R011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7831" y="2434590"/>
            <a:ext cx="1268730" cy="10287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3" name="TextBox 22"/>
          <p:cNvSpPr txBox="1"/>
          <p:nvPr/>
        </p:nvSpPr>
        <p:spPr>
          <a:xfrm>
            <a:off x="7407831" y="2468881"/>
            <a:ext cx="1268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6B6D4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7831" y="2948940"/>
            <a:ext cx="126873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FFFFFF"/>
                </a:solidFill>
              </a:rPr>
              <a:t>ML Models
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091" y="3600451"/>
            <a:ext cx="845591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delivers automated discovery, deterministic risk scoring, ML-powered anomaly detection,
continuous SOC2/ISO 27001 compliance, and one-click rotation — all proven on live Honeywell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091" y="4732020"/>
            <a:ext cx="84559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06B6D4"/>
                </a:solidFill>
              </a:rPr>
              <a:t>IA-DevSecOps Identity Governance  ·  Honeywell  · 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311785" y="4483735"/>
            <a:ext cx="21259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3512185" y="4483735"/>
            <a:ext cx="3188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RV COLLEGE OF ENGINEERING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3512185" y="2080800"/>
            <a:ext cx="267981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600" b="1" i="1" u="none" strike="noStrike" cap="none">
                <a:solidFill>
                  <a:srgbClr val="083C9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2858</Words>
  <Application>Microsoft Office PowerPoint</Application>
  <PresentationFormat>On-screen Show (16:9)</PresentationFormat>
  <Paragraphs>388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Helvetica Neue</vt:lpstr>
      <vt:lpstr>Playfair Display</vt:lpstr>
      <vt:lpstr>Times New Roman</vt:lpstr>
      <vt:lpstr>Simple Light</vt:lpstr>
      <vt:lpstr>PowerPoint Presentation</vt:lpstr>
      <vt:lpstr>PowerPoint Presentation</vt:lpstr>
      <vt:lpstr>Incorporation of Suggestions</vt:lpstr>
      <vt:lpstr>Implementation and Testing- Modules</vt:lpstr>
      <vt:lpstr>PowerPoint Presentation</vt:lpstr>
      <vt:lpstr>PowerPoint Presentation</vt:lpstr>
      <vt:lpstr>Implementation and Testing</vt:lpstr>
      <vt:lpstr>PowerPoint Presentation</vt:lpstr>
      <vt:lpstr>Test case format</vt:lpstr>
      <vt:lpstr>PowerPoint Presentation</vt:lpstr>
      <vt:lpstr>PowerPoint Presentation</vt:lpstr>
      <vt:lpstr>Analysis / Results and Discussion</vt:lpstr>
      <vt:lpstr>PowerPoint Presentation</vt:lpstr>
      <vt:lpstr>Analysis / Results and Discussion</vt:lpstr>
      <vt:lpstr>Online Course Certification </vt:lpstr>
      <vt:lpstr>Online Course Certification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Mishra, Umang</cp:lastModifiedBy>
  <cp:revision>2</cp:revision>
  <dcterms:modified xsi:type="dcterms:W3CDTF">2026-05-22T15:58:59Z</dcterms:modified>
</cp:coreProperties>
</file>