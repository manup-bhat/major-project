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78" r:id="rId4"/>
    <p:sldId id="263" r:id="rId5"/>
    <p:sldId id="264" r:id="rId6"/>
    <p:sldId id="268" r:id="rId7"/>
    <p:sldId id="269" r:id="rId8"/>
    <p:sldId id="276" r:id="rId9"/>
    <p:sldId id="279" r:id="rId10"/>
    <p:sldId id="280" r:id="rId11"/>
    <p:sldId id="282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EBDA19-7459-437E-87C6-172F433A6FFA}">
  <a:tblStyle styleId="{03EBDA19-7459-437E-87C6-172F433A6F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ee3756f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cee3756f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27107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d027107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A0DB3A1-7286-23CE-1596-698D3075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27107ea4_0_0:notes">
            <a:extLst>
              <a:ext uri="{FF2B5EF4-FFF2-40B4-BE49-F238E27FC236}">
                <a16:creationId xmlns:a16="http://schemas.microsoft.com/office/drawing/2014/main" id="{3C77C475-992C-27CF-7ED6-021DF298F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d027107ea4_0_0:notes">
            <a:extLst>
              <a:ext uri="{FF2B5EF4-FFF2-40B4-BE49-F238E27FC236}">
                <a16:creationId xmlns:a16="http://schemas.microsoft.com/office/drawing/2014/main" id="{653CD9B6-6B09-A92E-2589-EAFF17F62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496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027107ea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d027107ea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ee3756f8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cee3756f8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ee3756f8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cee3756f8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B79BA80-E4BA-EA45-7EB8-A3173056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5F78F06D-B400-1DAD-10C1-5F7211F92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A71988F2-44A4-D2FB-0849-44E09FB32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579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B931F3E-2400-DBC4-E93A-0FB90238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EE769037-044F-7D5F-4158-0E1046EE4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F67071F7-8E59-D847-28CE-20B225C58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04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2B2270D2-D8A3-CE2F-B00D-C44F7C84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C21FE3E8-DA18-3B48-B5E7-E6954FE43B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D2B469BD-098E-4880-BD90-E3FAAB66A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186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4C52F81-B744-3C9B-FA9F-B5F718E1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8927c7bf_0_275:notes">
            <a:extLst>
              <a:ext uri="{FF2B5EF4-FFF2-40B4-BE49-F238E27FC236}">
                <a16:creationId xmlns:a16="http://schemas.microsoft.com/office/drawing/2014/main" id="{E9809BE2-42E4-6BAF-4929-273BA7C83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6f8927c7bf_0_275:notes">
            <a:extLst>
              <a:ext uri="{FF2B5EF4-FFF2-40B4-BE49-F238E27FC236}">
                <a16:creationId xmlns:a16="http://schemas.microsoft.com/office/drawing/2014/main" id="{559C2419-8682-45C2-6B3A-9A621147B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088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837C5F46-C634-0084-D1A8-B5B07CB67972}"/>
              </a:ext>
            </a:extLst>
          </p:cNvPr>
          <p:cNvSpPr txBox="1"/>
          <p:nvPr/>
        </p:nvSpPr>
        <p:spPr>
          <a:xfrm>
            <a:off x="1778145" y="270773"/>
            <a:ext cx="69639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1400"/>
              <a:buFont typeface="Verdana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SCIENCE &amp; ENGINEERING</a:t>
            </a:r>
            <a:endParaRPr sz="1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60F1ED22-C4C8-5A72-E3AA-3F62BED48C9C}"/>
              </a:ext>
            </a:extLst>
          </p:cNvPr>
          <p:cNvSpPr txBox="1"/>
          <p:nvPr/>
        </p:nvSpPr>
        <p:spPr>
          <a:xfrm>
            <a:off x="897300" y="633303"/>
            <a:ext cx="7349400" cy="2043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" sz="19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Major Project</a:t>
            </a:r>
            <a:r>
              <a:rPr lang="en" sz="19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(IS4</a:t>
            </a:r>
            <a:r>
              <a:rPr lang="en" sz="19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81P</a:t>
            </a:r>
            <a:r>
              <a:rPr lang="en" sz="19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 </a:t>
            </a:r>
            <a:r>
              <a:rPr lang="en" sz="19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endParaRPr lang="en" sz="19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imes New Roman"/>
              <a:buNone/>
            </a:pPr>
            <a:r>
              <a:rPr lang="en-US" sz="19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“Non-Human Identity Governance Agent”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19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imes New Roman"/>
              <a:buNone/>
            </a:pPr>
            <a:r>
              <a:rPr lang="en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Evaluation- Phase-IV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Calibri"/>
              <a:buNone/>
            </a:pPr>
            <a:r>
              <a:rPr lang="en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Academic Year – 2025-26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Calibri"/>
              <a:buNone/>
            </a:pP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Calibri"/>
              <a:buNone/>
            </a:pPr>
            <a:endParaRPr lang="en-IN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07ABD86-AE59-5869-0CC8-0D058A718D05}"/>
              </a:ext>
            </a:extLst>
          </p:cNvPr>
          <p:cNvSpPr>
            <a:spLocks noGrp="1"/>
          </p:cNvSpPr>
          <p:nvPr/>
        </p:nvSpPr>
        <p:spPr>
          <a:xfrm>
            <a:off x="8193345" y="450147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31A7D294-30E6-8A19-B0D1-E7603CB44EB1}"/>
              </a:ext>
            </a:extLst>
          </p:cNvPr>
          <p:cNvSpPr txBox="1"/>
          <p:nvPr/>
        </p:nvSpPr>
        <p:spPr>
          <a:xfrm>
            <a:off x="401956" y="2896764"/>
            <a:ext cx="36260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 Prakash Bhat (1RV22IS035)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Merin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2223E24F-E094-74DB-3CF4-F86946E781AC}"/>
              </a:ext>
            </a:extLst>
          </p:cNvPr>
          <p:cNvSpPr txBox="1"/>
          <p:nvPr/>
        </p:nvSpPr>
        <p:spPr>
          <a:xfrm>
            <a:off x="5311182" y="2896764"/>
            <a:ext cx="32067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At: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Honeywell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Tejeshwar Rao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Cloud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Honeywell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Testing Methodology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A237E"/>
                </a:solidFill>
                <a:latin typeface="Times New Roman"/>
              </a:rPr>
              <a:t>Three-Level Testing Strategy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1. Unit Testing (pytest + mocking)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Each agent tested in isolation with mocked API responses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Deterministic execution, no network access required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82% coverage across 1,528 lines of code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2. Integration Testing (End-to-End)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Full pipeline: Discovery → Scoring → Policy → ML → Report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Graceful degradation when Azure/OPA unavailable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Fixture data with known outputs for assertions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3. Operational Testing (Live Infrastructure)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Deployed against HON-IA GitHub org + Azure subscriptions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Validated pagination, rate-limiting, cert expiry accuracy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2" name="Rectangle 61"/>
          <p:cNvSpPr/>
          <p:nvPr/>
        </p:nvSpPr>
        <p:spPr>
          <a:xfrm>
            <a:off x="100000" y="1050000"/>
            <a:ext cx="60000" cy="390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3C3955B-06A6-CAB7-4A46-E2992A5A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057E493-0987-0FF2-0686-5C9853A03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Performance Evaluation</a:t>
            </a: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A49F16B-167D-1E78-C6F2-70A00FE75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A237E"/>
                </a:solidFill>
                <a:latin typeface="Times New Roman"/>
              </a:rPr>
              <a:t>Pipeline Execution Benchmarks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Bef>
                <a:spcPts val="400"/>
              </a:spcBef>
              <a:spcAft>
                <a:spcPts val="800"/>
              </a:spcAft>
              <a:buNone/>
            </a:pPr>
            <a:r>
              <a:rPr sz="1300" b="0">
                <a:solidFill>
                  <a:srgbClr val="555555"/>
                </a:solidFill>
                <a:latin typeface="Times New Roman"/>
              </a:rPr>
              <a:t>   Target: Scan 500 repositories in under 120 seconds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buNone/>
            </a:pPr>
            <a:r>
              <a:rPr sz="1400" b="0">
                <a:latin typeface="Times New Roman"/>
              </a:rPr>
              <a:t>   Single repository (1 repo)              4.2 seconds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buNone/>
            </a:pPr>
            <a:r>
              <a:rPr sz="1400" b="0">
                <a:latin typeface="Times New Roman"/>
              </a:rPr>
              <a:t>   Organisation subset (5 repos)        18.6 seconds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buNone/>
            </a:pPr>
            <a:r>
              <a:rPr sz="1400" b="0">
                <a:latin typeface="Times New Roman"/>
              </a:rPr>
              <a:t>   Full organisation (15 repos)           38.4 seconds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B7A3D"/>
                </a:solidFill>
                <a:latin typeface="Times New Roman"/>
              </a:rPr>
              <a:t>   Stress test (500 repos)                  61.2 seconds  ✓</a:t>
            </a:r>
          </a:p>
          <a:p>
            <a:pPr algn="l">
              <a:spcBef>
                <a:spcPts val="1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Key Analysis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Bottleneck: GitHub REST API latency (per-repo calls)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Scoring + Policy + ML combined: under 2 seconds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49% headroom remaining for future scaling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A75B1-7A99-B75B-2299-DD14DB643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0000" y="1050000"/>
            <a:ext cx="60000" cy="390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8140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Results Analysis &amp; Discussion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D0DBE-A6FA-4A55-96D9-C4DA6059A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97" name="Rectangle 96"/>
          <p:cNvSpPr/>
          <p:nvPr/>
        </p:nvSpPr>
        <p:spPr>
          <a:xfrm>
            <a:off x="100000" y="1050000"/>
            <a:ext cx="60000" cy="385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Severity Distribution (89 NHIs)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CRITICAL: 8 (9%) — Certs &lt; 30 days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HIGH: 14 (15.7%) — Dormant admin PATs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MEDIUM: 31 (34.8%) — Aged keys/secrets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LOW: 36 (40.4%) — Properly scoped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Risk Score Analysis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Range: 8 (read-only key) to 92 (admin PAT)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Mean: 41.3, Std Dev: 22.7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Good spread across severity bands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5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Policy Enforcement (22 Violations)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11 governance rules evaluated on all NHIs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Top Violated Rules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R003: Stale Actions secrets — 7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R002: Aged write deploy keys — 5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R001: Classic PATs w/ write scope — 4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R004/R007: Certificate expiry — 6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Remediation Validated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Deploy key rotation: 3.8s full cycle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Ed25519 keygen + NaCl sealed-box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Validation of Objectives</a:t>
            </a: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129825" y="1064102"/>
            <a:ext cx="8884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7A3D"/>
                </a:solidFill>
                <a:latin typeface="Times New Roman"/>
              </a:rPr>
              <a:t>All 5 Objectives Successfully Achieved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Bef>
                <a:spcPts val="7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Obj 1: Cross-Platform NHI Discovery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89 NHIs found across GitHub + Azure (PATs, keys, SPs, KV)</a:t>
            </a:r>
          </a:p>
          <a:p>
            <a:pPr algn="l">
              <a:spcBef>
                <a:spcPts val="7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Obj 2: AI-Driven Risk Scoring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100-point composite score + Isolation Forest anomaly detection</a:t>
            </a:r>
          </a:p>
          <a:p>
            <a:pPr algn="l">
              <a:spcBef>
                <a:spcPts val="7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Obj 3: Policy-as-Code Enforcement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Dual engine: Python (11 rules) + OPA Rego, auto-fallback</a:t>
            </a:r>
          </a:p>
          <a:p>
            <a:pPr algn="l">
              <a:spcBef>
                <a:spcPts val="7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Obj 4: Automated Remediation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Deploy key + Actions secret rotation (Ed25519, NaCl)</a:t>
            </a:r>
          </a:p>
          <a:p>
            <a:pPr algn="l">
              <a:spcBef>
                <a:spcPts val="7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Obj 5: Real-Time Monitoring Dashboard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React 19 + TypeScript, 11 pages | SOC 2: 83.3%, NIST: 80%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24F1F-A5D3-4CEE-B656-1DAD048EC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104" name="Rectangle 103"/>
          <p:cNvSpPr/>
          <p:nvPr/>
        </p:nvSpPr>
        <p:spPr>
          <a:xfrm>
            <a:off x="100000" y="1050000"/>
            <a:ext cx="60000" cy="390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Working Model Demonstration</a:t>
            </a:r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1A237E"/>
                </a:solidFill>
                <a:latin typeface="Times New Roman"/>
              </a:rPr>
              <a:t>System Operation Flow (Live Demo)</a:t>
            </a:r>
            <a:endParaRPr dirty="0">
              <a:latin typeface="Times New Roman" panose="02020603050405020304" pitchFamily="18" charset="0"/>
              <a:sym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Step 1: Configuration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config.yaml sets scan targets, thresholds, email settings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Env vars supply credentials (GitHub PAT, Azure SP, SMTP)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Step 2: Discovery Pipeline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5 agents: Cert → GitHub → Azure SP → Key Vault → Monitor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Step 3: Intelligence Layer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Risk scorer: 0–100 composite → severity classification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Policy engine (11 rules) + ML anomaly detection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Step 4: Output &amp; Action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HTML report + Email alert + Dashboard (localhost:5173)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Rotation API (Flask) for one-click key/secret replacement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E86ED1-86B0-4B20-8836-5107CE72B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130" name="Rectangle 129"/>
          <p:cNvSpPr/>
          <p:nvPr/>
        </p:nvSpPr>
        <p:spPr>
          <a:xfrm>
            <a:off x="100000" y="1050000"/>
            <a:ext cx="60000" cy="390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Presentation of Results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3E166-A2F1-4C7B-9188-4F1ED1CD6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135" name="Rectangle 134"/>
          <p:cNvSpPr/>
          <p:nvPr/>
        </p:nvSpPr>
        <p:spPr>
          <a:xfrm>
            <a:off x="100000" y="1050000"/>
            <a:ext cx="60000" cy="385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0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Machine Learning Results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Isolation Forest detected 7 anomalies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6 aligned with CRITICAL/HIGH findings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1 additional caught by ML only (score 48)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Trend Prediction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R² = 0.73 (avg risk score)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R² = 0.81 (critical count)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Correctly predicted WORSENING trend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when high-risk creds introduced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5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Compliance Posture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SOC 2 Type II:  10/12 → 83.3%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NIST CSF:         8/10  → 80.0%  ✓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ISO 27001:      11/14  → 78.6%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CIS Benchmarks: 6/8  → 75.0%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Comparison with Existing Tools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Only cross-platform solution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(GitHub + Azure + AI scoring)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HashiCorp Vault: no discovery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Entra ID: Azure-only, no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FF067644-50DC-4294-80F7-1D994D10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>
            <a:extLst>
              <a:ext uri="{FF2B5EF4-FFF2-40B4-BE49-F238E27FC236}">
                <a16:creationId xmlns:a16="http://schemas.microsoft.com/office/drawing/2014/main" id="{2AC97730-CE50-D338-6CD4-1DF4FDCF4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latin typeface="Times New Roman"/>
              </a:rPr>
              <a:t>Implementation Level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EE151-E0D4-14B7-D376-B301872C6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00000" y="1050000"/>
            <a:ext cx="60000" cy="385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0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Architecture (4 Layers)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Layer 1: Discovery (5 Agents)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cert_agent — TLS certificate checks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github_nhi_agent — PATs, keys, secrets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azure_sp_agent — service principals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azure_keyvault_agent — vault items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azure_monitor_agent — dormancy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Layer 2: Risk &amp; Intelligence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risk_scorer — 100-point composite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ml_engine — Isolation Forest + trends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GPT-4o enrichment (optional, LangChain)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5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Policy + Output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Layer 3: Policy Enforcement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nhi_policies.py — Python, 11 rules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opa_runner.py — OPA/Rego evaluation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Auto-fallback if OPA unavailable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Layer 4: Remediation &amp; Reporting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Flask API — rotation endpoints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HTML report + Email notifications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React 19 + TS dashboard (11 pages)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Tech Stack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Python 3.11, scikit-learn, PyGithub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Azure SDK, React 19, Vite 8, Recharts</a:t>
            </a:r>
          </a:p>
        </p:txBody>
      </p:sp>
    </p:spTree>
    <p:extLst>
      <p:ext uri="{BB962C8B-B14F-4D97-AF65-F5344CB8AC3E}">
        <p14:creationId xmlns:p14="http://schemas.microsoft.com/office/powerpoint/2010/main" val="39639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6FE48E5A-AA01-4F5D-261B-7F188CD9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>
            <a:extLst>
              <a:ext uri="{FF2B5EF4-FFF2-40B4-BE49-F238E27FC236}">
                <a16:creationId xmlns:a16="http://schemas.microsoft.com/office/drawing/2014/main" id="{D6A057D7-8763-EBDB-30DF-8E2C35CED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sz="2400" b="1">
                <a:latin typeface="Times New Roman"/>
              </a:rPr>
              <a:t>Unit Test Coverage &amp; Security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9D209-7EEE-AB30-C950-CCC3C3164B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00000" y="1050000"/>
            <a:ext cx="60000" cy="385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0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82% Line Coverage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Key Modules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nhi_policies.py: 96%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risk_scorer.py: 94%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cert_agent.py: 91%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azure_monitor: 85%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github_nhi_agent: 84%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opa_runner: 81%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Boundary Testing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Off-by-one in R001/R004 thresholds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Graceful degradation tested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10s timeout per TLS endpoint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5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1A237E"/>
                </a:solidFill>
                <a:latin typeface="Times New Roman"/>
              </a:rPr>
              <a:t>Security Testing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Static Analysis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Bandit linter: zero high findings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All secrets via env vars only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Cryptography Validated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Ed25519 key generation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NaCl sealed-box encryption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Dry-run before live rotation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00897B"/>
                </a:solidFill>
                <a:latin typeface="Times New Roman"/>
              </a:rPr>
              <a:t>API Security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Flask CORS configured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Input validation on endpoints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333333"/>
                </a:solidFill>
                <a:latin typeface="Times New Roman"/>
              </a:rPr>
              <a:t>    Rate-limit backoff for GitHub</a:t>
            </a:r>
          </a:p>
        </p:txBody>
      </p:sp>
    </p:spTree>
    <p:extLst>
      <p:ext uri="{BB962C8B-B14F-4D97-AF65-F5344CB8AC3E}">
        <p14:creationId xmlns:p14="http://schemas.microsoft.com/office/powerpoint/2010/main" val="157853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CD9CFD34-A4FC-C210-DB6B-5AACFD9C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>
            <a:extLst>
              <a:ext uri="{FF2B5EF4-FFF2-40B4-BE49-F238E27FC236}">
                <a16:creationId xmlns:a16="http://schemas.microsoft.com/office/drawing/2014/main" id="{EAF123CB-90F1-2035-083C-4E62B05674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sz="2400" b="1" dirty="0">
                <a:latin typeface="Times New Roman"/>
              </a:rPr>
              <a:t>Final Report &amp; Deliverables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9D669-5DC2-81B9-08E2-06324B8A65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00000" y="1050000"/>
            <a:ext cx="60000" cy="3850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0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 dirty="0">
                <a:solidFill>
                  <a:srgbClr val="1A237E"/>
                </a:solidFill>
                <a:latin typeface="Times New Roman"/>
              </a:rPr>
              <a:t>Report (7 Chapters)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1: Introduction &amp; Problem Statement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2: Literature Survey &amp; Gap Analysis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3: System Design (4-layer architecture)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4: Implementation Details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5: Testing &amp; Performance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6: Results &amp; Discussion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Ch 7: Conclusion &amp; Future Scope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 dirty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 dirty="0">
                <a:solidFill>
                  <a:srgbClr val="00897B"/>
                </a:solidFill>
                <a:latin typeface="Times New Roman"/>
              </a:rPr>
              <a:t>References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43 bibliography entries (IEEE format)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Research paper on SOC 2 + NHI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50000" y="1150000"/>
            <a:ext cx="40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400" b="1" dirty="0">
                <a:solidFill>
                  <a:srgbClr val="1A237E"/>
                </a:solidFill>
                <a:latin typeface="Times New Roman"/>
              </a:rPr>
              <a:t>Key Metrics &amp; Deliverables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 dirty="0">
                <a:solidFill>
                  <a:srgbClr val="00897B"/>
                </a:solidFill>
                <a:latin typeface="Times New Roman"/>
              </a:rPr>
              <a:t>Project Metrics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89 NHIs discovered across platforms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82% test coverage (1,528 lines)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61s scan / 500 repos (target: 120s)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83.3% SOC 2 compliance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buNone/>
            </a:pPr>
            <a:endParaRPr sz="1300" b="0" dirty="0">
              <a:solidFill>
                <a:srgbClr val="333333"/>
              </a:solidFill>
              <a:latin typeface="Times New Roman"/>
            </a:endParaRP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 dirty="0">
                <a:solidFill>
                  <a:srgbClr val="00897B"/>
                </a:solidFill>
                <a:latin typeface="Times New Roman"/>
              </a:rPr>
              <a:t>Deliverables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9 Python agent modules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Flask API server (rotation)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React TypeScript dashboard (11 pages)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OPA Rego policy file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0" dirty="0">
                <a:solidFill>
                  <a:srgbClr val="333333"/>
                </a:solidFill>
                <a:latin typeface="Times New Roman"/>
              </a:rPr>
              <a:t>    Comprehensive test suite</a:t>
            </a:r>
          </a:p>
        </p:txBody>
      </p:sp>
    </p:spTree>
    <p:extLst>
      <p:ext uri="{BB962C8B-B14F-4D97-AF65-F5344CB8AC3E}">
        <p14:creationId xmlns:p14="http://schemas.microsoft.com/office/powerpoint/2010/main" val="241236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0479B50E-0BA0-C13C-639A-3FCED551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pPr algn="ctr"/>
            <a:r>
              <a:rPr sz="2400" b="1" dirty="0">
                <a:latin typeface="Times New Roman"/>
              </a:rPr>
              <a:t>References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[1]   OWASP Foundation, “OWASP Non-Human Identities Top 10,” 2025.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[2]   </a:t>
            </a:r>
            <a:r>
              <a:rPr sz="1400" b="0" dirty="0" err="1">
                <a:solidFill>
                  <a:srgbClr val="333333"/>
                </a:solidFill>
                <a:latin typeface="Times New Roman"/>
              </a:rPr>
              <a:t>Entro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 Labs, “NHI and Secrets Risk Report 2025,” </a:t>
            </a:r>
            <a:r>
              <a:rPr sz="1400" b="0" dirty="0" err="1">
                <a:solidFill>
                  <a:srgbClr val="333333"/>
                </a:solidFill>
                <a:latin typeface="Times New Roman"/>
              </a:rPr>
              <a:t>Entro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 Security, 2025.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[3]   Verizon, “Data Breach Investigations Report,” 2023.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[4]   NIST, “SP 800-207: Zero Trust Architecture,” 2020.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[5]   F. T. Liu, K. M. Ting, Z. Zhou, “Isolation Forest,” IEEE ICDM, 2008.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[6]   AICPA, “SOC 2 Type II Trust Services Criteria,” 2017.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[7]   ISO/IEC 27001:2022, “Information Security Management Systems.”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[8]   </a:t>
            </a:r>
            <a:r>
              <a:rPr sz="1400" b="0" dirty="0" err="1">
                <a:solidFill>
                  <a:srgbClr val="333333"/>
                </a:solidFill>
                <a:latin typeface="Times New Roman"/>
              </a:rPr>
              <a:t>KuppingerCole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, “Leadership Compass: Non-Human Identity </a:t>
            </a:r>
            <a:r>
              <a:rPr sz="1400" b="0" dirty="0" err="1">
                <a:solidFill>
                  <a:srgbClr val="333333"/>
                </a:solidFill>
                <a:latin typeface="Times New Roman"/>
              </a:rPr>
              <a:t>Mgmt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,” 2025.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[9]   S. </a:t>
            </a:r>
            <a:r>
              <a:rPr sz="1400" b="0" dirty="0" err="1">
                <a:solidFill>
                  <a:srgbClr val="333333"/>
                </a:solidFill>
                <a:latin typeface="Times New Roman"/>
              </a:rPr>
              <a:t>Narajala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 et al., “Zero-Trust Identity Frameworks for Agentic AI,” IJAIS, 2025.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33333"/>
                </a:solidFill>
                <a:latin typeface="Times New Roman"/>
              </a:rPr>
              <a:t>[10] Cloud Security Alliance, “State of Non-Human Identity Security,” 2024.</a:t>
            </a:r>
          </a:p>
        </p:txBody>
      </p:sp>
    </p:spTree>
    <p:extLst>
      <p:ext uri="{BB962C8B-B14F-4D97-AF65-F5344CB8AC3E}">
        <p14:creationId xmlns:p14="http://schemas.microsoft.com/office/powerpoint/2010/main" val="27951284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1397</Words>
  <Application>Microsoft Office PowerPoint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Verdana</vt:lpstr>
      <vt:lpstr>Simple Light</vt:lpstr>
      <vt:lpstr>PowerPoint Presentation</vt:lpstr>
      <vt:lpstr>Testing Methodology</vt:lpstr>
      <vt:lpstr>Performance Evaluation</vt:lpstr>
      <vt:lpstr>Results Analysis &amp; Discussion</vt:lpstr>
      <vt:lpstr>Validation of Objectives</vt:lpstr>
      <vt:lpstr>Working Model Demonstration</vt:lpstr>
      <vt:lpstr>Presentation of Results</vt:lpstr>
      <vt:lpstr>Implementation Level</vt:lpstr>
      <vt:lpstr>Unit Test Coverage &amp; Security</vt:lpstr>
      <vt:lpstr>Final Report &amp; Deliverables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Vanishree K</dc:creator>
  <cp:lastModifiedBy>Bhat, Manu (He/Him/His)</cp:lastModifiedBy>
  <cp:revision>18</cp:revision>
  <dcterms:modified xsi:type="dcterms:W3CDTF">2026-05-29T15:17:17Z</dcterms:modified>
</cp:coreProperties>
</file>