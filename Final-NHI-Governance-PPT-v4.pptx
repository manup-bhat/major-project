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EBDA19-7459-437E-87C6-172F433A6FFA}">
  <a:tblStyle styleId="{03EBDA19-7459-437E-87C6-172F433A6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33101" y="410175"/>
            <a:ext cx="69639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DEPARTMENT OF INFORMATION SCIENCE &amp; ENGINEERING</a:t>
            </a:r>
          </a:p>
        </p:txBody>
      </p:sp>
      <p:sp>
        <p:nvSpPr>
          <p:cNvPr id="55" name="Google Shape;55;p13"/>
          <p:cNvSpPr txBox="1"/>
          <p:nvPr/>
        </p:nvSpPr>
        <p:spPr>
          <a:xfrm>
            <a:off x="848875" y="825575"/>
            <a:ext cx="73494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lang="en-IN" sz="1600" b="1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Major Project (IS481P)</a:t>
            </a:r>
          </a:p>
          <a:p>
            <a:pPr marL="285750" lvl="0" indent="-171450" algn="ctr" rtl="0">
              <a:lnSpc>
                <a:spcPct val="115000"/>
              </a:lnSpc>
              <a:spcBef>
                <a:spcPts val="40"/>
              </a:spcBef>
              <a:spcAft>
                <a:spcPts val="40"/>
              </a:spcAft>
              <a:buNone/>
            </a:pPr>
            <a:r>
              <a:rPr lang="en-IN" sz="20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“Non-Human Identity Governance Agent”</a:t>
            </a:r>
          </a:p>
          <a:p>
            <a:pPr marL="285750" lvl="0" indent="-171450" algn="ctr" rtl="0">
              <a:lnSpc>
                <a:spcPct val="115000"/>
              </a:lnSpc>
              <a:spcBef>
                <a:spcPts val="40"/>
              </a:spcBef>
              <a:spcAft>
                <a:spcPts val="80"/>
              </a:spcAft>
              <a:buNone/>
            </a:pPr>
            <a:r>
              <a:rPr lang="en-IN" sz="14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Final Presentation — Phases I to IV</a:t>
            </a:r>
          </a:p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IN" sz="12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Academic Year – 2025–26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80"/>
              </a:spcBef>
              <a:spcAft>
                <a:spcPts val="25"/>
              </a:spcAft>
              <a:buNone/>
            </a:pPr>
            <a:r>
              <a:rPr lang="en-IN" sz="1200" b="1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Carried Out By:                                             Carried Out At: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5"/>
              </a:spcBef>
              <a:spcAft>
                <a:spcPts val="50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Manu Prakash Bhat (1RV22IS035)                    Honeywell Technology Solutions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50"/>
              </a:spcBef>
              <a:spcAft>
                <a:spcPts val="25"/>
              </a:spcAft>
              <a:buNone/>
            </a:pPr>
            <a:r>
              <a:rPr lang="en-IN" sz="1200" b="1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Internal Guide:                                               External Guide: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Dr. Merin Meleet, Assoc. Prof., ISE           Mr. Tejeshwar Rao, Manager DevSecOps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DF329-031A-4A70-B2B8-6776069254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Introduction &amp; Problem Statement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The NHI Challenge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Non-Human Identities (NHIs) — service principals, API keys, GitHub tokens, managed identities — now outnumber humans 144:1.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70% of organisations store plaintext secrets in repos; 47% retain unused IAM roles (OWASP NHI Top 10, 2025).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 single leaked service principal with excessive privileges can cause full cloud environment compromise.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Gap in Existing Tools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No unified open-source tool spans Azure AD + GitHub for real-time NHI governance.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Existing scanners are reactive — no AI-driven classification or autonomous credential rotation.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Our Solution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AI-powered agent: discovers, classifies, enforces policy, and rotates NHIs across Azure + GitHub continuously.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Enforces zero standing secrets and least-privilege at all times — with real-time dashboard.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Literature Survey — Key Research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Identity &amp; Zero Trust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Narajala et al. (2025): Zero-Trust IAM for Agentic AI — DIDs &amp; Verifiable Credentials; proves OAuth/OIDC inadequate for autonomous agents.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Potluri (2024): Cross-cloud federated IAM (AWS/Azure/GCP) with trust-score computation and least-privilege enforcement.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Bernabé Murcia et al. (2025): SSI + DIDs + ZKPs in multi-domain orchestration — basis for verifiable NHI credentials.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NHI Threat Landscape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OWASP NHI Top 10 (2025): Industry standard — 70% orgs have plaintext secrets; 47% retain unused IAM roles.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Entro Labs H1 2025: NHIs grew 44% YoY; CI/CD workflows account for 26% of secret exposures.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CSA Survey (2024): Only 15% of 818 professionals are confident in preventing NHI attacks.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Supporting Standards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NIST SP 800-207 Zero Trust | Microsoft Entra Workload ID | AICPA SOC 2 Type II | ISO 27001:2022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Research Gap &amp; Project Objectives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Key Research Gaps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C62828"/>
                </a:solidFill>
                <a:latin typeface="Times New Roman"/>
                <a:ea typeface="Times New Roman"/>
                <a:cs typeface="Times New Roman"/>
              </a:rPr>
              <a:t>•  No cross-platform tool spans Azure AD + GitHub simultaneously for unified NHI governance.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C62828"/>
                </a:solidFill>
                <a:latin typeface="Times New Roman"/>
                <a:ea typeface="Times New Roman"/>
                <a:cs typeface="Times New Roman"/>
              </a:rPr>
              <a:t>•  No agentic AI scoring by privilege scope, usage frequency, and sensitivity — tools remain reactive.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C62828"/>
                </a:solidFill>
                <a:latin typeface="Times New Roman"/>
                <a:ea typeface="Times New Roman"/>
                <a:cs typeface="Times New Roman"/>
              </a:rPr>
              <a:t>•  No open tool triggers automated credential rotation via policy-as-code without manual steps.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Five Project Objectives — All Achieved ✓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Obj 1: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Cross-Platform Discovery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GitHub + Azure AD + Key Vault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Obj 2: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AI Risk Scoring (0–100)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Composite + Isolation Forest ML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Obj 3: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Policy-as-Code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11 rules, SOC 2 + ISO 27001 mapped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Obj 4: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Automated Rotation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Ed25519 + NaCl, 3.8s full cycle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Obj 5: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Real-Time Dashboard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React 19 + TypeScript, 11 pages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System Architecture — Four-Layer Design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12675" y="4496148"/>
            <a:ext cx="8718650" cy="80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1: </a:t>
            </a:r>
            <a:r>
              <a:rPr lang="en-IN" sz="1400" b="1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</a:rPr>
              <a:t>System Architecture — Four-Layer Design</a:t>
            </a:r>
            <a:endParaRPr lang="en-IN" sz="1400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20" name="Arch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51" y="889778"/>
            <a:ext cx="8003098" cy="38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Design Methodology &amp; Project Planning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Agile-Inspired Iterative Delivery — 18-Week Sprint Plan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Weeks 1–4 — Requirements, Research &amp; Architecture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Literature survey | feasibility study (Azure SDK, Graph API, LangChain, OPA)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4-layer architecture design | GitHub repo + private runner setup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Weeks 5–8 — Core Monitoring Agents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Build TLS cert monitor + Azure SP credential monitor with dual-filter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Unit tests against live and mock endpoints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Weeks 9–12 — Classification, Reporting &amp; CI/CD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3-tier classification (CRITICAL / EXPIRING / OK) | HTML + CSV reports | SMTP alerts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3 GitHub Actions workflows deployed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Weeks 13–18 — AI, Rotation, Dashboard &amp; Testing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LangChain + GPT-4o | OPA/Rego ruleset | Key Vault rotation | React 19 dashboard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E2E integration testing | security audit | final report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Implementation — Discovery Layer (Layer 1)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Five Agents Run in Parallel (Async)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cert_agent.py — TLS/SSL Certificate Monitor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Python-native SSL handshake — detects CRITICAL (&lt;30 days), EXPIRING (&lt;60 days), OK.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Custom port + SNI support; replaces legacy Bash/OpenSSL s_client script.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github_nhi_agent.py — GitHub NHI Scanner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Scans PATs, deploy keys, Actions secrets via GitHub REST API with pagination.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Flags high-risk scopes: admin:org, delete_repo, write:packages.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azure_sp_agent.py — Service Principal Monitor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Microsoft Graph API: queries all Azure AD app credentials (secrets + certificates).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Shows credential hints only — never full secret value.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keyvault_agent + monitor_agent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Key Vault: secret expiry windows | Monitor: Azure diagnostic logs for access anomalies.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Implementation — Risk &amp; Intelligence (Layer 2)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100-Point Composite Risk Scoring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Age (40%): linear increase as credential approaches rotation deadline.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Type (30%): PATs and write deploy keys score highest (largest blast radius).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Privilege (20%): penalises broad scopes — admin:org, delete_repo, write:packages.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Context (10%): environment assignment, owner attribution, and usage frequency.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Score ≥50 → CRITICAL/HIGH | Score ≥70 → catch-all rule R011 triggered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Machine Learning — Isolation Forest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7 anomalies detected: 6 aligned with CRITICAL/HIGH; 1 caught by ML alone (score 48).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Trend prediction: R²=0.73 (avg risk), R²=0.81 (critical count) — WORSENING correctly predicted.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LangChain + GPT-4o Enrichment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Human-readable summaries for high-scoring findings. Skipped gracefully if API key absent.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Implementation — Policy Enforcement (Layer 3)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11 Governance Rules — Dual Engine with Auto-Fallback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Key Python Rules (nhi_policies.py)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R001: Classic PATs with write scope beyond rotation threshold → flag + escalate.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R002/R003: Aged deploy keys and stale Actions secrets beyond SLA → flag.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R004/R007: TLS certs expiring &lt;30 days / &lt;7 days → CRITICAL escalation.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R011: Catch-all — any finding scoring ≥70 escalated regardless of type.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OPA/Rego Engine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Rego policies evaluated via OPA binary; Kubernetes-native sidecar supported.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Auto-fallback: Python engine activates transparently if OPA is unreachable.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Compliance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All 11 rules mapped to SOC 2 Type II + ISO 27001 controls — audit-ready evidence.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All thresholds in config.yaml — zero hard-coded values.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Implementation — Remediation &amp; Dashboard (Layer 4)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Automated Credential Rotation (Flask REST API)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Endpoints: /rotate/deploy-key and /rotate/actions-secret for one-click replacement.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Ed25519 key generation + PyNaCl sealed-box encryption (same algorithm GitHub uses internally).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Pre-rotation dry-run → live rotation → audit log. Full cycle: 3.8 seconds.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React 19 + TypeScript Dashboard (11 Pages)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Risk Overview: severity charts | NHI Inventory: sortable/filterable table.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Certificate Monitor: expiry timeline | Policy Violations: rule-by-rule breakdown.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Settings: live config.yaml editor | Vite 8 | hosted at localhost:5173.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Multi-Channel Notifications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SMTP (CRITICAL only)  |  Slack Block Kit  |  Jira ticket auto-creation.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Rolling 15-report retention: auto-prunes stale HTML/CSV artifacts.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Governance Workflow Pipeline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End-to-End Governance Cycle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Scheduler → orchestrator triggers 5 agents in parallel across GitHub + Azure + TLS.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All findings aggregated → risk_scorer assigns 0–100 composite score per NHI.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Scored findings → policy engine (Python + OPA) evaluates 11 rules → violations flagged.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Violations route to: HTML report + email + Slack + Jira + dashboard (all async).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Rotation API invoked for actionable violations → credentials replaced with audit trail.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Platform Coverage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GitHub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PAT age + scope | deploy key expiry | Actions secret rotation dates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Azure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SP credential expiry | Key Vault windows | Monitor diagnostic anomalies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TLS / Certificates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OpenSSL handshake → days remaining → CRITICAL / EXPIRING / OK classification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Cost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Event-driven via GitHub Actions — zero idle compute, $0/month, no persistent database.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Component Architecture — Module Dependency Map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9 Python Modules + React Frontend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Discovery → Intelligence Pipeline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config.yaml → orchestrator.py → [ 5 agents ]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Agents → risk_scorer.py → ml_engine.py → [ nhi_policies.py + opa_runner.py ]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Output Layer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Policy violations → report_generator.py (HTML + CSV)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notifier.py (email / Slack / Jira) | rotation_api.py (Flask REST)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dashboard/ (React 19 + Vite 8 + Recharts + TypeScript)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Backend: Python 3.11 | scikit-learn | PyGithub | Azure SDK | LangChain | Flask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Frontend: React 19 | TypeScript | Vite 8 | Recharts | Tailwind CSS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Infrastructure: GitHub Actions | OPA/Rego | SMTP | Slack API | Jira REST | Azure Monitor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Testing Strategy &amp; Coverage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Three-Level Testing Strategy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1. Unit Testing (pytest + unittest.mock)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Each module tested in isolation; 82% line coverage across 1,528 LoC.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nhi_policies: 96% | risk_scorer: 94% | cert_agent: 91% | azure_monitor: 85%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   –  github_nhi_agent: 84% | opa_runner: 81% | rotation_api: 79% | ml_engine: 77%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2. Integration Testing (End-to-End Pipeline)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Full pipeline: Discovery → Scoring → Policy → ML → Report with fixture data.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Graceful degradation tested: Azure down | OPA unavailable | GitHub rate-limit hit.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9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0097A7"/>
                </a:solidFill>
                <a:latin typeface="Times New Roman"/>
                <a:ea typeface="Times New Roman"/>
                <a:cs typeface="Times New Roman"/>
              </a:rPr>
              <a:t>3. Operational Testing (Live HON-IA Infrastructure)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Validated against Honeywell GitHub org + Azure subscriptions.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Confirmed: pagination accuracy | rate-limit backoff | cert expiry classification.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Security Testing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Bandit static analysis: zero high-severity findings | Flask CORS + input validation verified.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Performance Evaluation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Benchmark: 500 Repositories in 61.2 s (Target: 120 s)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1 repo: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4.2 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5 repos: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18.6 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15 repos: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38.4 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500 repos: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61.2 s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— 49% headroom below target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Bottleneck Analysis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Primary: GitHub REST API latency (sequential per-repo calls for metadata).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Scoring + Policy + ML combined: &lt;2 s total regardless of NHI count.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Report generation: &lt;1 s | Notification dispatch: &lt;0.5 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Scalability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At 49% margin, system scales to ~980 repos within 120 s SLA.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Higher concurrency limit could extend to 2,000+ repos.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Resource Efficiency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Monthly compute: $0 (GitHub Actions free tier) | No persistent database.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Results &amp; Validation — All Objectives Achieved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Discovery Results — 89 NHIs Across GitHub + Azure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CRITICAL: 8 (9.0%) — TLS certs expiring &lt;30 days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HIGH: 14 (15.7%) — Dormant admin PATs with write scope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MEDIUM: 31 (34.8%) — Aged keys and stale secrets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LOW: 36 (40.4%) — Properly scoped, recently rotated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Policy Enforcement — 22 Violations (11 Rules)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R003 Stale Actions secrets: 7 | R002 Aged deploy keys: 5 | R001 Classic PATs: 4 | R004/R007 Certs: 6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Compliance Posture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SOC 2 Type II: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83.3%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(10/12 controls met)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NIST CSF: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80.0%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(8/10 controls met)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70"/>
              </a:spcBef>
              <a:spcAft>
                <a:spcPts val="35"/>
              </a:spcAft>
              <a:buNone/>
            </a:pPr>
            <a:r>
              <a:rPr lang="en-IN" sz="1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  ISO 27001: </a:t>
            </a:r>
            <a:r>
              <a:rPr lang="en-IN" sz="1200" b="1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78.6%</a:t>
            </a:r>
            <a:r>
              <a:rPr lang="en-IN" sz="105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  (11/14 controls met)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vs Existing Tools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Only cross-platform open-source solution: GitHub + Azure + AI scoring in one continuous agent.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Conclusion &amp; Future Scope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Successfully built a production-grade AI-powered NHI Governance Agent covering discovery, risk classification, policy enforcement, and automated remediation.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Verified on live Honeywell infrastructure: 89 NHIs, 22 violations, 61.2 s for 500 repos, 83.3% SOC 2 compliance — all five objectives met.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1B7A3D"/>
                </a:solidFill>
                <a:latin typeface="Times New Roman"/>
                <a:ea typeface="Times New Roman"/>
                <a:cs typeface="Times New Roman"/>
              </a:rPr>
              <a:t>•  First known open-source cross-platform agent unifying GitHub + Azure AD with ML anomaly detection in a single governance loop.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Key Contributions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Novel 4-component NHI risk scoring formula (validated against OWASP NHI Top 10).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Dual-engine policy architecture: Python fallback + OPA/Rego for language-agnostic enforcement.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Ed25519 + NaCl rotation API: 3.8 s full cycle with dry-run and rollback.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Multi-tenant Azure AD | OPA Kubernetes-native sidecar via Helm chart.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Real-time streaming anomaly detection (Kafka + Flink) replacing batch Isolation Forest.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40"/>
              </a:spcBef>
              <a:spcAft>
                <a:spcPts val="25"/>
              </a:spcAft>
              <a:buNone/>
            </a:pPr>
            <a:r>
              <a:rPr lang="en-IN" sz="1100" b="0" dirty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•  Enterprise scale to 5,000+ NHIs | Docker containerisation | CI/CD pipeline integration.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862667" y="25980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29831" y="10641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30"/>
              </a:spcBef>
              <a:spcAft>
                <a:spcPts val="50"/>
              </a:spcAft>
              <a:buNone/>
            </a:pPr>
            <a:r>
              <a:rPr lang="en-IN" sz="1300" b="1" dirty="0">
                <a:solidFill>
                  <a:srgbClr val="1A237E"/>
                </a:solidFill>
                <a:latin typeface="Times New Roman"/>
                <a:ea typeface="Times New Roman"/>
                <a:cs typeface="Times New Roman"/>
              </a:rPr>
              <a:t>Bibliography (IEEE Format)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15"/>
              </a:spcBef>
              <a:spcAft>
                <a:spcPts val="15"/>
              </a:spcAft>
              <a:buNone/>
            </a:pPr>
            <a:endParaRPr dirty="0">
              <a:latin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[1]  OWASP Foundation, "OWASP Non-Human Identities Top 10," OWASP, 2025.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[2]  Entro Labs, "NHI and Secrets Risk Report — H1 2025," Entro Security, 2025.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[3]  V. S. Narajala et al., "Zero-Trust Identity Frameworks for Agentic AI," IJAIS, 2025.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[4]  S. Potluri, "Zero Trust-Based IAM for Cross-Cloud Federated Networks," IJERET, 2024.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[5]  Cloud Security Alliance, "State of Non-Human Identity Security," CSA Survey, 2024.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[6]  KuppingerCole, "Leadership Compass: Non-Human Identity Management," 2025.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[7]  NIST, "SP 800-207: Zero Trust Architecture," NIST, 2020.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[8]  F. T. Liu, K. M. Ting, Z. Zhou, "Isolation Forest," IEEE ICDM, 2008.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[9]  AICPA, "SOC 2 Type II Trust Services Criteria," AICPA, 2017.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[10] ISO/IEC 27001:2022, "Information Security Management Systems," ISO, 2022.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[11] Microsoft, "Azure Workload Identity Federation," Microsoft Learn, 2024.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[12] J. M. Bernabé Murcia et al., "Decentralised Identity Management for Zero-Trust Multi-Domain Frameworks," Future Gen. Comp. Sys., 2025.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[13] Open Policy Agent, "Policy-Based Control for Cloud Native Environments," CNCF, 2024.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[14] GitHub Inc., "Security Hardening for GitHub Actions," GitHub Docs, 2024.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[15] Verizon, "Data Breach Investigations Report," Verizon, 2023.</a:t>
            </a:r>
          </a:p>
          <a:p>
            <a:pPr marL="285750" lvl="0" indent="-171450" algn="l" rtl="0">
              <a:lnSpc>
                <a:spcPct val="115000"/>
              </a:lnSpc>
              <a:spcBef>
                <a:spcPts val="35"/>
              </a:spcBef>
              <a:spcAft>
                <a:spcPts val="20"/>
              </a:spcAft>
              <a:buNone/>
            </a:pPr>
            <a:r>
              <a:rPr lang="en-IN" sz="1000" b="0" dirty="0">
                <a:solidFill>
                  <a:srgbClr val="757575"/>
                </a:solidFill>
                <a:latin typeface="Times New Roman"/>
                <a:ea typeface="Times New Roman"/>
                <a:cs typeface="Times New Roman"/>
              </a:rPr>
              <a:t>[16] H. Chase et al., "LangChain Framework," GitHub, 2023.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AF62-5E0D-4E5B-9BF4-04147E02A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2619</Words>
  <Application>Microsoft Office PowerPoint</Application>
  <PresentationFormat>On-screen Show (16:9)</PresentationFormat>
  <Paragraphs>267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Simple Light</vt:lpstr>
      <vt:lpstr>PowerPoint Presentation</vt:lpstr>
      <vt:lpstr>Introduction &amp; Problem Statement</vt:lpstr>
      <vt:lpstr>Literature Survey — Key Research</vt:lpstr>
      <vt:lpstr>Research Gap &amp; Project Objectives</vt:lpstr>
      <vt:lpstr>System Architecture — Four-Layer Design</vt:lpstr>
      <vt:lpstr>Design Methodology &amp; Project Planning</vt:lpstr>
      <vt:lpstr>Implementation — Discovery Layer (Layer 1)</vt:lpstr>
      <vt:lpstr>Implementation — Risk &amp; Intelligence (Layer 2)</vt:lpstr>
      <vt:lpstr>Implementation — Policy Enforcement (Layer 3)</vt:lpstr>
      <vt:lpstr>Implementation — Remediation &amp; Dashboard (Layer 4)</vt:lpstr>
      <vt:lpstr>Governance Workflow Pipeline</vt:lpstr>
      <vt:lpstr>Component Architecture — Module Dependency Map</vt:lpstr>
      <vt:lpstr>Testing Strategy &amp; Coverage</vt:lpstr>
      <vt:lpstr>Performance Evaluation</vt:lpstr>
      <vt:lpstr>Results &amp; Validation — All Objectives Achieved</vt:lpstr>
      <vt:lpstr>Conclusion &amp; 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Vanishree K</dc:creator>
  <cp:lastModifiedBy>Bhat, Manu (He/Him/His)</cp:lastModifiedBy>
  <cp:revision>17</cp:revision>
  <dcterms:modified xsi:type="dcterms:W3CDTF">2026-06-03T18:04:25Z</dcterms:modified>
</cp:coreProperties>
</file>